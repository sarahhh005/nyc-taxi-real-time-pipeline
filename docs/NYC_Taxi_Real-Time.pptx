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1" r:id="rId7"/>
    <p:sldId id="262" r:id="rId8"/>
    <p:sldId id="273" r:id="rId9"/>
    <p:sldId id="263" r:id="rId10"/>
    <p:sldId id="264" r:id="rId11"/>
    <p:sldId id="274" r:id="rId12"/>
    <p:sldId id="265" r:id="rId13"/>
    <p:sldId id="261"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Revenue ($)</c:v>
                </c:pt>
              </c:strCache>
            </c:strRef>
          </c:tx>
          <c:spPr>
            <a:solidFill>
              <a:srgbClr val="D7263D"/>
            </a:solidFill>
            <a:effectLst/>
          </c:spPr>
          <c:invertIfNegative val="0"/>
          <c:dLbls>
            <c:numFmt formatCode="\$#,##0" sourceLinked="0"/>
            <c:spPr>
              <a:noFill/>
              <a:ln>
                <a:noFill/>
              </a:ln>
              <a:effectLst/>
            </c:spPr>
            <c:txPr>
              <a:bodyPr/>
              <a:lstStyle/>
              <a:p>
                <a:pPr>
                  <a:defRPr sz="800" b="0" i="0" u="none" strike="noStrike">
                    <a:solidFill>
                      <a:srgbClr val="6B6B6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27441</c:v>
                </c:pt>
                <c:pt idx="1">
                  <c:v>33835</c:v>
                </c:pt>
                <c:pt idx="2">
                  <c:v>43178</c:v>
                </c:pt>
                <c:pt idx="3">
                  <c:v>44408</c:v>
                </c:pt>
                <c:pt idx="4">
                  <c:v>44669</c:v>
                </c:pt>
                <c:pt idx="5">
                  <c:v>33358</c:v>
                </c:pt>
                <c:pt idx="6">
                  <c:v>28618</c:v>
                </c:pt>
              </c:numCache>
            </c:numRef>
          </c:val>
          <c:extLst>
            <c:ext xmlns:c16="http://schemas.microsoft.com/office/drawing/2014/chart" uri="{C3380CC4-5D6E-409C-BE32-E72D297353CC}">
              <c16:uniqueId val="{00000000-DBE4-41E0-986C-D3796DAC491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FEFEF"/>
              </a:solidFill>
              <a:prstDash val="solid"/>
              <a:round/>
            </a:ln>
          </c:spPr>
        </c:majorGridlines>
        <c:numFmt formatCode="\$#,##0" sourceLinked="0"/>
        <c:majorTickMark val="out"/>
        <c:minorTickMark val="none"/>
        <c:tickLblPos val="nextTo"/>
        <c:spPr>
          <a:ln w="12700" cap="flat">
            <a:noFill/>
            <a:prstDash val="solid"/>
            <a:round/>
          </a:ln>
        </c:spPr>
        <c:txPr>
          <a:bodyPr/>
          <a:lstStyle/>
          <a:p>
            <a:pPr>
              <a:defRPr sz="8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Trips</c:v>
                </c:pt>
              </c:strCache>
            </c:strRef>
          </c:tx>
          <c:spPr>
            <a:solidFill>
              <a:schemeClr val="accent1"/>
            </a:solidFill>
            <a:ln w="9525" cap="flat">
              <a:solidFill>
                <a:srgbClr val="F9F9F9"/>
              </a:solidFill>
              <a:prstDash val="solid"/>
              <a:round/>
            </a:ln>
            <a:effectLst/>
          </c:spPr>
          <c:dPt>
            <c:idx val="0"/>
            <c:bubble3D val="0"/>
            <c:spPr>
              <a:solidFill>
                <a:srgbClr val="D7263D"/>
              </a:solidFill>
              <a:ln w="25400" cap="flat">
                <a:solidFill>
                  <a:srgbClr val="141414"/>
                </a:solidFill>
                <a:prstDash val="solid"/>
                <a:round/>
              </a:ln>
              <a:effectLst/>
            </c:spPr>
            <c:extLst>
              <c:ext xmlns:c16="http://schemas.microsoft.com/office/drawing/2014/chart" uri="{C3380CC4-5D6E-409C-BE32-E72D297353CC}">
                <c16:uniqueId val="{00000001-DAEA-410C-B00D-9E3C50320A9C}"/>
              </c:ext>
            </c:extLst>
          </c:dPt>
          <c:dPt>
            <c:idx val="1"/>
            <c:bubble3D val="0"/>
            <c:spPr>
              <a:solidFill>
                <a:srgbClr val="6B0F1A"/>
              </a:solidFill>
              <a:ln w="25400" cap="flat">
                <a:solidFill>
                  <a:srgbClr val="141414"/>
                </a:solidFill>
                <a:prstDash val="solid"/>
                <a:round/>
              </a:ln>
              <a:effectLst/>
            </c:spPr>
            <c:extLst>
              <c:ext xmlns:c16="http://schemas.microsoft.com/office/drawing/2014/chart" uri="{C3380CC4-5D6E-409C-BE32-E72D297353CC}">
                <c16:uniqueId val="{00000003-DAEA-410C-B00D-9E3C50320A9C}"/>
              </c:ext>
            </c:extLst>
          </c:dPt>
          <c:dPt>
            <c:idx val="2"/>
            <c:bubble3D val="0"/>
            <c:spPr>
              <a:solidFill>
                <a:srgbClr val="8A8A8A"/>
              </a:solidFill>
              <a:ln w="25400" cap="flat">
                <a:solidFill>
                  <a:srgbClr val="141414"/>
                </a:solidFill>
                <a:prstDash val="solid"/>
                <a:round/>
              </a:ln>
              <a:effectLst/>
            </c:spPr>
            <c:extLst>
              <c:ext xmlns:c16="http://schemas.microsoft.com/office/drawing/2014/chart" uri="{C3380CC4-5D6E-409C-BE32-E72D297353CC}">
                <c16:uniqueId val="{00000005-DAEA-410C-B00D-9E3C50320A9C}"/>
              </c:ext>
            </c:extLst>
          </c:dPt>
          <c:dPt>
            <c:idx val="3"/>
            <c:bubble3D val="0"/>
            <c:spPr>
              <a:solidFill>
                <a:srgbClr val="3A3A3A"/>
              </a:solidFill>
              <a:ln w="25400" cap="flat">
                <a:solidFill>
                  <a:srgbClr val="141414"/>
                </a:solidFill>
                <a:prstDash val="solid"/>
                <a:round/>
              </a:ln>
              <a:effectLst/>
            </c:spPr>
            <c:extLst>
              <c:ext xmlns:c16="http://schemas.microsoft.com/office/drawing/2014/chart" uri="{C3380CC4-5D6E-409C-BE32-E72D297353CC}">
                <c16:uniqueId val="{00000007-DAEA-410C-B00D-9E3C50320A9C}"/>
              </c:ext>
            </c:extLst>
          </c:dPt>
          <c:dPt>
            <c:idx val="4"/>
            <c:bubble3D val="0"/>
            <c:spPr>
              <a:solidFill>
                <a:srgbClr val="C9C9C9"/>
              </a:solidFill>
              <a:ln w="25400" cap="flat">
                <a:solidFill>
                  <a:srgbClr val="141414"/>
                </a:solidFill>
                <a:prstDash val="solid"/>
                <a:round/>
              </a:ln>
              <a:effectLst/>
            </c:spPr>
            <c:extLst>
              <c:ext xmlns:c16="http://schemas.microsoft.com/office/drawing/2014/chart" uri="{C3380CC4-5D6E-409C-BE32-E72D297353CC}">
                <c16:uniqueId val="{00000009-DAEA-410C-B00D-9E3C50320A9C}"/>
              </c:ext>
            </c:extLst>
          </c:dPt>
          <c:cat>
            <c:strRef>
              <c:f>Sheet1!$A$2:$A$6</c:f>
              <c:strCache>
                <c:ptCount val="5"/>
                <c:pt idx="0">
                  <c:v>Credit card</c:v>
                </c:pt>
                <c:pt idx="1">
                  <c:v>Unspecified</c:v>
                </c:pt>
                <c:pt idx="2">
                  <c:v>Cash</c:v>
                </c:pt>
                <c:pt idx="3">
                  <c:v>Dispute</c:v>
                </c:pt>
                <c:pt idx="4">
                  <c:v>No charge</c:v>
                </c:pt>
              </c:strCache>
            </c:strRef>
          </c:cat>
          <c:val>
            <c:numRef>
              <c:f>Sheet1!$B$2:$B$6</c:f>
              <c:numCache>
                <c:formatCode>General</c:formatCode>
                <c:ptCount val="5"/>
                <c:pt idx="0">
                  <c:v>7040</c:v>
                </c:pt>
                <c:pt idx="1">
                  <c:v>1568</c:v>
                </c:pt>
                <c:pt idx="2">
                  <c:v>1106</c:v>
                </c:pt>
                <c:pt idx="3">
                  <c:v>233</c:v>
                </c:pt>
                <c:pt idx="4">
                  <c:v>53</c:v>
                </c:pt>
              </c:numCache>
            </c:numRef>
          </c:val>
          <c:extLst>
            <c:ext xmlns:c16="http://schemas.microsoft.com/office/drawing/2014/chart" uri="{C3380CC4-5D6E-409C-BE32-E72D297353CC}">
              <c16:uniqueId val="{0000000A-DAEA-410C-B00D-9E3C50320A9C}"/>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2124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D50F1-EF11-29C5-B153-5E1127729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30904-085B-3C9A-217B-0AD9122F6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6E458-2DD1-ED2B-F022-FFAAF20F5C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57FBAB-DBD6-C75E-D200-0CAFC1A1523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73917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9DEB4-B012-1E9C-15DF-F396EEEDE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CFB28-2368-D89F-8DED-A3DC9D528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077A5-287D-00BE-FF8A-F4EE36A04C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A1889B-DD8B-371B-88CE-C9DD650E690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23313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F2132-047E-6B5E-FE3B-EAAC76512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FD114-D353-1230-A102-29DE6DF80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4C91D-6808-FF22-FE49-1CD8897C9F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84A48B-3008-8CAC-65F8-A01576DD952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839118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a:effectLst/>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1B1B1B"/>
          </a:solidFill>
          <a:ln/>
        </p:spPr>
        <p:txBody>
          <a:bodyPr/>
          <a:lstStyle/>
          <a:p>
            <a:endParaRPr/>
          </a:p>
        </p:txBody>
      </p:sp>
      <p:sp>
        <p:nvSpPr>
          <p:cNvPr id="3" name="Shape 1"/>
          <p:cNvSpPr/>
          <p:nvPr/>
        </p:nvSpPr>
        <p:spPr>
          <a:xfrm>
            <a:off x="10332720" y="-822960"/>
            <a:ext cx="3840480" cy="3840480"/>
          </a:xfrm>
          <a:prstGeom prst="ellipse">
            <a:avLst/>
          </a:prstGeom>
          <a:solidFill>
            <a:srgbClr val="D7263D"/>
          </a:solidFill>
          <a:ln/>
        </p:spPr>
        <p:txBody>
          <a:bodyPr/>
          <a:lstStyle/>
          <a:p>
            <a:endParaRPr/>
          </a:p>
        </p:txBody>
      </p:sp>
      <p:sp>
        <p:nvSpPr>
          <p:cNvPr id="4" name="Text 2"/>
          <p:cNvSpPr/>
          <p:nvPr/>
        </p:nvSpPr>
        <p:spPr>
          <a:xfrm>
            <a:off x="731520" y="1417320"/>
            <a:ext cx="9144000" cy="365760"/>
          </a:xfrm>
          <a:prstGeom prst="rect">
            <a:avLst/>
          </a:prstGeom>
          <a:noFill/>
          <a:ln/>
        </p:spPr>
        <p:txBody>
          <a:bodyPr wrap="square" rtlCol="0" anchor="ctr"/>
          <a:lstStyle/>
          <a:p>
            <a:pPr marL="0" indent="0">
              <a:buNone/>
            </a:pPr>
            <a:r>
              <a:rPr lang="en-US" sz="1300" b="1" kern="0" spc="250" dirty="0">
                <a:solidFill>
                  <a:srgbClr val="D7263D"/>
                </a:solidFill>
                <a:latin typeface="Calibri" pitchFamily="34" charset="0"/>
                <a:ea typeface="Calibri" pitchFamily="34" charset="-122"/>
                <a:cs typeface="Calibri" pitchFamily="34" charset="-120"/>
              </a:rPr>
              <a:t>REAL-TIME BIG DATA ANALYTICS PLATFORM</a:t>
            </a:r>
            <a:endParaRPr lang="en-US" sz="1300" dirty="0"/>
          </a:p>
        </p:txBody>
      </p:sp>
      <p:sp>
        <p:nvSpPr>
          <p:cNvPr id="5" name="Text 3"/>
          <p:cNvSpPr/>
          <p:nvPr/>
        </p:nvSpPr>
        <p:spPr>
          <a:xfrm>
            <a:off x="685800" y="1874520"/>
            <a:ext cx="9875520" cy="2194560"/>
          </a:xfrm>
          <a:prstGeom prst="rect">
            <a:avLst/>
          </a:prstGeom>
          <a:noFill/>
          <a:ln/>
        </p:spPr>
        <p:txBody>
          <a:bodyPr wrap="square" rtlCol="0" anchor="ctr"/>
          <a:lstStyle/>
          <a:p>
            <a:pPr marL="0" indent="0">
              <a:lnSpc>
                <a:spcPct val="102000"/>
              </a:lnSpc>
              <a:buNone/>
            </a:pPr>
            <a:r>
              <a:rPr lang="en-US" sz="5000" b="1" dirty="0">
                <a:solidFill>
                  <a:srgbClr val="FFFFFF"/>
                </a:solidFill>
                <a:latin typeface="Bookman Old Style" pitchFamily="34" charset="0"/>
                <a:ea typeface="Bookman Old Style" pitchFamily="34" charset="-122"/>
                <a:cs typeface="Bookman Old Style" pitchFamily="34" charset="-120"/>
              </a:rPr>
              <a:t>NYC Taxi </a:t>
            </a:r>
            <a:r>
              <a:rPr lang="en-US" sz="5000" b="1" dirty="0">
                <a:solidFill>
                  <a:srgbClr val="D7263D"/>
                </a:solidFill>
                <a:latin typeface="Bookman Old Style" pitchFamily="34" charset="0"/>
                <a:ea typeface="Bookman Old Style" pitchFamily="34" charset="-122"/>
                <a:cs typeface="Bookman Old Style" pitchFamily="34" charset="-120"/>
              </a:rPr>
              <a:t>Real-Time</a:t>
            </a:r>
            <a:endParaRPr lang="en-US" sz="5000" dirty="0"/>
          </a:p>
          <a:p>
            <a:pPr marL="0" indent="0">
              <a:lnSpc>
                <a:spcPct val="102000"/>
              </a:lnSpc>
              <a:buNone/>
            </a:pPr>
            <a:r>
              <a:rPr lang="en-US" sz="5000" b="1" dirty="0">
                <a:solidFill>
                  <a:srgbClr val="D7263D"/>
                </a:solidFill>
                <a:latin typeface="Bookman Old Style" pitchFamily="34" charset="0"/>
                <a:ea typeface="Bookman Old Style" pitchFamily="34" charset="-122"/>
                <a:cs typeface="Bookman Old Style" pitchFamily="34" charset="-120"/>
              </a:rPr>
              <a:t>Analytics Platform</a:t>
            </a:r>
            <a:endParaRPr lang="en-US" sz="5000" dirty="0"/>
          </a:p>
        </p:txBody>
      </p:sp>
      <p:sp>
        <p:nvSpPr>
          <p:cNvPr id="6" name="Text 4"/>
          <p:cNvSpPr/>
          <p:nvPr/>
        </p:nvSpPr>
        <p:spPr>
          <a:xfrm>
            <a:off x="731520" y="4160520"/>
            <a:ext cx="7863840" cy="822960"/>
          </a:xfrm>
          <a:prstGeom prst="rect">
            <a:avLst/>
          </a:prstGeom>
          <a:noFill/>
          <a:ln/>
        </p:spPr>
        <p:txBody>
          <a:bodyPr wrap="square" rtlCol="0" anchor="ctr"/>
          <a:lstStyle/>
          <a:p>
            <a:pPr marL="0" indent="0">
              <a:lnSpc>
                <a:spcPct val="125000"/>
              </a:lnSpc>
              <a:buNone/>
            </a:pPr>
            <a:r>
              <a:rPr lang="en-US" sz="1500" dirty="0">
                <a:solidFill>
                  <a:srgbClr val="C9C9C9"/>
                </a:solidFill>
                <a:latin typeface="Calibri" pitchFamily="34" charset="0"/>
                <a:ea typeface="Calibri" pitchFamily="34" charset="-122"/>
                <a:cs typeface="Calibri" pitchFamily="34" charset="-120"/>
              </a:rPr>
              <a:t>Streaming NYC Yellow Taxi trips from Kafka through Spark into ClickHouse — orchestrated end to end with Airflow and visualized in Superset &amp; queried via AI Agent.</a:t>
            </a:r>
            <a:endParaRPr lang="en-US" sz="1500" dirty="0"/>
          </a:p>
        </p:txBody>
      </p:sp>
      <p:sp>
        <p:nvSpPr>
          <p:cNvPr id="7" name="Shape 5"/>
          <p:cNvSpPr/>
          <p:nvPr/>
        </p:nvSpPr>
        <p:spPr>
          <a:xfrm>
            <a:off x="731520" y="5806440"/>
            <a:ext cx="909828" cy="384048"/>
          </a:xfrm>
          <a:prstGeom prst="roundRect">
            <a:avLst>
              <a:gd name="adj" fmla="val 19048"/>
            </a:avLst>
          </a:prstGeom>
          <a:solidFill>
            <a:srgbClr val="232323"/>
          </a:solidFill>
          <a:ln w="9525">
            <a:solidFill>
              <a:srgbClr val="3A3A3A"/>
            </a:solidFill>
            <a:prstDash val="solid"/>
          </a:ln>
        </p:spPr>
        <p:txBody>
          <a:bodyPr/>
          <a:lstStyle/>
          <a:p>
            <a:endParaRPr/>
          </a:p>
        </p:txBody>
      </p:sp>
      <p:sp>
        <p:nvSpPr>
          <p:cNvPr id="8" name="Text 6"/>
          <p:cNvSpPr/>
          <p:nvPr/>
        </p:nvSpPr>
        <p:spPr>
          <a:xfrm>
            <a:off x="731520" y="5806440"/>
            <a:ext cx="909828"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Kafka</a:t>
            </a:r>
            <a:endParaRPr lang="en-US" sz="1150" dirty="0"/>
          </a:p>
        </p:txBody>
      </p:sp>
      <p:sp>
        <p:nvSpPr>
          <p:cNvPr id="9" name="Shape 7"/>
          <p:cNvSpPr/>
          <p:nvPr/>
        </p:nvSpPr>
        <p:spPr>
          <a:xfrm>
            <a:off x="1805940" y="5806440"/>
            <a:ext cx="909828" cy="384048"/>
          </a:xfrm>
          <a:prstGeom prst="roundRect">
            <a:avLst>
              <a:gd name="adj" fmla="val 19048"/>
            </a:avLst>
          </a:prstGeom>
          <a:solidFill>
            <a:srgbClr val="232323"/>
          </a:solidFill>
          <a:ln w="9525">
            <a:solidFill>
              <a:srgbClr val="3A3A3A"/>
            </a:solidFill>
            <a:prstDash val="solid"/>
          </a:ln>
        </p:spPr>
        <p:txBody>
          <a:bodyPr/>
          <a:lstStyle/>
          <a:p>
            <a:endParaRPr/>
          </a:p>
        </p:txBody>
      </p:sp>
      <p:sp>
        <p:nvSpPr>
          <p:cNvPr id="10" name="Text 8"/>
          <p:cNvSpPr/>
          <p:nvPr/>
        </p:nvSpPr>
        <p:spPr>
          <a:xfrm>
            <a:off x="1805940" y="5806440"/>
            <a:ext cx="909828"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Spark</a:t>
            </a:r>
            <a:endParaRPr lang="en-US" sz="1150" dirty="0"/>
          </a:p>
        </p:txBody>
      </p:sp>
      <p:sp>
        <p:nvSpPr>
          <p:cNvPr id="11" name="Shape 9"/>
          <p:cNvSpPr/>
          <p:nvPr/>
        </p:nvSpPr>
        <p:spPr>
          <a:xfrm>
            <a:off x="2880360" y="5806440"/>
            <a:ext cx="1435608" cy="384048"/>
          </a:xfrm>
          <a:prstGeom prst="roundRect">
            <a:avLst>
              <a:gd name="adj" fmla="val 19048"/>
            </a:avLst>
          </a:prstGeom>
          <a:solidFill>
            <a:srgbClr val="232323"/>
          </a:solidFill>
          <a:ln w="9525">
            <a:solidFill>
              <a:srgbClr val="3A3A3A"/>
            </a:solidFill>
            <a:prstDash val="solid"/>
          </a:ln>
        </p:spPr>
        <p:txBody>
          <a:bodyPr/>
          <a:lstStyle/>
          <a:p>
            <a:endParaRPr/>
          </a:p>
        </p:txBody>
      </p:sp>
      <p:sp>
        <p:nvSpPr>
          <p:cNvPr id="12" name="Text 10"/>
          <p:cNvSpPr/>
          <p:nvPr/>
        </p:nvSpPr>
        <p:spPr>
          <a:xfrm>
            <a:off x="2880360" y="5806440"/>
            <a:ext cx="1435608"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ClickHouse</a:t>
            </a:r>
            <a:endParaRPr lang="en-US" sz="1150" dirty="0"/>
          </a:p>
        </p:txBody>
      </p:sp>
      <p:sp>
        <p:nvSpPr>
          <p:cNvPr id="13" name="Shape 11"/>
          <p:cNvSpPr/>
          <p:nvPr/>
        </p:nvSpPr>
        <p:spPr>
          <a:xfrm>
            <a:off x="4480560" y="5806440"/>
            <a:ext cx="1120140" cy="384048"/>
          </a:xfrm>
          <a:prstGeom prst="roundRect">
            <a:avLst>
              <a:gd name="adj" fmla="val 19048"/>
            </a:avLst>
          </a:prstGeom>
          <a:solidFill>
            <a:srgbClr val="232323"/>
          </a:solidFill>
          <a:ln w="9525">
            <a:solidFill>
              <a:srgbClr val="3A3A3A"/>
            </a:solidFill>
            <a:prstDash val="solid"/>
          </a:ln>
        </p:spPr>
        <p:txBody>
          <a:bodyPr/>
          <a:lstStyle/>
          <a:p>
            <a:endParaRPr/>
          </a:p>
        </p:txBody>
      </p:sp>
      <p:sp>
        <p:nvSpPr>
          <p:cNvPr id="14" name="Text 12"/>
          <p:cNvSpPr/>
          <p:nvPr/>
        </p:nvSpPr>
        <p:spPr>
          <a:xfrm>
            <a:off x="4480560" y="5806440"/>
            <a:ext cx="1120140"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Airflow</a:t>
            </a:r>
            <a:endParaRPr lang="en-US" sz="1150" dirty="0"/>
          </a:p>
        </p:txBody>
      </p:sp>
      <p:sp>
        <p:nvSpPr>
          <p:cNvPr id="17" name="Shape 15"/>
          <p:cNvSpPr/>
          <p:nvPr/>
        </p:nvSpPr>
        <p:spPr>
          <a:xfrm>
            <a:off x="5765292" y="5806440"/>
            <a:ext cx="1014984" cy="384048"/>
          </a:xfrm>
          <a:prstGeom prst="roundRect">
            <a:avLst>
              <a:gd name="adj" fmla="val 19048"/>
            </a:avLst>
          </a:prstGeom>
          <a:solidFill>
            <a:srgbClr val="232323"/>
          </a:solidFill>
          <a:ln w="9525">
            <a:solidFill>
              <a:srgbClr val="3A3A3A"/>
            </a:solidFill>
            <a:prstDash val="solid"/>
          </a:ln>
        </p:spPr>
        <p:txBody>
          <a:bodyPr/>
          <a:lstStyle/>
          <a:p>
            <a:endParaRPr/>
          </a:p>
        </p:txBody>
      </p:sp>
      <p:sp>
        <p:nvSpPr>
          <p:cNvPr id="18" name="Text 16"/>
          <p:cNvSpPr/>
          <p:nvPr/>
        </p:nvSpPr>
        <p:spPr>
          <a:xfrm>
            <a:off x="5765292" y="5788152"/>
            <a:ext cx="1014984" cy="3840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Docker</a:t>
            </a:r>
            <a:endParaRPr lang="en-US" sz="1150" dirty="0"/>
          </a:p>
        </p:txBody>
      </p:sp>
      <p:sp>
        <p:nvSpPr>
          <p:cNvPr id="19" name="Text 17"/>
          <p:cNvSpPr/>
          <p:nvPr/>
        </p:nvSpPr>
        <p:spPr>
          <a:xfrm>
            <a:off x="731520" y="6172200"/>
            <a:ext cx="7315200" cy="274320"/>
          </a:xfrm>
          <a:prstGeom prst="rect">
            <a:avLst/>
          </a:prstGeom>
          <a:noFill/>
          <a:ln/>
        </p:spPr>
        <p:txBody>
          <a:bodyPr wrap="square" rtlCol="0" anchor="ctr"/>
          <a:lstStyle/>
          <a:p>
            <a:pPr marL="0" indent="0">
              <a:buNone/>
            </a:pPr>
            <a:r>
              <a:rPr lang="en-US" sz="1050" kern="0" spc="150" dirty="0">
                <a:solidFill>
                  <a:srgbClr val="8A8A8A"/>
                </a:solidFill>
                <a:latin typeface="Calibri" pitchFamily="34" charset="0"/>
                <a:ea typeface="Calibri" pitchFamily="34" charset="-122"/>
                <a:cs typeface="Calibri" pitchFamily="34" charset="-120"/>
              </a:rPr>
              <a:t>NYC TLC YELLOW TAXI TRIP RECORDS ·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749808"/>
            <a:ext cx="9601200" cy="640080"/>
          </a:xfrm>
          <a:prstGeom prst="rect">
            <a:avLst/>
          </a:prstGeom>
          <a:noFill/>
          <a:ln/>
        </p:spPr>
        <p:txBody>
          <a:bodyPr wrap="square" rtlCol="0" anchor="ctr"/>
          <a:lstStyle/>
          <a:p>
            <a:pPr marL="0" indent="0">
              <a:buNone/>
            </a:pPr>
            <a:r>
              <a:rPr lang="en-US" sz="3200" b="1" dirty="0">
                <a:solidFill>
                  <a:srgbClr val="141414"/>
                </a:solidFill>
                <a:latin typeface="Bookman Old Style" pitchFamily="34" charset="0"/>
                <a:ea typeface="Bookman Old Style" pitchFamily="34" charset="-122"/>
                <a:cs typeface="Bookman Old Style" pitchFamily="34" charset="-120"/>
              </a:rPr>
              <a:t>What we built</a:t>
            </a:r>
            <a:endParaRPr lang="en-US" sz="3200" dirty="0"/>
          </a:p>
        </p:txBody>
      </p:sp>
      <p:sp>
        <p:nvSpPr>
          <p:cNvPr id="4" name="Text 2"/>
          <p:cNvSpPr/>
          <p:nvPr/>
        </p:nvSpPr>
        <p:spPr>
          <a:xfrm>
            <a:off x="548640" y="1417320"/>
            <a:ext cx="10881360" cy="777240"/>
          </a:xfrm>
          <a:prstGeom prst="rect">
            <a:avLst/>
          </a:prstGeom>
          <a:noFill/>
          <a:ln/>
        </p:spPr>
        <p:txBody>
          <a:bodyPr wrap="square" rtlCol="0" anchor="ctr"/>
          <a:lstStyle/>
          <a:p>
            <a:pPr marL="0" indent="0">
              <a:lnSpc>
                <a:spcPct val="130000"/>
              </a:lnSpc>
              <a:buNone/>
            </a:pPr>
            <a:r>
              <a:rPr lang="en-US" sz="1350" dirty="0">
                <a:solidFill>
                  <a:srgbClr val="3A3A3A"/>
                </a:solidFill>
                <a:latin typeface="Calibri" pitchFamily="34" charset="0"/>
                <a:ea typeface="Calibri" pitchFamily="34" charset="-122"/>
                <a:cs typeface="Calibri" pitchFamily="34" charset="-120"/>
              </a:rPr>
              <a:t>A Big Data platform that takes NYC Yellow Taxi trip records, streams them the way live production traffic would arrive, cleans and aggregates them in flight, and stores the result where analysts can query it in milliseconds — fully automated and containerized.</a:t>
            </a:r>
            <a:endParaRPr lang="en-US" sz="1350" dirty="0"/>
          </a:p>
        </p:txBody>
      </p:sp>
      <p:sp>
        <p:nvSpPr>
          <p:cNvPr id="5" name="Shape 3"/>
          <p:cNvSpPr/>
          <p:nvPr/>
        </p:nvSpPr>
        <p:spPr>
          <a:xfrm>
            <a:off x="548640" y="2514600"/>
            <a:ext cx="502920" cy="502920"/>
          </a:xfrm>
          <a:prstGeom prst="ellipse">
            <a:avLst/>
          </a:prstGeom>
          <a:solidFill>
            <a:srgbClr val="FFFFFF"/>
          </a:solidFill>
          <a:ln/>
        </p:spPr>
        <p:txBody>
          <a:bodyPr/>
          <a:lstStyle/>
          <a:p>
            <a:endParaRPr lang="en-GB"/>
          </a:p>
        </p:txBody>
      </p:sp>
      <p:pic>
        <p:nvPicPr>
          <p:cNvPr id="6" name="Image 0" descr="/home/claude/assets/FiZap_black_r.png"/>
          <p:cNvPicPr>
            <a:picLocks noChangeAspect="1"/>
          </p:cNvPicPr>
          <p:nvPr/>
        </p:nvPicPr>
        <p:blipFill>
          <a:blip r:embed="rId3"/>
          <a:stretch>
            <a:fillRect/>
          </a:stretch>
        </p:blipFill>
        <p:spPr>
          <a:xfrm>
            <a:off x="667512" y="2633472"/>
            <a:ext cx="265176" cy="265176"/>
          </a:xfrm>
          <a:prstGeom prst="rect">
            <a:avLst/>
          </a:prstGeom>
        </p:spPr>
      </p:pic>
      <p:sp>
        <p:nvSpPr>
          <p:cNvPr id="7" name="Shape 4"/>
          <p:cNvSpPr/>
          <p:nvPr/>
        </p:nvSpPr>
        <p:spPr>
          <a:xfrm>
            <a:off x="548640" y="2514600"/>
            <a:ext cx="502920" cy="502920"/>
          </a:xfrm>
          <a:prstGeom prst="ellipse">
            <a:avLst/>
          </a:prstGeom>
          <a:ln w="12700">
            <a:solidFill>
              <a:srgbClr val="E2E2E2"/>
            </a:solidFill>
            <a:prstDash val="solid"/>
          </a:ln>
        </p:spPr>
        <p:txBody>
          <a:bodyPr/>
          <a:lstStyle/>
          <a:p>
            <a:endParaRPr lang="en-GB"/>
          </a:p>
        </p:txBody>
      </p:sp>
      <p:sp>
        <p:nvSpPr>
          <p:cNvPr id="8" name="Text 5"/>
          <p:cNvSpPr/>
          <p:nvPr/>
        </p:nvSpPr>
        <p:spPr>
          <a:xfrm>
            <a:off x="1207008" y="2441448"/>
            <a:ext cx="4663440" cy="292608"/>
          </a:xfrm>
          <a:prstGeom prst="rect">
            <a:avLst/>
          </a:prstGeom>
          <a:noFill/>
          <a:ln/>
        </p:spPr>
        <p:txBody>
          <a:bodyPr wrap="square" rtlCol="0" anchor="ctr"/>
          <a:lstStyle/>
          <a:p>
            <a:pPr marL="0" indent="0">
              <a:buNone/>
            </a:pPr>
            <a:r>
              <a:rPr lang="en-US" sz="1350" b="1" dirty="0">
                <a:solidFill>
                  <a:srgbClr val="141414"/>
                </a:solidFill>
                <a:latin typeface="Calibri" pitchFamily="34" charset="0"/>
                <a:ea typeface="Calibri" pitchFamily="34" charset="-122"/>
                <a:cs typeface="Calibri" pitchFamily="34" charset="-120"/>
              </a:rPr>
              <a:t>Simulate real-time streaming</a:t>
            </a:r>
            <a:endParaRPr lang="en-US" sz="1350" dirty="0"/>
          </a:p>
        </p:txBody>
      </p:sp>
      <p:sp>
        <p:nvSpPr>
          <p:cNvPr id="9" name="Text 6"/>
          <p:cNvSpPr/>
          <p:nvPr/>
        </p:nvSpPr>
        <p:spPr>
          <a:xfrm>
            <a:off x="1207008" y="2715768"/>
            <a:ext cx="4663440" cy="658368"/>
          </a:xfrm>
          <a:prstGeom prst="rect">
            <a:avLst/>
          </a:prstGeom>
          <a:noFill/>
          <a:ln/>
        </p:spPr>
        <p:txBody>
          <a:bodyPr wrap="square" rtlCol="0" anchor="ctr"/>
          <a:lstStyle/>
          <a:p>
            <a:pPr marL="0" indent="0">
              <a:lnSpc>
                <a:spcPct val="118000"/>
              </a:lnSpc>
              <a:buNone/>
            </a:pPr>
            <a:r>
              <a:rPr lang="en-US" sz="1080" dirty="0">
                <a:solidFill>
                  <a:srgbClr val="6B6B6B"/>
                </a:solidFill>
                <a:latin typeface="Calibri" pitchFamily="34" charset="0"/>
                <a:ea typeface="Calibri" pitchFamily="34" charset="-122"/>
                <a:cs typeface="Calibri" pitchFamily="34" charset="-120"/>
              </a:rPr>
              <a:t>Publish historical trip records through Kafka as if they were live events.</a:t>
            </a:r>
            <a:endParaRPr lang="en-US" sz="1080" dirty="0"/>
          </a:p>
        </p:txBody>
      </p:sp>
      <p:sp>
        <p:nvSpPr>
          <p:cNvPr id="10" name="Shape 7"/>
          <p:cNvSpPr/>
          <p:nvPr/>
        </p:nvSpPr>
        <p:spPr>
          <a:xfrm>
            <a:off x="548640" y="3593592"/>
            <a:ext cx="502920" cy="502920"/>
          </a:xfrm>
          <a:prstGeom prst="ellipse">
            <a:avLst/>
          </a:prstGeom>
          <a:solidFill>
            <a:srgbClr val="FFFFFF"/>
          </a:solidFill>
          <a:ln/>
        </p:spPr>
        <p:txBody>
          <a:bodyPr/>
          <a:lstStyle/>
          <a:p>
            <a:endParaRPr lang="en-GB"/>
          </a:p>
        </p:txBody>
      </p:sp>
      <p:pic>
        <p:nvPicPr>
          <p:cNvPr id="11" name="Image 1" descr="/home/claude/assets/FiCpu_black_r.png"/>
          <p:cNvPicPr>
            <a:picLocks noChangeAspect="1"/>
          </p:cNvPicPr>
          <p:nvPr/>
        </p:nvPicPr>
        <p:blipFill>
          <a:blip r:embed="rId4"/>
          <a:stretch>
            <a:fillRect/>
          </a:stretch>
        </p:blipFill>
        <p:spPr>
          <a:xfrm>
            <a:off x="667512" y="3712464"/>
            <a:ext cx="265176" cy="265176"/>
          </a:xfrm>
          <a:prstGeom prst="rect">
            <a:avLst/>
          </a:prstGeom>
        </p:spPr>
      </p:pic>
      <p:sp>
        <p:nvSpPr>
          <p:cNvPr id="12" name="Shape 8"/>
          <p:cNvSpPr/>
          <p:nvPr/>
        </p:nvSpPr>
        <p:spPr>
          <a:xfrm>
            <a:off x="548640" y="3593592"/>
            <a:ext cx="502920" cy="502920"/>
          </a:xfrm>
          <a:prstGeom prst="ellipse">
            <a:avLst/>
          </a:prstGeom>
          <a:ln w="12700">
            <a:solidFill>
              <a:srgbClr val="E2E2E2"/>
            </a:solidFill>
            <a:prstDash val="solid"/>
          </a:ln>
        </p:spPr>
        <p:txBody>
          <a:bodyPr/>
          <a:lstStyle/>
          <a:p>
            <a:endParaRPr lang="en-GB"/>
          </a:p>
        </p:txBody>
      </p:sp>
      <p:sp>
        <p:nvSpPr>
          <p:cNvPr id="13" name="Text 9"/>
          <p:cNvSpPr/>
          <p:nvPr/>
        </p:nvSpPr>
        <p:spPr>
          <a:xfrm>
            <a:off x="1207008" y="3520440"/>
            <a:ext cx="4663440" cy="292608"/>
          </a:xfrm>
          <a:prstGeom prst="rect">
            <a:avLst/>
          </a:prstGeom>
          <a:noFill/>
          <a:ln/>
        </p:spPr>
        <p:txBody>
          <a:bodyPr wrap="square" rtlCol="0" anchor="ctr"/>
          <a:lstStyle/>
          <a:p>
            <a:pPr marL="0" indent="0">
              <a:buNone/>
            </a:pPr>
            <a:r>
              <a:rPr lang="en-US" sz="1350" b="1" dirty="0">
                <a:solidFill>
                  <a:srgbClr val="141414"/>
                </a:solidFill>
                <a:latin typeface="Calibri" pitchFamily="34" charset="0"/>
                <a:ea typeface="Calibri" pitchFamily="34" charset="-122"/>
                <a:cs typeface="Calibri" pitchFamily="34" charset="-120"/>
              </a:rPr>
              <a:t>Clean &amp; transform at scale</a:t>
            </a:r>
            <a:endParaRPr lang="en-US" sz="1350" dirty="0"/>
          </a:p>
        </p:txBody>
      </p:sp>
      <p:sp>
        <p:nvSpPr>
          <p:cNvPr id="14" name="Text 10"/>
          <p:cNvSpPr/>
          <p:nvPr/>
        </p:nvSpPr>
        <p:spPr>
          <a:xfrm>
            <a:off x="1207008" y="3794760"/>
            <a:ext cx="4663440" cy="658368"/>
          </a:xfrm>
          <a:prstGeom prst="rect">
            <a:avLst/>
          </a:prstGeom>
          <a:noFill/>
          <a:ln/>
        </p:spPr>
        <p:txBody>
          <a:bodyPr wrap="square" rtlCol="0" anchor="ctr"/>
          <a:lstStyle/>
          <a:p>
            <a:pPr marL="0" indent="0">
              <a:lnSpc>
                <a:spcPct val="118000"/>
              </a:lnSpc>
              <a:buNone/>
            </a:pPr>
            <a:r>
              <a:rPr lang="en-US" sz="1080" dirty="0">
                <a:solidFill>
                  <a:srgbClr val="6B6B6B"/>
                </a:solidFill>
                <a:latin typeface="Calibri" pitchFamily="34" charset="0"/>
                <a:ea typeface="Calibri" pitchFamily="34" charset="-122"/>
                <a:cs typeface="Calibri" pitchFamily="34" charset="-120"/>
              </a:rPr>
              <a:t>Spark Structured Streaming validates, casts and filters every trip.</a:t>
            </a:r>
            <a:endParaRPr lang="en-US" sz="1080" dirty="0"/>
          </a:p>
        </p:txBody>
      </p:sp>
      <p:sp>
        <p:nvSpPr>
          <p:cNvPr id="15" name="Shape 11"/>
          <p:cNvSpPr/>
          <p:nvPr/>
        </p:nvSpPr>
        <p:spPr>
          <a:xfrm>
            <a:off x="548640" y="4672584"/>
            <a:ext cx="502920" cy="502920"/>
          </a:xfrm>
          <a:prstGeom prst="ellipse">
            <a:avLst/>
          </a:prstGeom>
          <a:solidFill>
            <a:srgbClr val="FFFFFF"/>
          </a:solidFill>
          <a:ln/>
        </p:spPr>
        <p:txBody>
          <a:bodyPr/>
          <a:lstStyle/>
          <a:p>
            <a:endParaRPr lang="en-GB"/>
          </a:p>
        </p:txBody>
      </p:sp>
      <p:pic>
        <p:nvPicPr>
          <p:cNvPr id="16" name="Image 2" descr="/home/claude/assets/FiDatabase_black_r.png"/>
          <p:cNvPicPr>
            <a:picLocks noChangeAspect="1"/>
          </p:cNvPicPr>
          <p:nvPr/>
        </p:nvPicPr>
        <p:blipFill>
          <a:blip r:embed="rId5"/>
          <a:stretch>
            <a:fillRect/>
          </a:stretch>
        </p:blipFill>
        <p:spPr>
          <a:xfrm>
            <a:off x="667512" y="4791456"/>
            <a:ext cx="265176" cy="265176"/>
          </a:xfrm>
          <a:prstGeom prst="rect">
            <a:avLst/>
          </a:prstGeom>
        </p:spPr>
      </p:pic>
      <p:sp>
        <p:nvSpPr>
          <p:cNvPr id="17" name="Shape 12"/>
          <p:cNvSpPr/>
          <p:nvPr/>
        </p:nvSpPr>
        <p:spPr>
          <a:xfrm>
            <a:off x="548640" y="4672584"/>
            <a:ext cx="502920" cy="502920"/>
          </a:xfrm>
          <a:prstGeom prst="ellipse">
            <a:avLst/>
          </a:prstGeom>
          <a:ln w="12700">
            <a:solidFill>
              <a:srgbClr val="E2E2E2"/>
            </a:solidFill>
            <a:prstDash val="solid"/>
          </a:ln>
        </p:spPr>
        <p:txBody>
          <a:bodyPr/>
          <a:lstStyle/>
          <a:p>
            <a:endParaRPr lang="en-GB"/>
          </a:p>
        </p:txBody>
      </p:sp>
      <p:sp>
        <p:nvSpPr>
          <p:cNvPr id="18" name="Text 13"/>
          <p:cNvSpPr/>
          <p:nvPr/>
        </p:nvSpPr>
        <p:spPr>
          <a:xfrm>
            <a:off x="1207008" y="4599432"/>
            <a:ext cx="4663440" cy="292608"/>
          </a:xfrm>
          <a:prstGeom prst="rect">
            <a:avLst/>
          </a:prstGeom>
          <a:noFill/>
          <a:ln/>
        </p:spPr>
        <p:txBody>
          <a:bodyPr wrap="square" rtlCol="0" anchor="ctr"/>
          <a:lstStyle/>
          <a:p>
            <a:pPr marL="0" indent="0">
              <a:buNone/>
            </a:pPr>
            <a:r>
              <a:rPr lang="en-US" sz="1350" b="1" dirty="0">
                <a:solidFill>
                  <a:srgbClr val="141414"/>
                </a:solidFill>
                <a:latin typeface="Calibri" pitchFamily="34" charset="0"/>
                <a:ea typeface="Calibri" pitchFamily="34" charset="-122"/>
                <a:cs typeface="Calibri" pitchFamily="34" charset="-120"/>
              </a:rPr>
              <a:t>Analytics-ready storage</a:t>
            </a:r>
            <a:endParaRPr lang="en-US" sz="1350" dirty="0"/>
          </a:p>
        </p:txBody>
      </p:sp>
      <p:sp>
        <p:nvSpPr>
          <p:cNvPr id="19" name="Text 14"/>
          <p:cNvSpPr/>
          <p:nvPr/>
        </p:nvSpPr>
        <p:spPr>
          <a:xfrm>
            <a:off x="1207008" y="4873752"/>
            <a:ext cx="4663440" cy="658368"/>
          </a:xfrm>
          <a:prstGeom prst="rect">
            <a:avLst/>
          </a:prstGeom>
          <a:noFill/>
          <a:ln/>
        </p:spPr>
        <p:txBody>
          <a:bodyPr wrap="square" rtlCol="0" anchor="ctr"/>
          <a:lstStyle/>
          <a:p>
            <a:pPr marL="0" indent="0">
              <a:lnSpc>
                <a:spcPct val="118000"/>
              </a:lnSpc>
              <a:buNone/>
            </a:pPr>
            <a:r>
              <a:rPr lang="en-US" sz="1080" dirty="0">
                <a:solidFill>
                  <a:srgbClr val="6B6B6B"/>
                </a:solidFill>
                <a:latin typeface="Calibri" pitchFamily="34" charset="0"/>
                <a:ea typeface="Calibri" pitchFamily="34" charset="-122"/>
                <a:cs typeface="Calibri" pitchFamily="34" charset="-120"/>
              </a:rPr>
              <a:t>ClickHouse holds trip-level records for sub-second queries.</a:t>
            </a:r>
            <a:endParaRPr lang="en-US" sz="1080" dirty="0"/>
          </a:p>
        </p:txBody>
      </p:sp>
      <p:sp>
        <p:nvSpPr>
          <p:cNvPr id="20" name="Shape 15"/>
          <p:cNvSpPr/>
          <p:nvPr/>
        </p:nvSpPr>
        <p:spPr>
          <a:xfrm>
            <a:off x="6172200" y="2514600"/>
            <a:ext cx="502920" cy="502920"/>
          </a:xfrm>
          <a:prstGeom prst="ellipse">
            <a:avLst/>
          </a:prstGeom>
          <a:solidFill>
            <a:srgbClr val="FFFFFF"/>
          </a:solidFill>
          <a:ln/>
        </p:spPr>
        <p:txBody>
          <a:bodyPr/>
          <a:lstStyle/>
          <a:p>
            <a:endParaRPr lang="en-GB"/>
          </a:p>
        </p:txBody>
      </p:sp>
      <p:pic>
        <p:nvPicPr>
          <p:cNvPr id="21" name="Image 3" descr="/home/claude/assets/FiGitBranch_black_r.png"/>
          <p:cNvPicPr>
            <a:picLocks noChangeAspect="1"/>
          </p:cNvPicPr>
          <p:nvPr/>
        </p:nvPicPr>
        <p:blipFill>
          <a:blip r:embed="rId6"/>
          <a:stretch>
            <a:fillRect/>
          </a:stretch>
        </p:blipFill>
        <p:spPr>
          <a:xfrm>
            <a:off x="6291072" y="2633472"/>
            <a:ext cx="265176" cy="265176"/>
          </a:xfrm>
          <a:prstGeom prst="rect">
            <a:avLst/>
          </a:prstGeom>
        </p:spPr>
      </p:pic>
      <p:sp>
        <p:nvSpPr>
          <p:cNvPr id="22" name="Shape 16"/>
          <p:cNvSpPr/>
          <p:nvPr/>
        </p:nvSpPr>
        <p:spPr>
          <a:xfrm>
            <a:off x="6172200" y="2514600"/>
            <a:ext cx="502920" cy="502920"/>
          </a:xfrm>
          <a:prstGeom prst="ellipse">
            <a:avLst/>
          </a:prstGeom>
          <a:ln w="12700">
            <a:solidFill>
              <a:srgbClr val="E2E2E2"/>
            </a:solidFill>
            <a:prstDash val="solid"/>
          </a:ln>
        </p:spPr>
        <p:txBody>
          <a:bodyPr/>
          <a:lstStyle/>
          <a:p>
            <a:endParaRPr lang="en-GB"/>
          </a:p>
        </p:txBody>
      </p:sp>
      <p:sp>
        <p:nvSpPr>
          <p:cNvPr id="23" name="Text 17"/>
          <p:cNvSpPr/>
          <p:nvPr/>
        </p:nvSpPr>
        <p:spPr>
          <a:xfrm>
            <a:off x="6830568" y="2441448"/>
            <a:ext cx="4663440" cy="292608"/>
          </a:xfrm>
          <a:prstGeom prst="rect">
            <a:avLst/>
          </a:prstGeom>
          <a:noFill/>
          <a:ln/>
        </p:spPr>
        <p:txBody>
          <a:bodyPr wrap="square" rtlCol="0" anchor="ctr"/>
          <a:lstStyle/>
          <a:p>
            <a:pPr marL="0" indent="0">
              <a:buNone/>
            </a:pPr>
            <a:r>
              <a:rPr lang="en-US" sz="1350" b="1" dirty="0">
                <a:solidFill>
                  <a:srgbClr val="141414"/>
                </a:solidFill>
                <a:latin typeface="Calibri" pitchFamily="34" charset="0"/>
                <a:ea typeface="Calibri" pitchFamily="34" charset="-122"/>
                <a:cs typeface="Calibri" pitchFamily="34" charset="-120"/>
              </a:rPr>
              <a:t>Automated orchestration</a:t>
            </a:r>
            <a:endParaRPr lang="en-US" sz="1350" dirty="0"/>
          </a:p>
        </p:txBody>
      </p:sp>
      <p:sp>
        <p:nvSpPr>
          <p:cNvPr id="24" name="Text 18"/>
          <p:cNvSpPr/>
          <p:nvPr/>
        </p:nvSpPr>
        <p:spPr>
          <a:xfrm>
            <a:off x="6830568" y="2715768"/>
            <a:ext cx="4663440" cy="658368"/>
          </a:xfrm>
          <a:prstGeom prst="rect">
            <a:avLst/>
          </a:prstGeom>
          <a:noFill/>
          <a:ln/>
        </p:spPr>
        <p:txBody>
          <a:bodyPr wrap="square" rtlCol="0" anchor="ctr"/>
          <a:lstStyle/>
          <a:p>
            <a:pPr marL="0" indent="0">
              <a:lnSpc>
                <a:spcPct val="118000"/>
              </a:lnSpc>
              <a:buNone/>
            </a:pPr>
            <a:r>
              <a:rPr lang="en-US" sz="1080" dirty="0">
                <a:solidFill>
                  <a:srgbClr val="6B6B6B"/>
                </a:solidFill>
                <a:latin typeface="Calibri" pitchFamily="34" charset="0"/>
                <a:ea typeface="Calibri" pitchFamily="34" charset="-122"/>
                <a:cs typeface="Calibri" pitchFamily="34" charset="-120"/>
              </a:rPr>
              <a:t>Airflow verifies infrastructure health and triggers the stream.</a:t>
            </a:r>
            <a:endParaRPr lang="en-US" sz="1080" dirty="0"/>
          </a:p>
        </p:txBody>
      </p:sp>
      <p:sp>
        <p:nvSpPr>
          <p:cNvPr id="30" name="Shape 23"/>
          <p:cNvSpPr/>
          <p:nvPr/>
        </p:nvSpPr>
        <p:spPr>
          <a:xfrm>
            <a:off x="6172200" y="3566160"/>
            <a:ext cx="502920" cy="502920"/>
          </a:xfrm>
          <a:prstGeom prst="ellipse">
            <a:avLst/>
          </a:prstGeom>
          <a:solidFill>
            <a:srgbClr val="FFFFFF"/>
          </a:solidFill>
          <a:ln/>
        </p:spPr>
        <p:txBody>
          <a:bodyPr/>
          <a:lstStyle/>
          <a:p>
            <a:endParaRPr lang="en-GB" dirty="0"/>
          </a:p>
        </p:txBody>
      </p:sp>
      <p:pic>
        <p:nvPicPr>
          <p:cNvPr id="31" name="Image 5" descr="/home/claude/assets/FiLayers_black_r.png"/>
          <p:cNvPicPr>
            <a:picLocks noChangeAspect="1"/>
          </p:cNvPicPr>
          <p:nvPr/>
        </p:nvPicPr>
        <p:blipFill>
          <a:blip r:embed="rId7"/>
          <a:stretch>
            <a:fillRect/>
          </a:stretch>
        </p:blipFill>
        <p:spPr>
          <a:xfrm>
            <a:off x="6291072" y="3685032"/>
            <a:ext cx="265176" cy="265176"/>
          </a:xfrm>
          <a:prstGeom prst="rect">
            <a:avLst/>
          </a:prstGeom>
        </p:spPr>
      </p:pic>
      <p:sp>
        <p:nvSpPr>
          <p:cNvPr id="32" name="Shape 24"/>
          <p:cNvSpPr/>
          <p:nvPr/>
        </p:nvSpPr>
        <p:spPr>
          <a:xfrm>
            <a:off x="6172200" y="3566160"/>
            <a:ext cx="502920" cy="502920"/>
          </a:xfrm>
          <a:prstGeom prst="ellipse">
            <a:avLst/>
          </a:prstGeom>
          <a:ln w="12700">
            <a:solidFill>
              <a:srgbClr val="E2E2E2"/>
            </a:solidFill>
            <a:prstDash val="solid"/>
          </a:ln>
        </p:spPr>
        <p:txBody>
          <a:bodyPr/>
          <a:lstStyle/>
          <a:p>
            <a:endParaRPr lang="en-GB"/>
          </a:p>
        </p:txBody>
      </p:sp>
      <p:sp>
        <p:nvSpPr>
          <p:cNvPr id="33" name="Text 25"/>
          <p:cNvSpPr/>
          <p:nvPr/>
        </p:nvSpPr>
        <p:spPr>
          <a:xfrm>
            <a:off x="6830568" y="3493008"/>
            <a:ext cx="4663440" cy="292608"/>
          </a:xfrm>
          <a:prstGeom prst="rect">
            <a:avLst/>
          </a:prstGeom>
          <a:noFill/>
          <a:ln/>
        </p:spPr>
        <p:txBody>
          <a:bodyPr wrap="square" rtlCol="0" anchor="ctr"/>
          <a:lstStyle/>
          <a:p>
            <a:pPr marL="0" indent="0">
              <a:buNone/>
            </a:pPr>
            <a:r>
              <a:rPr lang="en-US" sz="1350" b="1" dirty="0">
                <a:solidFill>
                  <a:srgbClr val="141414"/>
                </a:solidFill>
                <a:latin typeface="Calibri" pitchFamily="34" charset="0"/>
                <a:ea typeface="Calibri" pitchFamily="34" charset="-122"/>
                <a:cs typeface="Calibri" pitchFamily="34" charset="-120"/>
              </a:rPr>
              <a:t>Modern, containerized stack</a:t>
            </a:r>
            <a:endParaRPr lang="en-US" sz="1350" dirty="0"/>
          </a:p>
        </p:txBody>
      </p:sp>
      <p:sp>
        <p:nvSpPr>
          <p:cNvPr id="34" name="Text 26"/>
          <p:cNvSpPr/>
          <p:nvPr/>
        </p:nvSpPr>
        <p:spPr>
          <a:xfrm>
            <a:off x="6830568" y="3767328"/>
            <a:ext cx="4663440" cy="658368"/>
          </a:xfrm>
          <a:prstGeom prst="rect">
            <a:avLst/>
          </a:prstGeom>
          <a:noFill/>
          <a:ln/>
        </p:spPr>
        <p:txBody>
          <a:bodyPr wrap="square" rtlCol="0" anchor="ctr"/>
          <a:lstStyle/>
          <a:p>
            <a:pPr marL="0" indent="0">
              <a:lnSpc>
                <a:spcPct val="118000"/>
              </a:lnSpc>
              <a:buNone/>
            </a:pPr>
            <a:r>
              <a:rPr lang="en-US" sz="1080" dirty="0">
                <a:solidFill>
                  <a:srgbClr val="6B6B6B"/>
                </a:solidFill>
                <a:latin typeface="Calibri" pitchFamily="34" charset="0"/>
                <a:ea typeface="Calibri" pitchFamily="34" charset="-122"/>
                <a:cs typeface="Calibri" pitchFamily="34" charset="-120"/>
              </a:rPr>
              <a:t>Every service runs isolated and reproducible via Docker Compose.</a:t>
            </a:r>
            <a:endParaRPr lang="en-US" sz="1080" dirty="0"/>
          </a:p>
        </p:txBody>
      </p:sp>
      <p:sp>
        <p:nvSpPr>
          <p:cNvPr id="35" name="Text 2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TECHNOLOGY STACK</a:t>
            </a:r>
            <a:endParaRPr lang="en-US" sz="1200" dirty="0"/>
          </a:p>
        </p:txBody>
      </p:sp>
      <p:sp>
        <p:nvSpPr>
          <p:cNvPr id="3" name="Text 1"/>
          <p:cNvSpPr/>
          <p:nvPr/>
        </p:nvSpPr>
        <p:spPr>
          <a:xfrm>
            <a:off x="548640" y="749808"/>
            <a:ext cx="10515600" cy="640080"/>
          </a:xfrm>
          <a:prstGeom prst="rect">
            <a:avLst/>
          </a:prstGeom>
          <a:noFill/>
          <a:ln/>
        </p:spPr>
        <p:txBody>
          <a:bodyPr wrap="square"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Built on proven, industry-standard tools</a:t>
            </a:r>
            <a:endParaRPr lang="en-US" sz="3000" dirty="0"/>
          </a:p>
        </p:txBody>
      </p:sp>
      <p:sp>
        <p:nvSpPr>
          <p:cNvPr id="4" name="Shape 2"/>
          <p:cNvSpPr/>
          <p:nvPr/>
        </p:nvSpPr>
        <p:spPr>
          <a:xfrm>
            <a:off x="580644" y="1737360"/>
            <a:ext cx="2606040" cy="1965960"/>
          </a:xfrm>
          <a:prstGeom prst="roundRect">
            <a:avLst>
              <a:gd name="adj" fmla="val 4186"/>
            </a:avLst>
          </a:prstGeom>
          <a:solidFill>
            <a:srgbClr val="1E1E1E"/>
          </a:solidFill>
          <a:ln w="12700">
            <a:solidFill>
              <a:srgbClr val="2C2C2C"/>
            </a:solidFill>
            <a:prstDash val="solid"/>
          </a:ln>
        </p:spPr>
        <p:txBody>
          <a:bodyPr/>
          <a:lstStyle/>
          <a:p>
            <a:endParaRPr/>
          </a:p>
        </p:txBody>
      </p:sp>
      <p:sp>
        <p:nvSpPr>
          <p:cNvPr id="5" name="Shape 3"/>
          <p:cNvSpPr/>
          <p:nvPr/>
        </p:nvSpPr>
        <p:spPr>
          <a:xfrm>
            <a:off x="1472184" y="1993392"/>
            <a:ext cx="822960" cy="822960"/>
          </a:xfrm>
          <a:prstGeom prst="ellipse">
            <a:avLst/>
          </a:prstGeom>
          <a:solidFill>
            <a:srgbClr val="FFFFFF"/>
          </a:solidFill>
          <a:ln/>
        </p:spPr>
        <p:txBody>
          <a:bodyPr/>
          <a:lstStyle/>
          <a:p>
            <a:endParaRPr/>
          </a:p>
        </p:txBody>
      </p:sp>
      <p:pic>
        <p:nvPicPr>
          <p:cNvPr id="6" name="Image 0" descr="/home/claude/assets/python.png"/>
          <p:cNvPicPr>
            <a:picLocks noChangeAspect="1"/>
          </p:cNvPicPr>
          <p:nvPr/>
        </p:nvPicPr>
        <p:blipFill>
          <a:blip r:embed="rId3"/>
          <a:stretch>
            <a:fillRect/>
          </a:stretch>
        </p:blipFill>
        <p:spPr>
          <a:xfrm>
            <a:off x="1645920" y="2167128"/>
            <a:ext cx="475488" cy="475488"/>
          </a:xfrm>
          <a:prstGeom prst="rect">
            <a:avLst/>
          </a:prstGeom>
        </p:spPr>
      </p:pic>
      <p:sp>
        <p:nvSpPr>
          <p:cNvPr id="7" name="Text 4"/>
          <p:cNvSpPr/>
          <p:nvPr/>
        </p:nvSpPr>
        <p:spPr>
          <a:xfrm>
            <a:off x="672084" y="2944368"/>
            <a:ext cx="242316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Python</a:t>
            </a:r>
            <a:endParaRPr lang="en-US" sz="1350" dirty="0"/>
          </a:p>
        </p:txBody>
      </p:sp>
      <p:sp>
        <p:nvSpPr>
          <p:cNvPr id="8" name="Text 5"/>
          <p:cNvSpPr/>
          <p:nvPr/>
        </p:nvSpPr>
        <p:spPr>
          <a:xfrm>
            <a:off x="672084" y="3246120"/>
            <a:ext cx="2423160" cy="365760"/>
          </a:xfrm>
          <a:prstGeom prst="rect">
            <a:avLst/>
          </a:prstGeom>
          <a:noFill/>
          <a:ln/>
        </p:spPr>
        <p:txBody>
          <a:bodyPr wrap="square"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Core language</a:t>
            </a:r>
            <a:endParaRPr lang="en-US" sz="1000" dirty="0"/>
          </a:p>
        </p:txBody>
      </p:sp>
      <p:sp>
        <p:nvSpPr>
          <p:cNvPr id="9" name="Shape 6"/>
          <p:cNvSpPr/>
          <p:nvPr/>
        </p:nvSpPr>
        <p:spPr>
          <a:xfrm>
            <a:off x="3387852" y="1737360"/>
            <a:ext cx="2606040" cy="1965960"/>
          </a:xfrm>
          <a:prstGeom prst="roundRect">
            <a:avLst>
              <a:gd name="adj" fmla="val 4186"/>
            </a:avLst>
          </a:prstGeom>
          <a:solidFill>
            <a:srgbClr val="1E1E1E"/>
          </a:solidFill>
          <a:ln w="12700">
            <a:solidFill>
              <a:srgbClr val="2C2C2C"/>
            </a:solidFill>
            <a:prstDash val="solid"/>
          </a:ln>
        </p:spPr>
        <p:txBody>
          <a:bodyPr/>
          <a:lstStyle/>
          <a:p>
            <a:endParaRPr/>
          </a:p>
        </p:txBody>
      </p:sp>
      <p:sp>
        <p:nvSpPr>
          <p:cNvPr id="10" name="Shape 7"/>
          <p:cNvSpPr/>
          <p:nvPr/>
        </p:nvSpPr>
        <p:spPr>
          <a:xfrm>
            <a:off x="4279392" y="1993392"/>
            <a:ext cx="822960" cy="822960"/>
          </a:xfrm>
          <a:prstGeom prst="ellipse">
            <a:avLst/>
          </a:prstGeom>
          <a:solidFill>
            <a:srgbClr val="FFFFFF"/>
          </a:solidFill>
          <a:ln/>
        </p:spPr>
        <p:txBody>
          <a:bodyPr/>
          <a:lstStyle/>
          <a:p>
            <a:endParaRPr/>
          </a:p>
        </p:txBody>
      </p:sp>
      <p:pic>
        <p:nvPicPr>
          <p:cNvPr id="11" name="Image 1" descr="/home/claude/assets/kafka.png"/>
          <p:cNvPicPr>
            <a:picLocks noChangeAspect="1"/>
          </p:cNvPicPr>
          <p:nvPr/>
        </p:nvPicPr>
        <p:blipFill>
          <a:blip r:embed="rId4"/>
          <a:stretch>
            <a:fillRect/>
          </a:stretch>
        </p:blipFill>
        <p:spPr>
          <a:xfrm>
            <a:off x="4453128" y="2167128"/>
            <a:ext cx="475488" cy="475488"/>
          </a:xfrm>
          <a:prstGeom prst="rect">
            <a:avLst/>
          </a:prstGeom>
        </p:spPr>
      </p:pic>
      <p:sp>
        <p:nvSpPr>
          <p:cNvPr id="12" name="Text 8"/>
          <p:cNvSpPr/>
          <p:nvPr/>
        </p:nvSpPr>
        <p:spPr>
          <a:xfrm>
            <a:off x="3479292" y="2944368"/>
            <a:ext cx="242316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Apache Kafka</a:t>
            </a:r>
            <a:endParaRPr lang="en-US" sz="1350" dirty="0"/>
          </a:p>
        </p:txBody>
      </p:sp>
      <p:sp>
        <p:nvSpPr>
          <p:cNvPr id="13" name="Text 9"/>
          <p:cNvSpPr/>
          <p:nvPr/>
        </p:nvSpPr>
        <p:spPr>
          <a:xfrm>
            <a:off x="3479292" y="3246120"/>
            <a:ext cx="2423160" cy="365760"/>
          </a:xfrm>
          <a:prstGeom prst="rect">
            <a:avLst/>
          </a:prstGeom>
          <a:noFill/>
          <a:ln/>
        </p:spPr>
        <p:txBody>
          <a:bodyPr wrap="square"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Event streaming</a:t>
            </a:r>
            <a:endParaRPr lang="en-US" sz="1000" dirty="0"/>
          </a:p>
        </p:txBody>
      </p:sp>
      <p:sp>
        <p:nvSpPr>
          <p:cNvPr id="14" name="Shape 10"/>
          <p:cNvSpPr/>
          <p:nvPr/>
        </p:nvSpPr>
        <p:spPr>
          <a:xfrm>
            <a:off x="6195060" y="1737360"/>
            <a:ext cx="2606040" cy="1965960"/>
          </a:xfrm>
          <a:prstGeom prst="roundRect">
            <a:avLst>
              <a:gd name="adj" fmla="val 4186"/>
            </a:avLst>
          </a:prstGeom>
          <a:solidFill>
            <a:srgbClr val="1E1E1E"/>
          </a:solidFill>
          <a:ln w="12700">
            <a:solidFill>
              <a:srgbClr val="2C2C2C"/>
            </a:solidFill>
            <a:prstDash val="solid"/>
          </a:ln>
        </p:spPr>
        <p:txBody>
          <a:bodyPr/>
          <a:lstStyle/>
          <a:p>
            <a:endParaRPr/>
          </a:p>
        </p:txBody>
      </p:sp>
      <p:sp>
        <p:nvSpPr>
          <p:cNvPr id="15" name="Shape 11"/>
          <p:cNvSpPr/>
          <p:nvPr/>
        </p:nvSpPr>
        <p:spPr>
          <a:xfrm>
            <a:off x="7086600" y="1993392"/>
            <a:ext cx="822960" cy="822960"/>
          </a:xfrm>
          <a:prstGeom prst="ellipse">
            <a:avLst/>
          </a:prstGeom>
          <a:solidFill>
            <a:srgbClr val="FFFFFF"/>
          </a:solidFill>
          <a:ln/>
        </p:spPr>
        <p:txBody>
          <a:bodyPr/>
          <a:lstStyle/>
          <a:p>
            <a:endParaRPr/>
          </a:p>
        </p:txBody>
      </p:sp>
      <p:pic>
        <p:nvPicPr>
          <p:cNvPr id="16" name="Image 2" descr="/home/claude/assets/spark.png"/>
          <p:cNvPicPr>
            <a:picLocks noChangeAspect="1"/>
          </p:cNvPicPr>
          <p:nvPr/>
        </p:nvPicPr>
        <p:blipFill>
          <a:blip r:embed="rId5"/>
          <a:stretch>
            <a:fillRect/>
          </a:stretch>
        </p:blipFill>
        <p:spPr>
          <a:xfrm>
            <a:off x="7260336" y="2167128"/>
            <a:ext cx="475488" cy="475488"/>
          </a:xfrm>
          <a:prstGeom prst="rect">
            <a:avLst/>
          </a:prstGeom>
        </p:spPr>
      </p:pic>
      <p:sp>
        <p:nvSpPr>
          <p:cNvPr id="17" name="Text 12"/>
          <p:cNvSpPr/>
          <p:nvPr/>
        </p:nvSpPr>
        <p:spPr>
          <a:xfrm>
            <a:off x="6286500" y="2944368"/>
            <a:ext cx="242316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Apache Spark</a:t>
            </a:r>
            <a:endParaRPr lang="en-US" sz="1350" dirty="0"/>
          </a:p>
        </p:txBody>
      </p:sp>
      <p:sp>
        <p:nvSpPr>
          <p:cNvPr id="18" name="Text 13"/>
          <p:cNvSpPr/>
          <p:nvPr/>
        </p:nvSpPr>
        <p:spPr>
          <a:xfrm>
            <a:off x="6286500" y="3246120"/>
            <a:ext cx="2423160" cy="365760"/>
          </a:xfrm>
          <a:prstGeom prst="rect">
            <a:avLst/>
          </a:prstGeom>
          <a:noFill/>
          <a:ln/>
        </p:spPr>
        <p:txBody>
          <a:bodyPr wrap="square"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Stream processing</a:t>
            </a:r>
            <a:endParaRPr lang="en-US" sz="1000" dirty="0"/>
          </a:p>
        </p:txBody>
      </p:sp>
      <p:sp>
        <p:nvSpPr>
          <p:cNvPr id="19" name="Shape 14"/>
          <p:cNvSpPr/>
          <p:nvPr/>
        </p:nvSpPr>
        <p:spPr>
          <a:xfrm>
            <a:off x="9002268" y="1737360"/>
            <a:ext cx="2606040" cy="1965960"/>
          </a:xfrm>
          <a:prstGeom prst="roundRect">
            <a:avLst>
              <a:gd name="adj" fmla="val 4186"/>
            </a:avLst>
          </a:prstGeom>
          <a:solidFill>
            <a:srgbClr val="1E1E1E"/>
          </a:solidFill>
          <a:ln w="12700">
            <a:solidFill>
              <a:srgbClr val="2C2C2C"/>
            </a:solidFill>
            <a:prstDash val="solid"/>
          </a:ln>
        </p:spPr>
        <p:txBody>
          <a:bodyPr/>
          <a:lstStyle/>
          <a:p>
            <a:endParaRPr/>
          </a:p>
        </p:txBody>
      </p:sp>
      <p:sp>
        <p:nvSpPr>
          <p:cNvPr id="20" name="Shape 15"/>
          <p:cNvSpPr/>
          <p:nvPr/>
        </p:nvSpPr>
        <p:spPr>
          <a:xfrm>
            <a:off x="9893808" y="1993392"/>
            <a:ext cx="822960" cy="822960"/>
          </a:xfrm>
          <a:prstGeom prst="ellipse">
            <a:avLst/>
          </a:prstGeom>
          <a:solidFill>
            <a:srgbClr val="FFFFFF"/>
          </a:solidFill>
          <a:ln/>
        </p:spPr>
        <p:txBody>
          <a:bodyPr/>
          <a:lstStyle/>
          <a:p>
            <a:endParaRPr/>
          </a:p>
        </p:txBody>
      </p:sp>
      <p:pic>
        <p:nvPicPr>
          <p:cNvPr id="21" name="Image 3" descr="/home/claude/assets/clickhouse.png"/>
          <p:cNvPicPr>
            <a:picLocks noChangeAspect="1"/>
          </p:cNvPicPr>
          <p:nvPr/>
        </p:nvPicPr>
        <p:blipFill>
          <a:blip r:embed="rId6"/>
          <a:stretch>
            <a:fillRect/>
          </a:stretch>
        </p:blipFill>
        <p:spPr>
          <a:xfrm>
            <a:off x="10067544" y="2167128"/>
            <a:ext cx="475488" cy="475488"/>
          </a:xfrm>
          <a:prstGeom prst="rect">
            <a:avLst/>
          </a:prstGeom>
        </p:spPr>
      </p:pic>
      <p:sp>
        <p:nvSpPr>
          <p:cNvPr id="22" name="Text 16"/>
          <p:cNvSpPr/>
          <p:nvPr/>
        </p:nvSpPr>
        <p:spPr>
          <a:xfrm>
            <a:off x="9093708" y="2944368"/>
            <a:ext cx="242316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ClickHouse</a:t>
            </a:r>
            <a:endParaRPr lang="en-US" sz="1350" dirty="0"/>
          </a:p>
        </p:txBody>
      </p:sp>
      <p:sp>
        <p:nvSpPr>
          <p:cNvPr id="23" name="Text 17"/>
          <p:cNvSpPr/>
          <p:nvPr/>
        </p:nvSpPr>
        <p:spPr>
          <a:xfrm>
            <a:off x="9093708" y="3246120"/>
            <a:ext cx="2423160" cy="365760"/>
          </a:xfrm>
          <a:prstGeom prst="rect">
            <a:avLst/>
          </a:prstGeom>
          <a:noFill/>
          <a:ln/>
        </p:spPr>
        <p:txBody>
          <a:bodyPr wrap="square"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Analytical DB</a:t>
            </a:r>
            <a:endParaRPr lang="en-US" sz="1000" dirty="0"/>
          </a:p>
        </p:txBody>
      </p:sp>
      <p:sp>
        <p:nvSpPr>
          <p:cNvPr id="24" name="Shape 18"/>
          <p:cNvSpPr/>
          <p:nvPr/>
        </p:nvSpPr>
        <p:spPr>
          <a:xfrm>
            <a:off x="580644" y="3959352"/>
            <a:ext cx="2606040" cy="1965960"/>
          </a:xfrm>
          <a:prstGeom prst="roundRect">
            <a:avLst>
              <a:gd name="adj" fmla="val 4186"/>
            </a:avLst>
          </a:prstGeom>
          <a:solidFill>
            <a:srgbClr val="1E1E1E"/>
          </a:solidFill>
          <a:ln w="12700">
            <a:solidFill>
              <a:srgbClr val="2C2C2C"/>
            </a:solidFill>
            <a:prstDash val="solid"/>
          </a:ln>
        </p:spPr>
        <p:txBody>
          <a:bodyPr/>
          <a:lstStyle/>
          <a:p>
            <a:endParaRPr/>
          </a:p>
        </p:txBody>
      </p:sp>
      <p:sp>
        <p:nvSpPr>
          <p:cNvPr id="25" name="Shape 19"/>
          <p:cNvSpPr/>
          <p:nvPr/>
        </p:nvSpPr>
        <p:spPr>
          <a:xfrm>
            <a:off x="1472184" y="4215384"/>
            <a:ext cx="822960" cy="822960"/>
          </a:xfrm>
          <a:prstGeom prst="ellipse">
            <a:avLst/>
          </a:prstGeom>
          <a:solidFill>
            <a:srgbClr val="FFFFFF"/>
          </a:solidFill>
          <a:ln/>
        </p:spPr>
        <p:txBody>
          <a:bodyPr/>
          <a:lstStyle/>
          <a:p>
            <a:endParaRPr/>
          </a:p>
        </p:txBody>
      </p:sp>
      <p:pic>
        <p:nvPicPr>
          <p:cNvPr id="26" name="Image 4" descr="/home/claude/assets/airflow.png"/>
          <p:cNvPicPr>
            <a:picLocks noChangeAspect="1"/>
          </p:cNvPicPr>
          <p:nvPr/>
        </p:nvPicPr>
        <p:blipFill>
          <a:blip r:embed="rId7"/>
          <a:stretch>
            <a:fillRect/>
          </a:stretch>
        </p:blipFill>
        <p:spPr>
          <a:xfrm>
            <a:off x="1645920" y="4389120"/>
            <a:ext cx="475488" cy="475488"/>
          </a:xfrm>
          <a:prstGeom prst="rect">
            <a:avLst/>
          </a:prstGeom>
        </p:spPr>
      </p:pic>
      <p:sp>
        <p:nvSpPr>
          <p:cNvPr id="27" name="Text 20"/>
          <p:cNvSpPr/>
          <p:nvPr/>
        </p:nvSpPr>
        <p:spPr>
          <a:xfrm>
            <a:off x="672084" y="5166360"/>
            <a:ext cx="242316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Apache Airflow</a:t>
            </a:r>
            <a:endParaRPr lang="en-US" sz="1350" dirty="0"/>
          </a:p>
        </p:txBody>
      </p:sp>
      <p:sp>
        <p:nvSpPr>
          <p:cNvPr id="28" name="Text 21"/>
          <p:cNvSpPr/>
          <p:nvPr/>
        </p:nvSpPr>
        <p:spPr>
          <a:xfrm>
            <a:off x="672084" y="5468112"/>
            <a:ext cx="2423160" cy="365760"/>
          </a:xfrm>
          <a:prstGeom prst="rect">
            <a:avLst/>
          </a:prstGeom>
          <a:noFill/>
          <a:ln/>
        </p:spPr>
        <p:txBody>
          <a:bodyPr wrap="square"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Orchestration</a:t>
            </a:r>
            <a:endParaRPr lang="en-US" sz="1000" dirty="0"/>
          </a:p>
        </p:txBody>
      </p:sp>
      <p:sp>
        <p:nvSpPr>
          <p:cNvPr id="34" name="Shape 26"/>
          <p:cNvSpPr/>
          <p:nvPr/>
        </p:nvSpPr>
        <p:spPr>
          <a:xfrm>
            <a:off x="3387852" y="3927348"/>
            <a:ext cx="2606040" cy="1965960"/>
          </a:xfrm>
          <a:prstGeom prst="roundRect">
            <a:avLst>
              <a:gd name="adj" fmla="val 4186"/>
            </a:avLst>
          </a:prstGeom>
          <a:solidFill>
            <a:srgbClr val="1E1E1E"/>
          </a:solidFill>
          <a:ln w="12700">
            <a:solidFill>
              <a:srgbClr val="2C2C2C"/>
            </a:solidFill>
            <a:prstDash val="solid"/>
          </a:ln>
        </p:spPr>
        <p:txBody>
          <a:bodyPr/>
          <a:lstStyle/>
          <a:p>
            <a:endParaRPr/>
          </a:p>
        </p:txBody>
      </p:sp>
      <p:sp>
        <p:nvSpPr>
          <p:cNvPr id="35" name="Shape 27"/>
          <p:cNvSpPr/>
          <p:nvPr/>
        </p:nvSpPr>
        <p:spPr>
          <a:xfrm>
            <a:off x="4279392" y="4215384"/>
            <a:ext cx="822960" cy="822960"/>
          </a:xfrm>
          <a:prstGeom prst="ellipse">
            <a:avLst/>
          </a:prstGeom>
          <a:solidFill>
            <a:srgbClr val="FFFFFF"/>
          </a:solidFill>
          <a:ln/>
        </p:spPr>
        <p:txBody>
          <a:bodyPr/>
          <a:lstStyle/>
          <a:p>
            <a:endParaRPr/>
          </a:p>
        </p:txBody>
      </p:sp>
      <p:pic>
        <p:nvPicPr>
          <p:cNvPr id="36" name="Image 6" descr="/home/claude/assets/docker.png"/>
          <p:cNvPicPr>
            <a:picLocks noChangeAspect="1"/>
          </p:cNvPicPr>
          <p:nvPr/>
        </p:nvPicPr>
        <p:blipFill>
          <a:blip r:embed="rId8"/>
          <a:stretch>
            <a:fillRect/>
          </a:stretch>
        </p:blipFill>
        <p:spPr>
          <a:xfrm>
            <a:off x="4453128" y="4389120"/>
            <a:ext cx="475488" cy="475488"/>
          </a:xfrm>
          <a:prstGeom prst="rect">
            <a:avLst/>
          </a:prstGeom>
        </p:spPr>
      </p:pic>
      <p:sp>
        <p:nvSpPr>
          <p:cNvPr id="37" name="Text 28"/>
          <p:cNvSpPr/>
          <p:nvPr/>
        </p:nvSpPr>
        <p:spPr>
          <a:xfrm>
            <a:off x="3479292" y="5166360"/>
            <a:ext cx="242316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Docker Compose</a:t>
            </a:r>
            <a:endParaRPr lang="en-US" sz="1350" dirty="0"/>
          </a:p>
        </p:txBody>
      </p:sp>
      <p:sp>
        <p:nvSpPr>
          <p:cNvPr id="38" name="Text 29"/>
          <p:cNvSpPr/>
          <p:nvPr/>
        </p:nvSpPr>
        <p:spPr>
          <a:xfrm>
            <a:off x="3479292" y="5468112"/>
            <a:ext cx="2423160" cy="365760"/>
          </a:xfrm>
          <a:prstGeom prst="rect">
            <a:avLst/>
          </a:prstGeom>
          <a:noFill/>
          <a:ln/>
        </p:spPr>
        <p:txBody>
          <a:bodyPr wrap="square"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Containerization</a:t>
            </a:r>
            <a:endParaRPr lang="en-US" sz="1000" dirty="0"/>
          </a:p>
        </p:txBody>
      </p:sp>
      <p:sp>
        <p:nvSpPr>
          <p:cNvPr id="39" name="Shape 30"/>
          <p:cNvSpPr/>
          <p:nvPr/>
        </p:nvSpPr>
        <p:spPr>
          <a:xfrm>
            <a:off x="6195060" y="3959352"/>
            <a:ext cx="2606040" cy="1965960"/>
          </a:xfrm>
          <a:prstGeom prst="roundRect">
            <a:avLst>
              <a:gd name="adj" fmla="val 4186"/>
            </a:avLst>
          </a:prstGeom>
          <a:solidFill>
            <a:srgbClr val="1E1E1E"/>
          </a:solidFill>
          <a:ln w="12700">
            <a:solidFill>
              <a:srgbClr val="2C2C2C"/>
            </a:solidFill>
            <a:prstDash val="solid"/>
          </a:ln>
        </p:spPr>
        <p:txBody>
          <a:bodyPr/>
          <a:lstStyle/>
          <a:p>
            <a:endParaRPr/>
          </a:p>
        </p:txBody>
      </p:sp>
      <p:sp>
        <p:nvSpPr>
          <p:cNvPr id="40" name="Shape 31"/>
          <p:cNvSpPr/>
          <p:nvPr/>
        </p:nvSpPr>
        <p:spPr>
          <a:xfrm>
            <a:off x="7086600" y="4215384"/>
            <a:ext cx="822960" cy="822960"/>
          </a:xfrm>
          <a:prstGeom prst="ellipse">
            <a:avLst/>
          </a:prstGeom>
          <a:solidFill>
            <a:srgbClr val="FFFFFF"/>
          </a:solidFill>
          <a:ln/>
        </p:spPr>
        <p:txBody>
          <a:bodyPr/>
          <a:lstStyle/>
          <a:p>
            <a:endParaRPr/>
          </a:p>
        </p:txBody>
      </p:sp>
      <p:pic>
        <p:nvPicPr>
          <p:cNvPr id="41" name="Image 7" descr="/home/claude/assets/pandas.png"/>
          <p:cNvPicPr>
            <a:picLocks noChangeAspect="1"/>
          </p:cNvPicPr>
          <p:nvPr/>
        </p:nvPicPr>
        <p:blipFill>
          <a:blip r:embed="rId9"/>
          <a:stretch>
            <a:fillRect/>
          </a:stretch>
        </p:blipFill>
        <p:spPr>
          <a:xfrm>
            <a:off x="7260336" y="4389120"/>
            <a:ext cx="475488" cy="475488"/>
          </a:xfrm>
          <a:prstGeom prst="rect">
            <a:avLst/>
          </a:prstGeom>
        </p:spPr>
      </p:pic>
      <p:sp>
        <p:nvSpPr>
          <p:cNvPr id="42" name="Text 32"/>
          <p:cNvSpPr/>
          <p:nvPr/>
        </p:nvSpPr>
        <p:spPr>
          <a:xfrm>
            <a:off x="6286500" y="5166360"/>
            <a:ext cx="242316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FastAPI &amp; LangChain
AI Agent API</a:t>
            </a:r>
            <a:endParaRPr lang="en-US" sz="1350" dirty="0"/>
          </a:p>
        </p:txBody>
      </p:sp>
      <p:sp>
        <p:nvSpPr>
          <p:cNvPr id="43" name="Text 33"/>
          <p:cNvSpPr/>
          <p:nvPr/>
        </p:nvSpPr>
        <p:spPr>
          <a:xfrm>
            <a:off x="6286500" y="5468112"/>
            <a:ext cx="2423160" cy="365760"/>
          </a:xfrm>
          <a:prstGeom prst="rect">
            <a:avLst/>
          </a:prstGeom>
          <a:noFill/>
          <a:ln/>
        </p:spPr>
        <p:txBody>
          <a:bodyPr wrap="square" rtlCol="0" anchor="ctr"/>
          <a:lstStyle/>
          <a:p>
            <a:pPr marL="0" indent="0" algn="ctr">
              <a:buNone/>
            </a:pPr>
            <a:r>
              <a:rPr lang="en-US" sz="1000" dirty="0">
                <a:solidFill>
                  <a:srgbClr val="9A9A9A"/>
                </a:solidFill>
                <a:latin typeface="Calibri" pitchFamily="34" charset="0"/>
                <a:ea typeface="Calibri" pitchFamily="34" charset="-122"/>
                <a:cs typeface="Calibri" pitchFamily="34" charset="-120"/>
              </a:rPr>
              <a:t>Data wrangling</a:t>
            </a:r>
            <a:endParaRPr lang="en-US" sz="1000" dirty="0"/>
          </a:p>
        </p:txBody>
      </p:sp>
      <p:sp>
        <p:nvSpPr>
          <p:cNvPr id="44" name="Text 3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749808"/>
            <a:ext cx="10881360" cy="502920"/>
          </a:xfrm>
          <a:prstGeom prst="rect">
            <a:avLst/>
          </a:prstGeom>
          <a:noFill/>
          <a:ln/>
        </p:spPr>
        <p:txBody>
          <a:bodyPr wrap="square" rtlCol="0" anchor="ctr"/>
          <a:lstStyle/>
          <a:p>
            <a:pPr marL="0" indent="0">
              <a:buNone/>
            </a:pPr>
            <a:r>
              <a:rPr lang="en-US" sz="2700" b="1" dirty="0">
                <a:solidFill>
                  <a:srgbClr val="141414"/>
                </a:solidFill>
                <a:latin typeface="Bookman Old Style" pitchFamily="34" charset="0"/>
                <a:ea typeface="Bookman Old Style" pitchFamily="34" charset="-122"/>
                <a:cs typeface="Bookman Old Style" pitchFamily="34" charset="-120"/>
              </a:rPr>
              <a:t>One trip, five hand-offs</a:t>
            </a:r>
            <a:endParaRPr lang="en-US" sz="2700" dirty="0"/>
          </a:p>
        </p:txBody>
      </p:sp>
      <p:sp>
        <p:nvSpPr>
          <p:cNvPr id="4" name="Shape 2"/>
          <p:cNvSpPr/>
          <p:nvPr/>
        </p:nvSpPr>
        <p:spPr>
          <a:xfrm>
            <a:off x="4041648" y="1371600"/>
            <a:ext cx="4114800" cy="548640"/>
          </a:xfrm>
          <a:prstGeom prst="roundRect">
            <a:avLst>
              <a:gd name="adj" fmla="val 13333"/>
            </a:avLst>
          </a:prstGeom>
          <a:solidFill>
            <a:srgbClr val="FFFFFF"/>
          </a:solidFill>
          <a:ln w="15875">
            <a:solidFill>
              <a:srgbClr val="D7263D"/>
            </a:solidFill>
            <a:prstDash val="solid"/>
          </a:ln>
        </p:spPr>
        <p:txBody>
          <a:bodyPr/>
          <a:lstStyle/>
          <a:p>
            <a:endParaRPr/>
          </a:p>
        </p:txBody>
      </p:sp>
      <p:sp>
        <p:nvSpPr>
          <p:cNvPr id="5" name="Shape 3"/>
          <p:cNvSpPr/>
          <p:nvPr/>
        </p:nvSpPr>
        <p:spPr>
          <a:xfrm>
            <a:off x="4169664" y="1435608"/>
            <a:ext cx="420624" cy="420624"/>
          </a:xfrm>
          <a:prstGeom prst="ellipse">
            <a:avLst/>
          </a:prstGeom>
          <a:solidFill>
            <a:srgbClr val="FAFAFA"/>
          </a:solidFill>
          <a:ln/>
        </p:spPr>
        <p:txBody>
          <a:bodyPr/>
          <a:lstStyle/>
          <a:p>
            <a:endParaRPr/>
          </a:p>
        </p:txBody>
      </p:sp>
      <p:pic>
        <p:nvPicPr>
          <p:cNvPr id="6" name="Image 0" descr="/home/claude/assets/airflow.png"/>
          <p:cNvPicPr>
            <a:picLocks noChangeAspect="1"/>
          </p:cNvPicPr>
          <p:nvPr/>
        </p:nvPicPr>
        <p:blipFill>
          <a:blip r:embed="rId3"/>
          <a:stretch>
            <a:fillRect/>
          </a:stretch>
        </p:blipFill>
        <p:spPr>
          <a:xfrm>
            <a:off x="4251960" y="1517904"/>
            <a:ext cx="256032" cy="256032"/>
          </a:xfrm>
          <a:prstGeom prst="rect">
            <a:avLst/>
          </a:prstGeom>
        </p:spPr>
      </p:pic>
      <p:sp>
        <p:nvSpPr>
          <p:cNvPr id="7" name="Text 4"/>
          <p:cNvSpPr/>
          <p:nvPr/>
        </p:nvSpPr>
        <p:spPr>
          <a:xfrm>
            <a:off x="4663440" y="1371600"/>
            <a:ext cx="3401568" cy="548640"/>
          </a:xfrm>
          <a:prstGeom prst="rect">
            <a:avLst/>
          </a:prstGeom>
          <a:noFill/>
          <a:ln/>
        </p:spPr>
        <p:txBody>
          <a:bodyPr wrap="square" rtlCol="0" anchor="ctr"/>
          <a:lstStyle/>
          <a:p>
            <a:pPr marL="0" indent="0">
              <a:buNone/>
            </a:pPr>
            <a:r>
              <a:rPr lang="en-US" sz="1080" b="1" dirty="0">
                <a:solidFill>
                  <a:srgbClr val="141414"/>
                </a:solidFill>
                <a:latin typeface="Calibri" pitchFamily="34" charset="0"/>
                <a:ea typeface="Calibri" pitchFamily="34" charset="-122"/>
                <a:cs typeface="Calibri" pitchFamily="34" charset="-120"/>
              </a:rPr>
              <a:t>Apache Airflow — orchestrates every stage</a:t>
            </a:r>
            <a:endParaRPr lang="en-US" sz="1080" dirty="0"/>
          </a:p>
        </p:txBody>
      </p:sp>
      <p:sp>
        <p:nvSpPr>
          <p:cNvPr id="8" name="Shape 5"/>
          <p:cNvSpPr/>
          <p:nvPr/>
        </p:nvSpPr>
        <p:spPr>
          <a:xfrm>
            <a:off x="548640" y="2331720"/>
            <a:ext cx="2331720" cy="1280160"/>
          </a:xfrm>
          <a:prstGeom prst="roundRect">
            <a:avLst>
              <a:gd name="adj" fmla="val 6429"/>
            </a:avLst>
          </a:prstGeom>
          <a:solidFill>
            <a:srgbClr val="141414"/>
          </a:solidFill>
          <a:ln/>
        </p:spPr>
        <p:txBody>
          <a:bodyPr/>
          <a:lstStyle/>
          <a:p>
            <a:endParaRPr/>
          </a:p>
        </p:txBody>
      </p:sp>
      <p:sp>
        <p:nvSpPr>
          <p:cNvPr id="9" name="Shape 6"/>
          <p:cNvSpPr/>
          <p:nvPr/>
        </p:nvSpPr>
        <p:spPr>
          <a:xfrm>
            <a:off x="1449324" y="2478024"/>
            <a:ext cx="530352" cy="530352"/>
          </a:xfrm>
          <a:prstGeom prst="ellipse">
            <a:avLst/>
          </a:prstGeom>
          <a:solidFill>
            <a:srgbClr val="D7263D"/>
          </a:solidFill>
          <a:ln/>
        </p:spPr>
        <p:txBody>
          <a:bodyPr/>
          <a:lstStyle/>
          <a:p>
            <a:endParaRPr/>
          </a:p>
        </p:txBody>
      </p:sp>
      <p:pic>
        <p:nvPicPr>
          <p:cNvPr id="10" name="Image 1" descr="/home/claude/assets/FiFileText_black_r.png"/>
          <p:cNvPicPr>
            <a:picLocks noChangeAspect="1"/>
          </p:cNvPicPr>
          <p:nvPr/>
        </p:nvPicPr>
        <p:blipFill>
          <a:blip r:embed="rId4"/>
          <a:stretch>
            <a:fillRect/>
          </a:stretch>
        </p:blipFill>
        <p:spPr>
          <a:xfrm>
            <a:off x="1568196" y="2596896"/>
            <a:ext cx="292608" cy="292608"/>
          </a:xfrm>
          <a:prstGeom prst="rect">
            <a:avLst/>
          </a:prstGeom>
        </p:spPr>
      </p:pic>
      <p:sp>
        <p:nvSpPr>
          <p:cNvPr id="11" name="Text 7"/>
          <p:cNvSpPr/>
          <p:nvPr/>
        </p:nvSpPr>
        <p:spPr>
          <a:xfrm>
            <a:off x="640080" y="3081528"/>
            <a:ext cx="2148840" cy="25603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Parquet Files</a:t>
            </a:r>
            <a:endParaRPr lang="en-US" sz="1250" dirty="0"/>
          </a:p>
        </p:txBody>
      </p:sp>
      <p:sp>
        <p:nvSpPr>
          <p:cNvPr id="12" name="Text 8"/>
          <p:cNvSpPr/>
          <p:nvPr/>
        </p:nvSpPr>
        <p:spPr>
          <a:xfrm>
            <a:off x="640080" y="3319272"/>
            <a:ext cx="2148840" cy="256032"/>
          </a:xfrm>
          <a:prstGeom prst="rect">
            <a:avLst/>
          </a:prstGeom>
          <a:noFill/>
          <a:ln/>
        </p:spPr>
        <p:txBody>
          <a:bodyPr wrap="square" rtlCol="0" anchor="ctr"/>
          <a:lstStyle/>
          <a:p>
            <a:pPr marL="0" indent="0" algn="ctr">
              <a:buNone/>
            </a:pPr>
            <a:r>
              <a:rPr lang="en-US" sz="900" dirty="0">
                <a:solidFill>
                  <a:srgbClr val="B8B8B8"/>
                </a:solidFill>
                <a:latin typeface="Calibri" pitchFamily="34" charset="0"/>
                <a:ea typeface="Calibri" pitchFamily="34" charset="-122"/>
                <a:cs typeface="Calibri" pitchFamily="34" charset="-120"/>
              </a:rPr>
              <a:t>Raw NYC TLC trip data</a:t>
            </a:r>
            <a:endParaRPr lang="en-US" sz="900" dirty="0"/>
          </a:p>
        </p:txBody>
      </p:sp>
      <p:sp>
        <p:nvSpPr>
          <p:cNvPr id="13" name="Shape 9"/>
          <p:cNvSpPr/>
          <p:nvPr/>
        </p:nvSpPr>
        <p:spPr>
          <a:xfrm>
            <a:off x="2880360" y="2971800"/>
            <a:ext cx="518160" cy="0"/>
          </a:xfrm>
          <a:prstGeom prst="line">
            <a:avLst/>
          </a:prstGeom>
          <a:noFill/>
          <a:ln w="28575">
            <a:solidFill>
              <a:srgbClr val="D7263D"/>
            </a:solidFill>
            <a:prstDash val="solid"/>
            <a:tailEnd type="triangle"/>
          </a:ln>
        </p:spPr>
        <p:txBody>
          <a:bodyPr/>
          <a:lstStyle/>
          <a:p>
            <a:endParaRPr/>
          </a:p>
        </p:txBody>
      </p:sp>
      <p:sp>
        <p:nvSpPr>
          <p:cNvPr id="14" name="Shape 10"/>
          <p:cNvSpPr/>
          <p:nvPr/>
        </p:nvSpPr>
        <p:spPr>
          <a:xfrm>
            <a:off x="3398520" y="2331720"/>
            <a:ext cx="2331720" cy="1280160"/>
          </a:xfrm>
          <a:prstGeom prst="roundRect">
            <a:avLst>
              <a:gd name="adj" fmla="val 6429"/>
            </a:avLst>
          </a:prstGeom>
          <a:solidFill>
            <a:srgbClr val="141414"/>
          </a:solidFill>
          <a:ln/>
        </p:spPr>
        <p:txBody>
          <a:bodyPr/>
          <a:lstStyle/>
          <a:p>
            <a:endParaRPr/>
          </a:p>
        </p:txBody>
      </p:sp>
      <p:sp>
        <p:nvSpPr>
          <p:cNvPr id="15" name="Shape 11"/>
          <p:cNvSpPr/>
          <p:nvPr/>
        </p:nvSpPr>
        <p:spPr>
          <a:xfrm>
            <a:off x="4299204" y="2478024"/>
            <a:ext cx="530352" cy="530352"/>
          </a:xfrm>
          <a:prstGeom prst="ellipse">
            <a:avLst/>
          </a:prstGeom>
          <a:solidFill>
            <a:srgbClr val="D7263D"/>
          </a:solidFill>
          <a:ln/>
        </p:spPr>
        <p:txBody>
          <a:bodyPr/>
          <a:lstStyle/>
          <a:p>
            <a:endParaRPr/>
          </a:p>
        </p:txBody>
      </p:sp>
      <p:pic>
        <p:nvPicPr>
          <p:cNvPr id="16" name="Image 2" descr="/home/claude/assets/FiZap_black_r.png"/>
          <p:cNvPicPr>
            <a:picLocks noChangeAspect="1"/>
          </p:cNvPicPr>
          <p:nvPr/>
        </p:nvPicPr>
        <p:blipFill>
          <a:blip r:embed="rId5"/>
          <a:stretch>
            <a:fillRect/>
          </a:stretch>
        </p:blipFill>
        <p:spPr>
          <a:xfrm>
            <a:off x="4418076" y="2596896"/>
            <a:ext cx="292608" cy="292608"/>
          </a:xfrm>
          <a:prstGeom prst="rect">
            <a:avLst/>
          </a:prstGeom>
        </p:spPr>
      </p:pic>
      <p:sp>
        <p:nvSpPr>
          <p:cNvPr id="17" name="Text 12"/>
          <p:cNvSpPr/>
          <p:nvPr/>
        </p:nvSpPr>
        <p:spPr>
          <a:xfrm>
            <a:off x="3489960" y="3081528"/>
            <a:ext cx="2148840" cy="25603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Kafka</a:t>
            </a:r>
            <a:endParaRPr lang="en-US" sz="1250" dirty="0"/>
          </a:p>
        </p:txBody>
      </p:sp>
      <p:sp>
        <p:nvSpPr>
          <p:cNvPr id="18" name="Text 13"/>
          <p:cNvSpPr/>
          <p:nvPr/>
        </p:nvSpPr>
        <p:spPr>
          <a:xfrm>
            <a:off x="3489960" y="3319272"/>
            <a:ext cx="2148840" cy="256032"/>
          </a:xfrm>
          <a:prstGeom prst="rect">
            <a:avLst/>
          </a:prstGeom>
          <a:noFill/>
          <a:ln/>
        </p:spPr>
        <p:txBody>
          <a:bodyPr wrap="square" rtlCol="0" anchor="ctr"/>
          <a:lstStyle/>
          <a:p>
            <a:pPr marL="0" indent="0" algn="ctr">
              <a:buNone/>
            </a:pPr>
            <a:r>
              <a:rPr lang="en-US" sz="900" dirty="0">
                <a:solidFill>
                  <a:srgbClr val="B8B8B8"/>
                </a:solidFill>
                <a:latin typeface="Calibri" pitchFamily="34" charset="0"/>
                <a:ea typeface="Calibri" pitchFamily="34" charset="-122"/>
                <a:cs typeface="Calibri" pitchFamily="34" charset="-120"/>
              </a:rPr>
              <a:t>taxi-trips topic</a:t>
            </a:r>
            <a:endParaRPr lang="en-US" sz="900" dirty="0"/>
          </a:p>
        </p:txBody>
      </p:sp>
      <p:sp>
        <p:nvSpPr>
          <p:cNvPr id="19" name="Shape 14"/>
          <p:cNvSpPr/>
          <p:nvPr/>
        </p:nvSpPr>
        <p:spPr>
          <a:xfrm>
            <a:off x="5730240" y="2971800"/>
            <a:ext cx="518160" cy="0"/>
          </a:xfrm>
          <a:prstGeom prst="line">
            <a:avLst/>
          </a:prstGeom>
          <a:noFill/>
          <a:ln w="28575">
            <a:solidFill>
              <a:srgbClr val="D7263D"/>
            </a:solidFill>
            <a:prstDash val="solid"/>
            <a:tailEnd type="triangle"/>
          </a:ln>
        </p:spPr>
        <p:txBody>
          <a:bodyPr/>
          <a:lstStyle/>
          <a:p>
            <a:endParaRPr/>
          </a:p>
        </p:txBody>
      </p:sp>
      <p:sp>
        <p:nvSpPr>
          <p:cNvPr id="20" name="Shape 15"/>
          <p:cNvSpPr/>
          <p:nvPr/>
        </p:nvSpPr>
        <p:spPr>
          <a:xfrm>
            <a:off x="6248400" y="2331720"/>
            <a:ext cx="2331720" cy="1280160"/>
          </a:xfrm>
          <a:prstGeom prst="roundRect">
            <a:avLst>
              <a:gd name="adj" fmla="val 6429"/>
            </a:avLst>
          </a:prstGeom>
          <a:solidFill>
            <a:srgbClr val="141414"/>
          </a:solidFill>
          <a:ln/>
        </p:spPr>
        <p:txBody>
          <a:bodyPr/>
          <a:lstStyle/>
          <a:p>
            <a:endParaRPr/>
          </a:p>
        </p:txBody>
      </p:sp>
      <p:sp>
        <p:nvSpPr>
          <p:cNvPr id="21" name="Shape 16"/>
          <p:cNvSpPr/>
          <p:nvPr/>
        </p:nvSpPr>
        <p:spPr>
          <a:xfrm>
            <a:off x="7149084" y="2478024"/>
            <a:ext cx="530352" cy="530352"/>
          </a:xfrm>
          <a:prstGeom prst="ellipse">
            <a:avLst/>
          </a:prstGeom>
          <a:solidFill>
            <a:srgbClr val="D7263D"/>
          </a:solidFill>
          <a:ln/>
        </p:spPr>
        <p:txBody>
          <a:bodyPr/>
          <a:lstStyle/>
          <a:p>
            <a:endParaRPr/>
          </a:p>
        </p:txBody>
      </p:sp>
      <p:pic>
        <p:nvPicPr>
          <p:cNvPr id="22" name="Image 3" descr="/home/claude/assets/FiCpu_black_r.png"/>
          <p:cNvPicPr>
            <a:picLocks noChangeAspect="1"/>
          </p:cNvPicPr>
          <p:nvPr/>
        </p:nvPicPr>
        <p:blipFill>
          <a:blip r:embed="rId6"/>
          <a:stretch>
            <a:fillRect/>
          </a:stretch>
        </p:blipFill>
        <p:spPr>
          <a:xfrm>
            <a:off x="7267956" y="2596896"/>
            <a:ext cx="292608" cy="292608"/>
          </a:xfrm>
          <a:prstGeom prst="rect">
            <a:avLst/>
          </a:prstGeom>
        </p:spPr>
      </p:pic>
      <p:sp>
        <p:nvSpPr>
          <p:cNvPr id="23" name="Text 17"/>
          <p:cNvSpPr/>
          <p:nvPr/>
        </p:nvSpPr>
        <p:spPr>
          <a:xfrm>
            <a:off x="6339840" y="3081528"/>
            <a:ext cx="2148840" cy="25603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Spark</a:t>
            </a:r>
            <a:endParaRPr lang="en-US" sz="1250" dirty="0"/>
          </a:p>
        </p:txBody>
      </p:sp>
      <p:sp>
        <p:nvSpPr>
          <p:cNvPr id="24" name="Text 18"/>
          <p:cNvSpPr/>
          <p:nvPr/>
        </p:nvSpPr>
        <p:spPr>
          <a:xfrm>
            <a:off x="6339840" y="3319272"/>
            <a:ext cx="2148840" cy="256032"/>
          </a:xfrm>
          <a:prstGeom prst="rect">
            <a:avLst/>
          </a:prstGeom>
          <a:noFill/>
          <a:ln/>
        </p:spPr>
        <p:txBody>
          <a:bodyPr wrap="square" rtlCol="0" anchor="ctr"/>
          <a:lstStyle/>
          <a:p>
            <a:pPr marL="0" indent="0" algn="ctr">
              <a:buNone/>
            </a:pPr>
            <a:r>
              <a:rPr lang="en-US" sz="900" dirty="0">
                <a:solidFill>
                  <a:srgbClr val="B8B8B8"/>
                </a:solidFill>
                <a:latin typeface="Calibri" pitchFamily="34" charset="0"/>
                <a:ea typeface="Calibri" pitchFamily="34" charset="-122"/>
                <a:cs typeface="Calibri" pitchFamily="34" charset="-120"/>
              </a:rPr>
              <a:t>Clean · validate · aggregate</a:t>
            </a:r>
            <a:endParaRPr lang="en-US" sz="900" dirty="0"/>
          </a:p>
        </p:txBody>
      </p:sp>
      <p:sp>
        <p:nvSpPr>
          <p:cNvPr id="25" name="Shape 19"/>
          <p:cNvSpPr/>
          <p:nvPr/>
        </p:nvSpPr>
        <p:spPr>
          <a:xfrm>
            <a:off x="8580120" y="2971800"/>
            <a:ext cx="518160" cy="0"/>
          </a:xfrm>
          <a:prstGeom prst="line">
            <a:avLst/>
          </a:prstGeom>
          <a:noFill/>
          <a:ln w="28575">
            <a:solidFill>
              <a:srgbClr val="D7263D"/>
            </a:solidFill>
            <a:prstDash val="solid"/>
            <a:tailEnd type="triangle"/>
          </a:ln>
        </p:spPr>
        <p:txBody>
          <a:bodyPr/>
          <a:lstStyle/>
          <a:p>
            <a:endParaRPr/>
          </a:p>
        </p:txBody>
      </p:sp>
      <p:sp>
        <p:nvSpPr>
          <p:cNvPr id="26" name="Shape 20"/>
          <p:cNvSpPr/>
          <p:nvPr/>
        </p:nvSpPr>
        <p:spPr>
          <a:xfrm>
            <a:off x="9098280" y="2331720"/>
            <a:ext cx="2331720" cy="1280160"/>
          </a:xfrm>
          <a:prstGeom prst="roundRect">
            <a:avLst>
              <a:gd name="adj" fmla="val 6429"/>
            </a:avLst>
          </a:prstGeom>
          <a:solidFill>
            <a:srgbClr val="141414"/>
          </a:solidFill>
          <a:ln/>
        </p:spPr>
        <p:txBody>
          <a:bodyPr/>
          <a:lstStyle/>
          <a:p>
            <a:endParaRPr/>
          </a:p>
        </p:txBody>
      </p:sp>
      <p:sp>
        <p:nvSpPr>
          <p:cNvPr id="27" name="Shape 21"/>
          <p:cNvSpPr/>
          <p:nvPr/>
        </p:nvSpPr>
        <p:spPr>
          <a:xfrm>
            <a:off x="9998964" y="2478024"/>
            <a:ext cx="530352" cy="530352"/>
          </a:xfrm>
          <a:prstGeom prst="ellipse">
            <a:avLst/>
          </a:prstGeom>
          <a:solidFill>
            <a:srgbClr val="D7263D"/>
          </a:solidFill>
          <a:ln/>
        </p:spPr>
        <p:txBody>
          <a:bodyPr/>
          <a:lstStyle/>
          <a:p>
            <a:endParaRPr/>
          </a:p>
        </p:txBody>
      </p:sp>
      <p:pic>
        <p:nvPicPr>
          <p:cNvPr id="28" name="Image 4" descr="/home/claude/assets/FiDatabase_black_r.png"/>
          <p:cNvPicPr>
            <a:picLocks noChangeAspect="1"/>
          </p:cNvPicPr>
          <p:nvPr/>
        </p:nvPicPr>
        <p:blipFill>
          <a:blip r:embed="rId7"/>
          <a:stretch>
            <a:fillRect/>
          </a:stretch>
        </p:blipFill>
        <p:spPr>
          <a:xfrm>
            <a:off x="10117836" y="2596896"/>
            <a:ext cx="292608" cy="292608"/>
          </a:xfrm>
          <a:prstGeom prst="rect">
            <a:avLst/>
          </a:prstGeom>
        </p:spPr>
      </p:pic>
      <p:sp>
        <p:nvSpPr>
          <p:cNvPr id="29" name="Text 22"/>
          <p:cNvSpPr/>
          <p:nvPr/>
        </p:nvSpPr>
        <p:spPr>
          <a:xfrm>
            <a:off x="9189720" y="3081528"/>
            <a:ext cx="2148840" cy="25603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ClickHouse</a:t>
            </a:r>
            <a:endParaRPr lang="en-US" sz="1250" dirty="0"/>
          </a:p>
        </p:txBody>
      </p:sp>
      <p:sp>
        <p:nvSpPr>
          <p:cNvPr id="30" name="Text 23"/>
          <p:cNvSpPr/>
          <p:nvPr/>
        </p:nvSpPr>
        <p:spPr>
          <a:xfrm>
            <a:off x="9189720" y="3319272"/>
            <a:ext cx="2148840" cy="256032"/>
          </a:xfrm>
          <a:prstGeom prst="rect">
            <a:avLst/>
          </a:prstGeom>
          <a:noFill/>
          <a:ln/>
        </p:spPr>
        <p:txBody>
          <a:bodyPr wrap="square" rtlCol="0" anchor="ctr"/>
          <a:lstStyle/>
          <a:p>
            <a:pPr marL="0" indent="0" algn="ctr">
              <a:buNone/>
            </a:pPr>
            <a:r>
              <a:rPr lang="en-US" sz="900" dirty="0">
                <a:solidFill>
                  <a:srgbClr val="B8B8B8"/>
                </a:solidFill>
                <a:latin typeface="Calibri" pitchFamily="34" charset="0"/>
                <a:ea typeface="Calibri" pitchFamily="34" charset="-122"/>
                <a:cs typeface="Calibri" pitchFamily="34" charset="-120"/>
              </a:rPr>
              <a:t>Trips table</a:t>
            </a:r>
            <a:endParaRPr lang="en-US" sz="900" dirty="0"/>
          </a:p>
        </p:txBody>
      </p:sp>
      <p:sp>
        <p:nvSpPr>
          <p:cNvPr id="31" name="Shape 24"/>
          <p:cNvSpPr/>
          <p:nvPr/>
        </p:nvSpPr>
        <p:spPr>
          <a:xfrm>
            <a:off x="5989320" y="1920240"/>
            <a:ext cx="0" cy="411480"/>
          </a:xfrm>
          <a:prstGeom prst="line">
            <a:avLst/>
          </a:prstGeom>
          <a:noFill/>
          <a:ln w="19050">
            <a:solidFill>
              <a:srgbClr val="D7263D"/>
            </a:solidFill>
            <a:prstDash val="dash"/>
          </a:ln>
        </p:spPr>
        <p:txBody>
          <a:bodyPr/>
          <a:lstStyle/>
          <a:p>
            <a:endParaRPr/>
          </a:p>
        </p:txBody>
      </p:sp>
      <p:sp>
        <p:nvSpPr>
          <p:cNvPr id="32" name="Shape 25"/>
          <p:cNvSpPr/>
          <p:nvPr/>
        </p:nvSpPr>
        <p:spPr>
          <a:xfrm>
            <a:off x="10264140" y="3611880"/>
            <a:ext cx="0" cy="320040"/>
          </a:xfrm>
          <a:prstGeom prst="line">
            <a:avLst/>
          </a:prstGeom>
          <a:noFill/>
          <a:ln w="22225">
            <a:solidFill>
              <a:srgbClr val="6B6B6B"/>
            </a:solidFill>
            <a:prstDash val="solid"/>
            <a:tailEnd type="triangle"/>
          </a:ln>
        </p:spPr>
        <p:txBody>
          <a:bodyPr/>
          <a:lstStyle/>
          <a:p>
            <a:endParaRPr/>
          </a:p>
        </p:txBody>
      </p:sp>
      <p:sp>
        <p:nvSpPr>
          <p:cNvPr id="33" name="Shape 26"/>
          <p:cNvSpPr/>
          <p:nvPr/>
        </p:nvSpPr>
        <p:spPr>
          <a:xfrm>
            <a:off x="7799832" y="3931920"/>
            <a:ext cx="3840480" cy="960120"/>
          </a:xfrm>
          <a:prstGeom prst="roundRect">
            <a:avLst>
              <a:gd name="adj" fmla="val 8571"/>
            </a:avLst>
          </a:prstGeom>
          <a:solidFill>
            <a:srgbClr val="FFFFFF"/>
          </a:solidFill>
          <a:ln w="12700">
            <a:solidFill>
              <a:srgbClr val="E2E2E2"/>
            </a:solidFill>
            <a:prstDash val="solid"/>
          </a:ln>
        </p:spPr>
        <p:txBody>
          <a:bodyPr/>
          <a:lstStyle/>
          <a:p>
            <a:endParaRPr/>
          </a:p>
        </p:txBody>
      </p:sp>
      <p:sp>
        <p:nvSpPr>
          <p:cNvPr id="36" name="Text 28"/>
          <p:cNvSpPr/>
          <p:nvPr/>
        </p:nvSpPr>
        <p:spPr>
          <a:xfrm>
            <a:off x="8695944" y="4059936"/>
            <a:ext cx="2788920" cy="274320"/>
          </a:xfrm>
          <a:prstGeom prst="rect">
            <a:avLst/>
          </a:prstGeom>
          <a:noFill/>
          <a:ln/>
        </p:spPr>
        <p:txBody>
          <a:bodyPr wrap="square"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AI Agent</a:t>
            </a:r>
            <a:endParaRPr lang="en-US" sz="1300" dirty="0"/>
          </a:p>
        </p:txBody>
      </p:sp>
      <p:sp>
        <p:nvSpPr>
          <p:cNvPr id="37" name="Text 29"/>
          <p:cNvSpPr/>
          <p:nvPr/>
        </p:nvSpPr>
        <p:spPr>
          <a:xfrm>
            <a:off x="8695944" y="4370832"/>
            <a:ext cx="2788920" cy="457200"/>
          </a:xfrm>
          <a:prstGeom prst="rect">
            <a:avLst/>
          </a:prstGeom>
          <a:noFill/>
          <a:ln/>
        </p:spPr>
        <p:txBody>
          <a:bodyPr wrap="square" rtlCol="0" anchor="ctr"/>
          <a:lstStyle/>
          <a:p>
            <a:pPr marL="0" indent="0">
              <a:lnSpc>
                <a:spcPct val="115000"/>
              </a:lnSpc>
              <a:buNone/>
            </a:pPr>
            <a:r>
              <a:rPr lang="en-US" sz="1000" dirty="0">
                <a:solidFill>
                  <a:srgbClr val="6B6B6B"/>
                </a:solidFill>
                <a:latin typeface="Calibri" pitchFamily="34" charset="0"/>
                <a:ea typeface="Calibri" pitchFamily="34" charset="-122"/>
                <a:cs typeface="Calibri" pitchFamily="34" charset="-120"/>
              </a:rPr>
              <a:t>Dashboards, KPIs &amp; zone insights</a:t>
            </a:r>
            <a:endParaRPr lang="en-US" sz="1000" dirty="0"/>
          </a:p>
        </p:txBody>
      </p:sp>
      <p:sp>
        <p:nvSpPr>
          <p:cNvPr id="38" name="Text 30"/>
          <p:cNvSpPr/>
          <p:nvPr/>
        </p:nvSpPr>
        <p:spPr>
          <a:xfrm>
            <a:off x="548640" y="5212080"/>
            <a:ext cx="10881360" cy="365760"/>
          </a:xfrm>
          <a:prstGeom prst="rect">
            <a:avLst/>
          </a:prstGeom>
          <a:noFill/>
          <a:ln/>
        </p:spPr>
        <p:txBody>
          <a:bodyPr wrap="square" rtlCol="0" anchor="ctr"/>
          <a:lstStyle/>
          <a:p>
            <a:pPr marL="0" indent="0" algn="ctr">
              <a:buNone/>
            </a:pPr>
            <a:r>
              <a:rPr lang="en-US" sz="1200" i="1" dirty="0">
                <a:solidFill>
                  <a:srgbClr val="6B6B6B"/>
                </a:solidFill>
                <a:latin typeface="Calibri" pitchFamily="34" charset="0"/>
                <a:ea typeface="Calibri" pitchFamily="34" charset="-122"/>
                <a:cs typeface="Calibri" pitchFamily="34" charset="-120"/>
              </a:rPr>
              <a:t>Seven stages — walked through one by one, next.</a:t>
            </a:r>
            <a:endParaRPr lang="en-US" sz="1200" dirty="0"/>
          </a:p>
        </p:txBody>
      </p:sp>
      <p:sp>
        <p:nvSpPr>
          <p:cNvPr id="39" name="Text 3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STEP 1 OF 6  —  SOURCE DATA</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marL="0" indent="0">
              <a:buNone/>
            </a:pPr>
            <a:r>
              <a:rPr lang="en-US" sz="3000" b="1" dirty="0">
                <a:solidFill>
                  <a:srgbClr val="141414"/>
                </a:solidFill>
                <a:latin typeface="Bookman Old Style" pitchFamily="34" charset="0"/>
                <a:ea typeface="Bookman Old Style" pitchFamily="34" charset="-122"/>
                <a:cs typeface="Bookman Old Style" pitchFamily="34" charset="-120"/>
              </a:rPr>
              <a:t>NYC TLC Yellow Taxi trip records</a:t>
            </a:r>
            <a:endParaRPr lang="en-US" sz="3000" dirty="0"/>
          </a:p>
        </p:txBody>
      </p:sp>
      <p:sp>
        <p:nvSpPr>
          <p:cNvPr id="4" name="Shape 2"/>
          <p:cNvSpPr/>
          <p:nvPr/>
        </p:nvSpPr>
        <p:spPr>
          <a:xfrm>
            <a:off x="9226296" y="530352"/>
            <a:ext cx="310896" cy="82296"/>
          </a:xfrm>
          <a:prstGeom prst="roundRect">
            <a:avLst>
              <a:gd name="adj" fmla="val 50000"/>
            </a:avLst>
          </a:prstGeom>
          <a:solidFill>
            <a:srgbClr val="D7263D"/>
          </a:solidFill>
          <a:ln/>
        </p:spPr>
        <p:txBody>
          <a:bodyPr/>
          <a:lstStyle/>
          <a:p>
            <a:endParaRPr/>
          </a:p>
        </p:txBody>
      </p:sp>
      <p:sp>
        <p:nvSpPr>
          <p:cNvPr id="5" name="Shape 3"/>
          <p:cNvSpPr/>
          <p:nvPr/>
        </p:nvSpPr>
        <p:spPr>
          <a:xfrm>
            <a:off x="9646920" y="530352"/>
            <a:ext cx="310896" cy="82296"/>
          </a:xfrm>
          <a:prstGeom prst="roundRect">
            <a:avLst>
              <a:gd name="adj" fmla="val 50000"/>
            </a:avLst>
          </a:prstGeom>
          <a:solidFill>
            <a:srgbClr val="E2E2E2"/>
          </a:solidFill>
          <a:ln/>
        </p:spPr>
        <p:txBody>
          <a:bodyPr/>
          <a:lstStyle/>
          <a:p>
            <a:endParaRPr/>
          </a:p>
        </p:txBody>
      </p:sp>
      <p:sp>
        <p:nvSpPr>
          <p:cNvPr id="6" name="Shape 4"/>
          <p:cNvSpPr/>
          <p:nvPr/>
        </p:nvSpPr>
        <p:spPr>
          <a:xfrm>
            <a:off x="10067544" y="530352"/>
            <a:ext cx="310896" cy="82296"/>
          </a:xfrm>
          <a:prstGeom prst="roundRect">
            <a:avLst>
              <a:gd name="adj" fmla="val 50000"/>
            </a:avLst>
          </a:prstGeom>
          <a:solidFill>
            <a:srgbClr val="E2E2E2"/>
          </a:solidFill>
          <a:ln/>
        </p:spPr>
        <p:txBody>
          <a:bodyPr/>
          <a:lstStyle/>
          <a:p>
            <a:endParaRPr/>
          </a:p>
        </p:txBody>
      </p:sp>
      <p:sp>
        <p:nvSpPr>
          <p:cNvPr id="7" name="Shape 5"/>
          <p:cNvSpPr/>
          <p:nvPr/>
        </p:nvSpPr>
        <p:spPr>
          <a:xfrm>
            <a:off x="10488168" y="530352"/>
            <a:ext cx="310896" cy="82296"/>
          </a:xfrm>
          <a:prstGeom prst="roundRect">
            <a:avLst>
              <a:gd name="adj" fmla="val 50000"/>
            </a:avLst>
          </a:prstGeom>
          <a:solidFill>
            <a:srgbClr val="E2E2E2"/>
          </a:solidFill>
          <a:ln/>
        </p:spPr>
        <p:txBody>
          <a:bodyPr/>
          <a:lstStyle/>
          <a:p>
            <a:endParaRPr/>
          </a:p>
        </p:txBody>
      </p:sp>
      <p:sp>
        <p:nvSpPr>
          <p:cNvPr id="8" name="Shape 6"/>
          <p:cNvSpPr/>
          <p:nvPr/>
        </p:nvSpPr>
        <p:spPr>
          <a:xfrm>
            <a:off x="10908792" y="530352"/>
            <a:ext cx="310896" cy="82296"/>
          </a:xfrm>
          <a:prstGeom prst="roundRect">
            <a:avLst>
              <a:gd name="adj" fmla="val 50000"/>
            </a:avLst>
          </a:prstGeom>
          <a:solidFill>
            <a:srgbClr val="E2E2E2"/>
          </a:solidFill>
          <a:ln/>
        </p:spPr>
        <p:txBody>
          <a:bodyPr/>
          <a:lstStyle/>
          <a:p>
            <a:endParaRPr/>
          </a:p>
        </p:txBody>
      </p:sp>
      <p:sp>
        <p:nvSpPr>
          <p:cNvPr id="9" name="Shape 7"/>
          <p:cNvSpPr/>
          <p:nvPr/>
        </p:nvSpPr>
        <p:spPr>
          <a:xfrm>
            <a:off x="11329416" y="530352"/>
            <a:ext cx="310896" cy="82296"/>
          </a:xfrm>
          <a:prstGeom prst="roundRect">
            <a:avLst>
              <a:gd name="adj" fmla="val 50000"/>
            </a:avLst>
          </a:prstGeom>
          <a:solidFill>
            <a:srgbClr val="E2E2E2"/>
          </a:solidFill>
          <a:ln/>
        </p:spPr>
        <p:txBody>
          <a:bodyPr/>
          <a:lstStyle/>
          <a:p>
            <a:endParaRPr/>
          </a:p>
        </p:txBody>
      </p:sp>
      <p:sp>
        <p:nvSpPr>
          <p:cNvPr id="10" name="Text 8"/>
          <p:cNvSpPr/>
          <p:nvPr/>
        </p:nvSpPr>
        <p:spPr>
          <a:xfrm>
            <a:off x="548640" y="1417320"/>
            <a:ext cx="10881360" cy="640080"/>
          </a:xfrm>
          <a:prstGeom prst="rect">
            <a:avLst/>
          </a:prstGeom>
          <a:noFill/>
          <a:ln/>
        </p:spPr>
        <p:txBody>
          <a:bodyPr wrap="square" rtlCol="0" anchor="ctr"/>
          <a:lstStyle/>
          <a:p>
            <a:pPr marL="0" indent="0">
              <a:lnSpc>
                <a:spcPct val="125000"/>
              </a:lnSpc>
              <a:buNone/>
            </a:pPr>
            <a:r>
              <a:rPr lang="en-US" sz="1300" dirty="0">
                <a:solidFill>
                  <a:srgbClr val="3A3A3A"/>
                </a:solidFill>
                <a:latin typeface="Calibri" pitchFamily="34" charset="0"/>
                <a:ea typeface="Calibri" pitchFamily="34" charset="-122"/>
                <a:cs typeface="Calibri" pitchFamily="34" charset="-120"/>
              </a:rPr>
              <a:t>Sourced from the official NYC Taxi &amp; Limousine Commission archive (nyc.gov/tlc) — monthly Parquet files covering every yellow-cab trip in 2025, streamed sequentially to simulate a live production feed.</a:t>
            </a:r>
            <a:endParaRPr lang="en-US" sz="1300" dirty="0"/>
          </a:p>
        </p:txBody>
      </p:sp>
      <p:sp>
        <p:nvSpPr>
          <p:cNvPr id="11" name="Shape 9"/>
          <p:cNvSpPr/>
          <p:nvPr/>
        </p:nvSpPr>
        <p:spPr>
          <a:xfrm>
            <a:off x="548640" y="2331720"/>
            <a:ext cx="2514600" cy="1417320"/>
          </a:xfrm>
          <a:prstGeom prst="roundRect">
            <a:avLst>
              <a:gd name="adj" fmla="val 5161"/>
            </a:avLst>
          </a:prstGeom>
          <a:solidFill>
            <a:srgbClr val="141414"/>
          </a:solidFill>
          <a:ln/>
        </p:spPr>
        <p:txBody>
          <a:bodyPr/>
          <a:lstStyle/>
          <a:p>
            <a:endParaRPr/>
          </a:p>
        </p:txBody>
      </p:sp>
      <p:sp>
        <p:nvSpPr>
          <p:cNvPr id="12" name="Text 10"/>
          <p:cNvSpPr/>
          <p:nvPr/>
        </p:nvSpPr>
        <p:spPr>
          <a:xfrm>
            <a:off x="713232" y="2496312"/>
            <a:ext cx="2185416" cy="685800"/>
          </a:xfrm>
          <a:prstGeom prst="rect">
            <a:avLst/>
          </a:prstGeom>
          <a:noFill/>
          <a:ln/>
        </p:spPr>
        <p:txBody>
          <a:bodyPr wrap="square" rtlCol="0" anchor="ctr"/>
          <a:lstStyle/>
          <a:p>
            <a:pPr marL="0" indent="0">
              <a:buNone/>
            </a:pPr>
            <a:r>
              <a:rPr lang="en-US" sz="3000" b="1" dirty="0">
                <a:solidFill>
                  <a:srgbClr val="D7263D"/>
                </a:solidFill>
                <a:latin typeface="Bookman Old Style" pitchFamily="34" charset="0"/>
                <a:ea typeface="Bookman Old Style" pitchFamily="34" charset="-122"/>
                <a:cs typeface="Bookman Old Style" pitchFamily="34" charset="-120"/>
              </a:rPr>
              <a:t>35+ MILLION</a:t>
            </a:r>
            <a:endParaRPr lang="en-US" sz="3000" dirty="0"/>
          </a:p>
        </p:txBody>
      </p:sp>
      <p:sp>
        <p:nvSpPr>
          <p:cNvPr id="13" name="Text 11"/>
          <p:cNvSpPr/>
          <p:nvPr/>
        </p:nvSpPr>
        <p:spPr>
          <a:xfrm>
            <a:off x="713232" y="3200400"/>
            <a:ext cx="2185416" cy="457200"/>
          </a:xfrm>
          <a:prstGeom prst="rect">
            <a:avLst/>
          </a:prstGeom>
          <a:noFill/>
          <a:ln/>
        </p:spPr>
        <p:txBody>
          <a:bodyPr wrap="square" rtlCol="0" anchor="ctr"/>
          <a:lstStyle/>
          <a:p>
            <a:pPr marL="0" indent="0">
              <a:buNone/>
            </a:pPr>
            <a:r>
              <a:rPr lang="en-US" sz="1000" kern="0" spc="50" dirty="0">
                <a:solidFill>
                  <a:srgbClr val="D8D8D8"/>
                </a:solidFill>
                <a:latin typeface="Calibri" pitchFamily="34" charset="0"/>
                <a:ea typeface="Calibri" pitchFamily="34" charset="-122"/>
                <a:cs typeface="Calibri" pitchFamily="34" charset="-120"/>
              </a:rPr>
              <a:t>TRIP RECORDS (FULL 2025)</a:t>
            </a:r>
            <a:endParaRPr lang="en-US" sz="1000" dirty="0"/>
          </a:p>
        </p:txBody>
      </p:sp>
      <p:sp>
        <p:nvSpPr>
          <p:cNvPr id="14" name="Shape 12"/>
          <p:cNvSpPr/>
          <p:nvPr/>
        </p:nvSpPr>
        <p:spPr>
          <a:xfrm>
            <a:off x="3264408" y="2331720"/>
            <a:ext cx="2514600" cy="1417320"/>
          </a:xfrm>
          <a:prstGeom prst="roundRect">
            <a:avLst>
              <a:gd name="adj" fmla="val 5161"/>
            </a:avLst>
          </a:prstGeom>
          <a:solidFill>
            <a:srgbClr val="141414"/>
          </a:solidFill>
          <a:ln/>
        </p:spPr>
        <p:txBody>
          <a:bodyPr/>
          <a:lstStyle/>
          <a:p>
            <a:endParaRPr/>
          </a:p>
        </p:txBody>
      </p:sp>
      <p:sp>
        <p:nvSpPr>
          <p:cNvPr id="15" name="Text 13"/>
          <p:cNvSpPr/>
          <p:nvPr/>
        </p:nvSpPr>
        <p:spPr>
          <a:xfrm>
            <a:off x="3429000" y="2496312"/>
            <a:ext cx="2185416" cy="685800"/>
          </a:xfrm>
          <a:prstGeom prst="rect">
            <a:avLst/>
          </a:prstGeom>
          <a:noFill/>
          <a:ln/>
        </p:spPr>
        <p:txBody>
          <a:bodyPr wrap="square" rtlCol="0" anchor="ctr"/>
          <a:lstStyle/>
          <a:p>
            <a:pPr marL="0" indent="0">
              <a:buNone/>
            </a:pPr>
            <a:r>
              <a:rPr lang="en-US" sz="3000" b="1" dirty="0">
                <a:solidFill>
                  <a:srgbClr val="D7263D"/>
                </a:solidFill>
                <a:latin typeface="Bookman Old Style" pitchFamily="34" charset="0"/>
                <a:ea typeface="Bookman Old Style" pitchFamily="34" charset="-122"/>
                <a:cs typeface="Bookman Old Style" pitchFamily="34" charset="-120"/>
              </a:rPr>
              <a:t>20</a:t>
            </a:r>
            <a:endParaRPr lang="en-US" sz="3000" dirty="0"/>
          </a:p>
        </p:txBody>
      </p:sp>
      <p:sp>
        <p:nvSpPr>
          <p:cNvPr id="16" name="Text 14"/>
          <p:cNvSpPr/>
          <p:nvPr/>
        </p:nvSpPr>
        <p:spPr>
          <a:xfrm>
            <a:off x="3429000" y="3200400"/>
            <a:ext cx="2185416" cy="457200"/>
          </a:xfrm>
          <a:prstGeom prst="rect">
            <a:avLst/>
          </a:prstGeom>
          <a:noFill/>
          <a:ln/>
        </p:spPr>
        <p:txBody>
          <a:bodyPr wrap="square" rtlCol="0" anchor="ctr"/>
          <a:lstStyle/>
          <a:p>
            <a:pPr marL="0" indent="0">
              <a:buNone/>
            </a:pPr>
            <a:r>
              <a:rPr lang="en-US" sz="1000" kern="0" spc="50" dirty="0">
                <a:solidFill>
                  <a:srgbClr val="D8D8D8"/>
                </a:solidFill>
                <a:latin typeface="Calibri" pitchFamily="34" charset="0"/>
                <a:ea typeface="Calibri" pitchFamily="34" charset="-122"/>
                <a:cs typeface="Calibri" pitchFamily="34" charset="-120"/>
              </a:rPr>
              <a:t>RAW SOURCE FIELDS</a:t>
            </a:r>
            <a:endParaRPr lang="en-US" sz="1000" dirty="0"/>
          </a:p>
        </p:txBody>
      </p:sp>
      <p:sp>
        <p:nvSpPr>
          <p:cNvPr id="17" name="Shape 15"/>
          <p:cNvSpPr/>
          <p:nvPr/>
        </p:nvSpPr>
        <p:spPr>
          <a:xfrm>
            <a:off x="548640" y="3950208"/>
            <a:ext cx="2514600" cy="1417320"/>
          </a:xfrm>
          <a:prstGeom prst="roundRect">
            <a:avLst>
              <a:gd name="adj" fmla="val 5161"/>
            </a:avLst>
          </a:prstGeom>
          <a:solidFill>
            <a:srgbClr val="141414"/>
          </a:solidFill>
          <a:ln/>
        </p:spPr>
        <p:txBody>
          <a:bodyPr/>
          <a:lstStyle/>
          <a:p>
            <a:endParaRPr/>
          </a:p>
        </p:txBody>
      </p:sp>
      <p:sp>
        <p:nvSpPr>
          <p:cNvPr id="18" name="Text 16"/>
          <p:cNvSpPr/>
          <p:nvPr/>
        </p:nvSpPr>
        <p:spPr>
          <a:xfrm>
            <a:off x="713232" y="4114800"/>
            <a:ext cx="2185416" cy="685800"/>
          </a:xfrm>
          <a:prstGeom prst="rect">
            <a:avLst/>
          </a:prstGeom>
          <a:noFill/>
          <a:ln/>
        </p:spPr>
        <p:txBody>
          <a:bodyPr wrap="square" rtlCol="0" anchor="ctr"/>
          <a:lstStyle/>
          <a:p>
            <a:pPr marL="0" indent="0">
              <a:buNone/>
            </a:pPr>
            <a:r>
              <a:rPr lang="en-US" sz="3000" b="1" dirty="0">
                <a:solidFill>
                  <a:srgbClr val="D7263D"/>
                </a:solidFill>
                <a:latin typeface="Bookman Old Style" pitchFamily="34" charset="0"/>
                <a:ea typeface="Bookman Old Style" pitchFamily="34" charset="-122"/>
                <a:cs typeface="Bookman Old Style" pitchFamily="34" charset="-120"/>
              </a:rPr>
              <a:t>172</a:t>
            </a:r>
            <a:endParaRPr lang="en-US" sz="3000" dirty="0"/>
          </a:p>
        </p:txBody>
      </p:sp>
      <p:sp>
        <p:nvSpPr>
          <p:cNvPr id="19" name="Text 17"/>
          <p:cNvSpPr/>
          <p:nvPr/>
        </p:nvSpPr>
        <p:spPr>
          <a:xfrm>
            <a:off x="713232" y="4818888"/>
            <a:ext cx="2185416" cy="457200"/>
          </a:xfrm>
          <a:prstGeom prst="rect">
            <a:avLst/>
          </a:prstGeom>
          <a:noFill/>
          <a:ln/>
        </p:spPr>
        <p:txBody>
          <a:bodyPr wrap="square" rtlCol="0" anchor="ctr"/>
          <a:lstStyle/>
          <a:p>
            <a:pPr marL="0" indent="0">
              <a:buNone/>
            </a:pPr>
            <a:r>
              <a:rPr lang="en-US" sz="1000" kern="0" spc="50" dirty="0">
                <a:solidFill>
                  <a:srgbClr val="D8D8D8"/>
                </a:solidFill>
                <a:latin typeface="Calibri" pitchFamily="34" charset="0"/>
                <a:ea typeface="Calibri" pitchFamily="34" charset="-122"/>
                <a:cs typeface="Calibri" pitchFamily="34" charset="-120"/>
              </a:rPr>
              <a:t>DISTINCT PICKUP ZONES</a:t>
            </a:r>
            <a:endParaRPr lang="en-US" sz="1000" dirty="0"/>
          </a:p>
        </p:txBody>
      </p:sp>
      <p:sp>
        <p:nvSpPr>
          <p:cNvPr id="20" name="Shape 18"/>
          <p:cNvSpPr/>
          <p:nvPr/>
        </p:nvSpPr>
        <p:spPr>
          <a:xfrm>
            <a:off x="3264408" y="3950208"/>
            <a:ext cx="2514600" cy="1417320"/>
          </a:xfrm>
          <a:prstGeom prst="roundRect">
            <a:avLst>
              <a:gd name="adj" fmla="val 5161"/>
            </a:avLst>
          </a:prstGeom>
          <a:solidFill>
            <a:srgbClr val="141414"/>
          </a:solidFill>
          <a:ln/>
        </p:spPr>
        <p:txBody>
          <a:bodyPr/>
          <a:lstStyle/>
          <a:p>
            <a:endParaRPr/>
          </a:p>
        </p:txBody>
      </p:sp>
      <p:sp>
        <p:nvSpPr>
          <p:cNvPr id="21" name="Text 19"/>
          <p:cNvSpPr/>
          <p:nvPr/>
        </p:nvSpPr>
        <p:spPr>
          <a:xfrm>
            <a:off x="3429000" y="4114800"/>
            <a:ext cx="2185416" cy="685800"/>
          </a:xfrm>
          <a:prstGeom prst="rect">
            <a:avLst/>
          </a:prstGeom>
          <a:noFill/>
          <a:ln/>
        </p:spPr>
        <p:txBody>
          <a:bodyPr wrap="square" rtlCol="0" anchor="ctr"/>
          <a:lstStyle/>
          <a:p>
            <a:pPr marL="0" indent="0">
              <a:buNone/>
            </a:pPr>
            <a:r>
              <a:rPr lang="en-US" sz="3000" b="1" dirty="0">
                <a:solidFill>
                  <a:srgbClr val="D7263D"/>
                </a:solidFill>
                <a:latin typeface="Bookman Old Style" pitchFamily="34" charset="0"/>
                <a:ea typeface="Bookman Old Style" pitchFamily="34" charset="-122"/>
                <a:cs typeface="Bookman Old Style" pitchFamily="34" charset="-120"/>
              </a:rPr>
              <a:t>3.1 mi</a:t>
            </a:r>
            <a:endParaRPr lang="en-US" sz="3000" dirty="0"/>
          </a:p>
        </p:txBody>
      </p:sp>
      <p:sp>
        <p:nvSpPr>
          <p:cNvPr id="22" name="Text 20"/>
          <p:cNvSpPr/>
          <p:nvPr/>
        </p:nvSpPr>
        <p:spPr>
          <a:xfrm>
            <a:off x="3429000" y="4818888"/>
            <a:ext cx="2185416" cy="457200"/>
          </a:xfrm>
          <a:prstGeom prst="rect">
            <a:avLst/>
          </a:prstGeom>
          <a:noFill/>
          <a:ln/>
        </p:spPr>
        <p:txBody>
          <a:bodyPr wrap="square" rtlCol="0" anchor="ctr"/>
          <a:lstStyle/>
          <a:p>
            <a:pPr marL="0" indent="0">
              <a:buNone/>
            </a:pPr>
            <a:r>
              <a:rPr lang="en-US" sz="1000" kern="0" spc="50" dirty="0">
                <a:solidFill>
                  <a:srgbClr val="D8D8D8"/>
                </a:solidFill>
                <a:latin typeface="Calibri" pitchFamily="34" charset="0"/>
                <a:ea typeface="Calibri" pitchFamily="34" charset="-122"/>
                <a:cs typeface="Calibri" pitchFamily="34" charset="-120"/>
              </a:rPr>
              <a:t>AVERAGE TRIP DISTANCE</a:t>
            </a:r>
            <a:endParaRPr lang="en-US" sz="1000" dirty="0"/>
          </a:p>
        </p:txBody>
      </p:sp>
      <p:sp>
        <p:nvSpPr>
          <p:cNvPr id="23" name="Shape 21"/>
          <p:cNvSpPr/>
          <p:nvPr/>
        </p:nvSpPr>
        <p:spPr>
          <a:xfrm>
            <a:off x="6355080" y="2331720"/>
            <a:ext cx="5285232" cy="3246120"/>
          </a:xfrm>
          <a:prstGeom prst="roundRect">
            <a:avLst>
              <a:gd name="adj" fmla="val 2254"/>
            </a:avLst>
          </a:prstGeom>
          <a:solidFill>
            <a:srgbClr val="FFFFFF"/>
          </a:solidFill>
          <a:ln w="12700">
            <a:solidFill>
              <a:srgbClr val="E2E2E2"/>
            </a:solidFill>
            <a:prstDash val="solid"/>
          </a:ln>
        </p:spPr>
        <p:txBody>
          <a:bodyPr/>
          <a:lstStyle/>
          <a:p>
            <a:endParaRPr/>
          </a:p>
        </p:txBody>
      </p:sp>
      <p:sp>
        <p:nvSpPr>
          <p:cNvPr id="24" name="Text 22"/>
          <p:cNvSpPr/>
          <p:nvPr/>
        </p:nvSpPr>
        <p:spPr>
          <a:xfrm>
            <a:off x="6583680" y="2514600"/>
            <a:ext cx="4828032" cy="320040"/>
          </a:xfrm>
          <a:prstGeom prst="rect">
            <a:avLst/>
          </a:prstGeom>
          <a:noFill/>
          <a:ln/>
        </p:spPr>
        <p:txBody>
          <a:bodyPr wrap="square"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ClickHouse target schema — taxi_trips</a:t>
            </a:r>
            <a:endParaRPr lang="en-US" sz="1300" dirty="0"/>
          </a:p>
        </p:txBody>
      </p:sp>
      <p:sp>
        <p:nvSpPr>
          <p:cNvPr id="25" name="Text 23"/>
          <p:cNvSpPr/>
          <p:nvPr/>
        </p:nvSpPr>
        <p:spPr>
          <a:xfrm>
            <a:off x="6583680" y="2990088"/>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pickup_datetime</a:t>
            </a:r>
            <a:endParaRPr lang="en-US" sz="1100" dirty="0"/>
          </a:p>
        </p:txBody>
      </p:sp>
      <p:sp>
        <p:nvSpPr>
          <p:cNvPr id="26" name="Text 24"/>
          <p:cNvSpPr/>
          <p:nvPr/>
        </p:nvSpPr>
        <p:spPr>
          <a:xfrm>
            <a:off x="9811512" y="2990088"/>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DateTime</a:t>
            </a:r>
            <a:endParaRPr lang="en-US" sz="1100" dirty="0"/>
          </a:p>
        </p:txBody>
      </p:sp>
      <p:sp>
        <p:nvSpPr>
          <p:cNvPr id="27" name="Shape 25"/>
          <p:cNvSpPr/>
          <p:nvPr/>
        </p:nvSpPr>
        <p:spPr>
          <a:xfrm>
            <a:off x="6583680" y="3244291"/>
            <a:ext cx="4828032" cy="0"/>
          </a:xfrm>
          <a:prstGeom prst="line">
            <a:avLst/>
          </a:prstGeom>
          <a:noFill/>
          <a:ln w="12700">
            <a:solidFill>
              <a:srgbClr val="EFEFEF"/>
            </a:solidFill>
            <a:prstDash val="solid"/>
          </a:ln>
        </p:spPr>
        <p:txBody>
          <a:bodyPr/>
          <a:lstStyle/>
          <a:p>
            <a:endParaRPr/>
          </a:p>
        </p:txBody>
      </p:sp>
      <p:sp>
        <p:nvSpPr>
          <p:cNvPr id="28" name="Text 26"/>
          <p:cNvSpPr/>
          <p:nvPr/>
        </p:nvSpPr>
        <p:spPr>
          <a:xfrm>
            <a:off x="6583680" y="3280867"/>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dropoff_datetime</a:t>
            </a:r>
            <a:endParaRPr lang="en-US" sz="1100" dirty="0"/>
          </a:p>
        </p:txBody>
      </p:sp>
      <p:sp>
        <p:nvSpPr>
          <p:cNvPr id="29" name="Text 27"/>
          <p:cNvSpPr/>
          <p:nvPr/>
        </p:nvSpPr>
        <p:spPr>
          <a:xfrm>
            <a:off x="9811512" y="3280867"/>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DateTime</a:t>
            </a:r>
            <a:endParaRPr lang="en-US" sz="1100" dirty="0"/>
          </a:p>
        </p:txBody>
      </p:sp>
      <p:sp>
        <p:nvSpPr>
          <p:cNvPr id="30" name="Shape 28"/>
          <p:cNvSpPr/>
          <p:nvPr/>
        </p:nvSpPr>
        <p:spPr>
          <a:xfrm>
            <a:off x="6583680" y="3535070"/>
            <a:ext cx="4828032" cy="0"/>
          </a:xfrm>
          <a:prstGeom prst="line">
            <a:avLst/>
          </a:prstGeom>
          <a:noFill/>
          <a:ln w="12700">
            <a:solidFill>
              <a:srgbClr val="EFEFEF"/>
            </a:solidFill>
            <a:prstDash val="solid"/>
          </a:ln>
        </p:spPr>
        <p:txBody>
          <a:bodyPr/>
          <a:lstStyle/>
          <a:p>
            <a:endParaRPr/>
          </a:p>
        </p:txBody>
      </p:sp>
      <p:sp>
        <p:nvSpPr>
          <p:cNvPr id="31" name="Text 29"/>
          <p:cNvSpPr/>
          <p:nvPr/>
        </p:nvSpPr>
        <p:spPr>
          <a:xfrm>
            <a:off x="6583680" y="3571646"/>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passenger_count</a:t>
            </a:r>
            <a:endParaRPr lang="en-US" sz="1100" dirty="0"/>
          </a:p>
        </p:txBody>
      </p:sp>
      <p:sp>
        <p:nvSpPr>
          <p:cNvPr id="32" name="Text 30"/>
          <p:cNvSpPr/>
          <p:nvPr/>
        </p:nvSpPr>
        <p:spPr>
          <a:xfrm>
            <a:off x="9811512" y="3571646"/>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33" name="Shape 31"/>
          <p:cNvSpPr/>
          <p:nvPr/>
        </p:nvSpPr>
        <p:spPr>
          <a:xfrm>
            <a:off x="6583680" y="3825850"/>
            <a:ext cx="4828032" cy="0"/>
          </a:xfrm>
          <a:prstGeom prst="line">
            <a:avLst/>
          </a:prstGeom>
          <a:noFill/>
          <a:ln w="12700">
            <a:solidFill>
              <a:srgbClr val="EFEFEF"/>
            </a:solidFill>
            <a:prstDash val="solid"/>
          </a:ln>
        </p:spPr>
        <p:txBody>
          <a:bodyPr/>
          <a:lstStyle/>
          <a:p>
            <a:endParaRPr/>
          </a:p>
        </p:txBody>
      </p:sp>
      <p:sp>
        <p:nvSpPr>
          <p:cNvPr id="34" name="Text 32"/>
          <p:cNvSpPr/>
          <p:nvPr/>
        </p:nvSpPr>
        <p:spPr>
          <a:xfrm>
            <a:off x="6583680" y="3862426"/>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trip_distance</a:t>
            </a:r>
            <a:endParaRPr lang="en-US" sz="1100" dirty="0"/>
          </a:p>
        </p:txBody>
      </p:sp>
      <p:sp>
        <p:nvSpPr>
          <p:cNvPr id="35" name="Text 33"/>
          <p:cNvSpPr/>
          <p:nvPr/>
        </p:nvSpPr>
        <p:spPr>
          <a:xfrm>
            <a:off x="9811512" y="3862426"/>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36" name="Shape 34"/>
          <p:cNvSpPr/>
          <p:nvPr/>
        </p:nvSpPr>
        <p:spPr>
          <a:xfrm>
            <a:off x="6583680" y="4116629"/>
            <a:ext cx="4828032" cy="0"/>
          </a:xfrm>
          <a:prstGeom prst="line">
            <a:avLst/>
          </a:prstGeom>
          <a:noFill/>
          <a:ln w="12700">
            <a:solidFill>
              <a:srgbClr val="EFEFEF"/>
            </a:solidFill>
            <a:prstDash val="solid"/>
          </a:ln>
        </p:spPr>
        <p:txBody>
          <a:bodyPr/>
          <a:lstStyle/>
          <a:p>
            <a:endParaRPr/>
          </a:p>
        </p:txBody>
      </p:sp>
      <p:sp>
        <p:nvSpPr>
          <p:cNvPr id="37" name="Text 35"/>
          <p:cNvSpPr/>
          <p:nvPr/>
        </p:nvSpPr>
        <p:spPr>
          <a:xfrm>
            <a:off x="6583680" y="4153205"/>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pickup_location_id</a:t>
            </a:r>
            <a:endParaRPr lang="en-US" sz="1100" dirty="0"/>
          </a:p>
        </p:txBody>
      </p:sp>
      <p:sp>
        <p:nvSpPr>
          <p:cNvPr id="38" name="Text 36"/>
          <p:cNvSpPr/>
          <p:nvPr/>
        </p:nvSpPr>
        <p:spPr>
          <a:xfrm>
            <a:off x="9811512" y="4153205"/>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39" name="Shape 37"/>
          <p:cNvSpPr/>
          <p:nvPr/>
        </p:nvSpPr>
        <p:spPr>
          <a:xfrm>
            <a:off x="6583680" y="4407408"/>
            <a:ext cx="4828032" cy="0"/>
          </a:xfrm>
          <a:prstGeom prst="line">
            <a:avLst/>
          </a:prstGeom>
          <a:noFill/>
          <a:ln w="12700">
            <a:solidFill>
              <a:srgbClr val="EFEFEF"/>
            </a:solidFill>
            <a:prstDash val="solid"/>
          </a:ln>
        </p:spPr>
        <p:txBody>
          <a:bodyPr/>
          <a:lstStyle/>
          <a:p>
            <a:endParaRPr/>
          </a:p>
        </p:txBody>
      </p:sp>
      <p:sp>
        <p:nvSpPr>
          <p:cNvPr id="40" name="Text 38"/>
          <p:cNvSpPr/>
          <p:nvPr/>
        </p:nvSpPr>
        <p:spPr>
          <a:xfrm>
            <a:off x="6583680" y="4443984"/>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dropoff_location_id</a:t>
            </a:r>
            <a:endParaRPr lang="en-US" sz="1100" dirty="0"/>
          </a:p>
        </p:txBody>
      </p:sp>
      <p:sp>
        <p:nvSpPr>
          <p:cNvPr id="41" name="Text 39"/>
          <p:cNvSpPr/>
          <p:nvPr/>
        </p:nvSpPr>
        <p:spPr>
          <a:xfrm>
            <a:off x="9811512" y="4443984"/>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Int32</a:t>
            </a:r>
            <a:endParaRPr lang="en-US" sz="1100" dirty="0"/>
          </a:p>
        </p:txBody>
      </p:sp>
      <p:sp>
        <p:nvSpPr>
          <p:cNvPr id="42" name="Shape 40"/>
          <p:cNvSpPr/>
          <p:nvPr/>
        </p:nvSpPr>
        <p:spPr>
          <a:xfrm>
            <a:off x="6583680" y="4698187"/>
            <a:ext cx="4828032" cy="0"/>
          </a:xfrm>
          <a:prstGeom prst="line">
            <a:avLst/>
          </a:prstGeom>
          <a:noFill/>
          <a:ln w="12700">
            <a:solidFill>
              <a:srgbClr val="EFEFEF"/>
            </a:solidFill>
            <a:prstDash val="solid"/>
          </a:ln>
        </p:spPr>
        <p:txBody>
          <a:bodyPr/>
          <a:lstStyle/>
          <a:p>
            <a:endParaRPr/>
          </a:p>
        </p:txBody>
      </p:sp>
      <p:sp>
        <p:nvSpPr>
          <p:cNvPr id="43" name="Text 41"/>
          <p:cNvSpPr/>
          <p:nvPr/>
        </p:nvSpPr>
        <p:spPr>
          <a:xfrm>
            <a:off x="6583680" y="4734763"/>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fare_amount / tip_amount</a:t>
            </a:r>
            <a:endParaRPr lang="en-US" sz="1100" dirty="0"/>
          </a:p>
        </p:txBody>
      </p:sp>
      <p:sp>
        <p:nvSpPr>
          <p:cNvPr id="44" name="Text 42"/>
          <p:cNvSpPr/>
          <p:nvPr/>
        </p:nvSpPr>
        <p:spPr>
          <a:xfrm>
            <a:off x="9811512" y="4734763"/>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45" name="Shape 43"/>
          <p:cNvSpPr/>
          <p:nvPr/>
        </p:nvSpPr>
        <p:spPr>
          <a:xfrm>
            <a:off x="6583680" y="4988966"/>
            <a:ext cx="4828032" cy="0"/>
          </a:xfrm>
          <a:prstGeom prst="line">
            <a:avLst/>
          </a:prstGeom>
          <a:noFill/>
          <a:ln w="12700">
            <a:solidFill>
              <a:srgbClr val="EFEFEF"/>
            </a:solidFill>
            <a:prstDash val="solid"/>
          </a:ln>
        </p:spPr>
        <p:txBody>
          <a:bodyPr/>
          <a:lstStyle/>
          <a:p>
            <a:endParaRPr/>
          </a:p>
        </p:txBody>
      </p:sp>
      <p:sp>
        <p:nvSpPr>
          <p:cNvPr id="46" name="Text 44"/>
          <p:cNvSpPr/>
          <p:nvPr/>
        </p:nvSpPr>
        <p:spPr>
          <a:xfrm>
            <a:off x="6583680" y="5025542"/>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total_amount</a:t>
            </a:r>
            <a:endParaRPr lang="en-US" sz="1100" dirty="0"/>
          </a:p>
        </p:txBody>
      </p:sp>
      <p:sp>
        <p:nvSpPr>
          <p:cNvPr id="47" name="Text 45"/>
          <p:cNvSpPr/>
          <p:nvPr/>
        </p:nvSpPr>
        <p:spPr>
          <a:xfrm>
            <a:off x="9811512" y="5025542"/>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Float32</a:t>
            </a:r>
            <a:endParaRPr lang="en-US" sz="1100" dirty="0"/>
          </a:p>
        </p:txBody>
      </p:sp>
      <p:sp>
        <p:nvSpPr>
          <p:cNvPr id="48" name="Shape 46"/>
          <p:cNvSpPr/>
          <p:nvPr/>
        </p:nvSpPr>
        <p:spPr>
          <a:xfrm>
            <a:off x="6583680" y="5279746"/>
            <a:ext cx="4828032" cy="0"/>
          </a:xfrm>
          <a:prstGeom prst="line">
            <a:avLst/>
          </a:prstGeom>
          <a:noFill/>
          <a:ln w="12700">
            <a:solidFill>
              <a:srgbClr val="EFEFEF"/>
            </a:solidFill>
            <a:prstDash val="solid"/>
          </a:ln>
        </p:spPr>
        <p:txBody>
          <a:bodyPr/>
          <a:lstStyle/>
          <a:p>
            <a:endParaRPr/>
          </a:p>
        </p:txBody>
      </p:sp>
      <p:sp>
        <p:nvSpPr>
          <p:cNvPr id="49" name="Text 47"/>
          <p:cNvSpPr/>
          <p:nvPr/>
        </p:nvSpPr>
        <p:spPr>
          <a:xfrm>
            <a:off x="6583680" y="5316322"/>
            <a:ext cx="3182112" cy="292608"/>
          </a:xfrm>
          <a:prstGeom prst="rect">
            <a:avLst/>
          </a:prstGeom>
          <a:noFill/>
          <a:ln/>
        </p:spPr>
        <p:txBody>
          <a:bodyPr wrap="square" rtlCol="0" anchor="ctr"/>
          <a:lstStyle/>
          <a:p>
            <a:pPr marL="0" indent="0">
              <a:buNone/>
            </a:pPr>
            <a:r>
              <a:rPr lang="en-US" sz="1100" dirty="0">
                <a:solidFill>
                  <a:srgbClr val="2A2A2A"/>
                </a:solidFill>
                <a:latin typeface="Courier New" pitchFamily="34" charset="0"/>
                <a:ea typeface="Courier New" pitchFamily="34" charset="-122"/>
                <a:cs typeface="Courier New" pitchFamily="34" charset="-120"/>
              </a:rPr>
              <a:t>payment_type</a:t>
            </a:r>
            <a:endParaRPr lang="en-US" sz="1100" dirty="0"/>
          </a:p>
        </p:txBody>
      </p:sp>
      <p:sp>
        <p:nvSpPr>
          <p:cNvPr id="50" name="Text 48"/>
          <p:cNvSpPr/>
          <p:nvPr/>
        </p:nvSpPr>
        <p:spPr>
          <a:xfrm>
            <a:off x="9811512" y="5316322"/>
            <a:ext cx="1600200" cy="292608"/>
          </a:xfrm>
          <a:prstGeom prst="rect">
            <a:avLst/>
          </a:prstGeom>
          <a:noFill/>
          <a:ln/>
        </p:spPr>
        <p:txBody>
          <a:bodyPr wrap="square" rtlCol="0" anchor="ctr"/>
          <a:lstStyle/>
          <a:p>
            <a:pPr marL="0" indent="0" algn="r">
              <a:buNone/>
            </a:pPr>
            <a:r>
              <a:rPr lang="en-US" sz="1100" b="1" dirty="0">
                <a:solidFill>
                  <a:srgbClr val="9E0B22"/>
                </a:solidFill>
                <a:latin typeface="Courier New" pitchFamily="34" charset="0"/>
                <a:ea typeface="Courier New" pitchFamily="34" charset="-122"/>
                <a:cs typeface="Courier New" pitchFamily="34" charset="-120"/>
              </a:rPr>
              <a:t>UInt8</a:t>
            </a:r>
            <a:endParaRPr lang="en-US" sz="1100" dirty="0"/>
          </a:p>
        </p:txBody>
      </p:sp>
      <p:sp>
        <p:nvSpPr>
          <p:cNvPr id="52" name="Text 50"/>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a:extLst>
            <a:ext uri="{FF2B5EF4-FFF2-40B4-BE49-F238E27FC236}">
              <a16:creationId xmlns:a16="http://schemas.microsoft.com/office/drawing/2014/main" id="{08F1C22E-4806-88F7-CBEA-A1FDB80F76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DAA2F2-6B4C-6ADA-0469-20040D6BDBE8}"/>
              </a:ext>
            </a:extLst>
          </p:cNvPr>
          <p:cNvSpPr/>
          <p:nvPr/>
        </p:nvSpPr>
        <p:spPr>
          <a:xfrm>
            <a:off x="548640" y="457200"/>
            <a:ext cx="9144000" cy="320040"/>
          </a:xfrm>
          <a:prstGeom prst="rect">
            <a:avLst/>
          </a:prstGeom>
          <a:noFill/>
          <a:ln/>
        </p:spPr>
        <p:txBody>
          <a:bodyPr wrap="square" rtlCol="0" anchor="ctr"/>
          <a:lstStyle/>
          <a:p>
            <a:pPr marL="0" indent="0">
              <a:buNone/>
            </a:pPr>
            <a:r>
              <a:rPr lang="en-US" sz="1200" b="1" kern="0" spc="180" dirty="0">
                <a:solidFill>
                  <a:srgbClr val="D7263D"/>
                </a:solidFill>
                <a:latin typeface="Calibri" pitchFamily="34" charset="0"/>
                <a:ea typeface="Calibri" pitchFamily="34" charset="-122"/>
                <a:cs typeface="Calibri" pitchFamily="34" charset="-120"/>
              </a:rPr>
              <a:t>STEP 2 OF 6  —  EVENT STREAMING</a:t>
            </a:r>
            <a:endParaRPr lang="en-US" sz="1200" dirty="0"/>
          </a:p>
        </p:txBody>
      </p:sp>
      <p:sp>
        <p:nvSpPr>
          <p:cNvPr id="3" name="Text 1">
            <a:extLst>
              <a:ext uri="{FF2B5EF4-FFF2-40B4-BE49-F238E27FC236}">
                <a16:creationId xmlns:a16="http://schemas.microsoft.com/office/drawing/2014/main" id="{6FABA4C1-196B-4088-86FA-C61BDEAB2578}"/>
              </a:ext>
            </a:extLst>
          </p:cNvPr>
          <p:cNvSpPr/>
          <p:nvPr/>
        </p:nvSpPr>
        <p:spPr>
          <a:xfrm>
            <a:off x="548640" y="749808"/>
            <a:ext cx="10515600" cy="59436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Kafka — the real-time backbone</a:t>
            </a:r>
            <a:endParaRPr lang="en-US" sz="2800" dirty="0"/>
          </a:p>
        </p:txBody>
      </p:sp>
      <p:sp>
        <p:nvSpPr>
          <p:cNvPr id="4" name="Shape 2">
            <a:extLst>
              <a:ext uri="{FF2B5EF4-FFF2-40B4-BE49-F238E27FC236}">
                <a16:creationId xmlns:a16="http://schemas.microsoft.com/office/drawing/2014/main" id="{F4EF3417-0CA4-2F4A-45D5-D71E5AB6AC16}"/>
              </a:ext>
            </a:extLst>
          </p:cNvPr>
          <p:cNvSpPr/>
          <p:nvPr/>
        </p:nvSpPr>
        <p:spPr>
          <a:xfrm>
            <a:off x="9226296" y="530352"/>
            <a:ext cx="310896" cy="82296"/>
          </a:xfrm>
          <a:prstGeom prst="roundRect">
            <a:avLst>
              <a:gd name="adj" fmla="val 50000"/>
            </a:avLst>
          </a:prstGeom>
          <a:solidFill>
            <a:srgbClr val="3A3A3A"/>
          </a:solidFill>
          <a:ln/>
        </p:spPr>
        <p:txBody>
          <a:bodyPr/>
          <a:lstStyle/>
          <a:p>
            <a:endParaRPr lang="en-GB"/>
          </a:p>
        </p:txBody>
      </p:sp>
      <p:sp>
        <p:nvSpPr>
          <p:cNvPr id="5" name="Shape 3">
            <a:extLst>
              <a:ext uri="{FF2B5EF4-FFF2-40B4-BE49-F238E27FC236}">
                <a16:creationId xmlns:a16="http://schemas.microsoft.com/office/drawing/2014/main" id="{EC081798-B35A-C1B2-670A-F2CDC3ED3111}"/>
              </a:ext>
            </a:extLst>
          </p:cNvPr>
          <p:cNvSpPr/>
          <p:nvPr/>
        </p:nvSpPr>
        <p:spPr>
          <a:xfrm>
            <a:off x="9646920" y="530352"/>
            <a:ext cx="310896" cy="82296"/>
          </a:xfrm>
          <a:prstGeom prst="roundRect">
            <a:avLst>
              <a:gd name="adj" fmla="val 50000"/>
            </a:avLst>
          </a:prstGeom>
          <a:solidFill>
            <a:srgbClr val="D7263D"/>
          </a:solidFill>
          <a:ln/>
        </p:spPr>
        <p:txBody>
          <a:bodyPr/>
          <a:lstStyle/>
          <a:p>
            <a:endParaRPr lang="en-GB"/>
          </a:p>
        </p:txBody>
      </p:sp>
      <p:sp>
        <p:nvSpPr>
          <p:cNvPr id="6" name="Shape 4">
            <a:extLst>
              <a:ext uri="{FF2B5EF4-FFF2-40B4-BE49-F238E27FC236}">
                <a16:creationId xmlns:a16="http://schemas.microsoft.com/office/drawing/2014/main" id="{11137F14-7740-0D7C-96CD-8C7F6003B377}"/>
              </a:ext>
            </a:extLst>
          </p:cNvPr>
          <p:cNvSpPr/>
          <p:nvPr/>
        </p:nvSpPr>
        <p:spPr>
          <a:xfrm>
            <a:off x="10067544" y="530352"/>
            <a:ext cx="310896" cy="82296"/>
          </a:xfrm>
          <a:prstGeom prst="roundRect">
            <a:avLst>
              <a:gd name="adj" fmla="val 50000"/>
            </a:avLst>
          </a:prstGeom>
          <a:solidFill>
            <a:srgbClr val="3A3A3A"/>
          </a:solidFill>
          <a:ln/>
        </p:spPr>
        <p:txBody>
          <a:bodyPr/>
          <a:lstStyle/>
          <a:p>
            <a:endParaRPr lang="en-GB"/>
          </a:p>
        </p:txBody>
      </p:sp>
      <p:sp>
        <p:nvSpPr>
          <p:cNvPr id="7" name="Shape 5">
            <a:extLst>
              <a:ext uri="{FF2B5EF4-FFF2-40B4-BE49-F238E27FC236}">
                <a16:creationId xmlns:a16="http://schemas.microsoft.com/office/drawing/2014/main" id="{F6D2AA10-95C7-7EED-1D06-C6E7EB0CDC9D}"/>
              </a:ext>
            </a:extLst>
          </p:cNvPr>
          <p:cNvSpPr/>
          <p:nvPr/>
        </p:nvSpPr>
        <p:spPr>
          <a:xfrm>
            <a:off x="10488168" y="530352"/>
            <a:ext cx="310896" cy="82296"/>
          </a:xfrm>
          <a:prstGeom prst="roundRect">
            <a:avLst>
              <a:gd name="adj" fmla="val 50000"/>
            </a:avLst>
          </a:prstGeom>
          <a:solidFill>
            <a:srgbClr val="3A3A3A"/>
          </a:solidFill>
          <a:ln/>
        </p:spPr>
        <p:txBody>
          <a:bodyPr/>
          <a:lstStyle/>
          <a:p>
            <a:endParaRPr lang="en-GB"/>
          </a:p>
        </p:txBody>
      </p:sp>
      <p:sp>
        <p:nvSpPr>
          <p:cNvPr id="8" name="Shape 6">
            <a:extLst>
              <a:ext uri="{FF2B5EF4-FFF2-40B4-BE49-F238E27FC236}">
                <a16:creationId xmlns:a16="http://schemas.microsoft.com/office/drawing/2014/main" id="{3B51C8FE-CC8A-BC1D-3B06-1AE70C39840E}"/>
              </a:ext>
            </a:extLst>
          </p:cNvPr>
          <p:cNvSpPr/>
          <p:nvPr/>
        </p:nvSpPr>
        <p:spPr>
          <a:xfrm>
            <a:off x="10908792" y="530352"/>
            <a:ext cx="310896" cy="82296"/>
          </a:xfrm>
          <a:prstGeom prst="roundRect">
            <a:avLst>
              <a:gd name="adj" fmla="val 50000"/>
            </a:avLst>
          </a:prstGeom>
          <a:solidFill>
            <a:srgbClr val="3A3A3A"/>
          </a:solidFill>
          <a:ln/>
        </p:spPr>
        <p:txBody>
          <a:bodyPr/>
          <a:lstStyle/>
          <a:p>
            <a:endParaRPr lang="en-GB"/>
          </a:p>
        </p:txBody>
      </p:sp>
      <p:sp>
        <p:nvSpPr>
          <p:cNvPr id="9" name="Shape 7">
            <a:extLst>
              <a:ext uri="{FF2B5EF4-FFF2-40B4-BE49-F238E27FC236}">
                <a16:creationId xmlns:a16="http://schemas.microsoft.com/office/drawing/2014/main" id="{8EDDC3FD-BDF8-272A-A84A-774D0506AA6E}"/>
              </a:ext>
            </a:extLst>
          </p:cNvPr>
          <p:cNvSpPr/>
          <p:nvPr/>
        </p:nvSpPr>
        <p:spPr>
          <a:xfrm>
            <a:off x="11329416" y="530352"/>
            <a:ext cx="310896" cy="82296"/>
          </a:xfrm>
          <a:prstGeom prst="roundRect">
            <a:avLst>
              <a:gd name="adj" fmla="val 50000"/>
            </a:avLst>
          </a:prstGeom>
          <a:solidFill>
            <a:srgbClr val="3A3A3A"/>
          </a:solidFill>
          <a:ln/>
        </p:spPr>
        <p:txBody>
          <a:bodyPr/>
          <a:lstStyle/>
          <a:p>
            <a:endParaRPr lang="en-GB"/>
          </a:p>
        </p:txBody>
      </p:sp>
      <p:sp>
        <p:nvSpPr>
          <p:cNvPr id="10" name="Shape 8">
            <a:extLst>
              <a:ext uri="{FF2B5EF4-FFF2-40B4-BE49-F238E27FC236}">
                <a16:creationId xmlns:a16="http://schemas.microsoft.com/office/drawing/2014/main" id="{F0618169-D2E5-653F-3584-B34DEE212904}"/>
              </a:ext>
            </a:extLst>
          </p:cNvPr>
          <p:cNvSpPr/>
          <p:nvPr/>
        </p:nvSpPr>
        <p:spPr>
          <a:xfrm>
            <a:off x="548640" y="1600200"/>
            <a:ext cx="5349240" cy="4526280"/>
          </a:xfrm>
          <a:prstGeom prst="roundRect">
            <a:avLst>
              <a:gd name="adj" fmla="val 1818"/>
            </a:avLst>
          </a:prstGeom>
          <a:solidFill>
            <a:srgbClr val="1E1E1E"/>
          </a:solidFill>
          <a:ln/>
        </p:spPr>
        <p:txBody>
          <a:bodyPr/>
          <a:lstStyle/>
          <a:p>
            <a:endParaRPr lang="en-GB"/>
          </a:p>
        </p:txBody>
      </p:sp>
      <p:sp>
        <p:nvSpPr>
          <p:cNvPr id="11" name="Shape 9">
            <a:extLst>
              <a:ext uri="{FF2B5EF4-FFF2-40B4-BE49-F238E27FC236}">
                <a16:creationId xmlns:a16="http://schemas.microsoft.com/office/drawing/2014/main" id="{63F2C565-51AB-B903-9BD3-FD350EBD301B}"/>
              </a:ext>
            </a:extLst>
          </p:cNvPr>
          <p:cNvSpPr/>
          <p:nvPr/>
        </p:nvSpPr>
        <p:spPr>
          <a:xfrm>
            <a:off x="822960" y="1856232"/>
            <a:ext cx="548640" cy="548640"/>
          </a:xfrm>
          <a:prstGeom prst="ellipse">
            <a:avLst/>
          </a:prstGeom>
          <a:solidFill>
            <a:srgbClr val="D7263D"/>
          </a:solidFill>
          <a:ln/>
        </p:spPr>
        <p:txBody>
          <a:bodyPr/>
          <a:lstStyle/>
          <a:p>
            <a:endParaRPr lang="en-GB"/>
          </a:p>
        </p:txBody>
      </p:sp>
      <p:pic>
        <p:nvPicPr>
          <p:cNvPr id="12" name="Image 0" descr="/home/claude/assets/kafka.png">
            <a:extLst>
              <a:ext uri="{FF2B5EF4-FFF2-40B4-BE49-F238E27FC236}">
                <a16:creationId xmlns:a16="http://schemas.microsoft.com/office/drawing/2014/main" id="{48200BE6-885F-5A10-3328-C200B9F6DA82}"/>
              </a:ext>
            </a:extLst>
          </p:cNvPr>
          <p:cNvPicPr>
            <a:picLocks noChangeAspect="1"/>
          </p:cNvPicPr>
          <p:nvPr/>
        </p:nvPicPr>
        <p:blipFill>
          <a:blip r:embed="rId3"/>
          <a:stretch>
            <a:fillRect/>
          </a:stretch>
        </p:blipFill>
        <p:spPr>
          <a:xfrm>
            <a:off x="941832" y="1975104"/>
            <a:ext cx="310896" cy="310896"/>
          </a:xfrm>
          <a:prstGeom prst="rect">
            <a:avLst/>
          </a:prstGeom>
        </p:spPr>
      </p:pic>
      <p:sp>
        <p:nvSpPr>
          <p:cNvPr id="13" name="Text 10">
            <a:extLst>
              <a:ext uri="{FF2B5EF4-FFF2-40B4-BE49-F238E27FC236}">
                <a16:creationId xmlns:a16="http://schemas.microsoft.com/office/drawing/2014/main" id="{68063218-283B-87B2-5B73-3F26898AB9A3}"/>
              </a:ext>
            </a:extLst>
          </p:cNvPr>
          <p:cNvSpPr/>
          <p:nvPr/>
        </p:nvSpPr>
        <p:spPr>
          <a:xfrm>
            <a:off x="1554480" y="1874520"/>
            <a:ext cx="416052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it does</a:t>
            </a:r>
            <a:endParaRPr lang="en-US" sz="1600" dirty="0"/>
          </a:p>
        </p:txBody>
      </p:sp>
      <p:sp>
        <p:nvSpPr>
          <p:cNvPr id="14" name="Text 11">
            <a:extLst>
              <a:ext uri="{FF2B5EF4-FFF2-40B4-BE49-F238E27FC236}">
                <a16:creationId xmlns:a16="http://schemas.microsoft.com/office/drawing/2014/main" id="{FCC12511-0CF4-7F41-2CBD-08EBB397EFF1}"/>
              </a:ext>
            </a:extLst>
          </p:cNvPr>
          <p:cNvSpPr/>
          <p:nvPr/>
        </p:nvSpPr>
        <p:spPr>
          <a:xfrm>
            <a:off x="841248" y="2606040"/>
            <a:ext cx="4764024" cy="1097280"/>
          </a:xfrm>
          <a:prstGeom prst="rect">
            <a:avLst/>
          </a:prstGeom>
          <a:noFill/>
          <a:ln/>
        </p:spPr>
        <p:txBody>
          <a:bodyPr wrap="square" rtlCol="0" anchor="ctr"/>
          <a:lstStyle/>
          <a:p>
            <a:pPr marL="0" indent="0">
              <a:lnSpc>
                <a:spcPct val="130000"/>
              </a:lnSpc>
              <a:buNone/>
            </a:pPr>
            <a:r>
              <a:rPr lang="en-US" sz="1200" dirty="0">
                <a:solidFill>
                  <a:srgbClr val="D8D8D8"/>
                </a:solidFill>
                <a:latin typeface="Calibri" pitchFamily="34" charset="0"/>
                <a:ea typeface="Calibri" pitchFamily="34" charset="-122"/>
                <a:cs typeface="Calibri" pitchFamily="34" charset="-120"/>
              </a:rPr>
              <a:t>A Python producer reads NYC Taxi trip rows from the Parquet source and publishes each one as a JSON message to a Kafka topic — turning a static historical file into a live, continuous event stream that downstream consumers can subscribe to.</a:t>
            </a:r>
            <a:endParaRPr lang="en-US" sz="1200" dirty="0"/>
          </a:p>
        </p:txBody>
      </p:sp>
      <p:sp>
        <p:nvSpPr>
          <p:cNvPr id="15" name="Shape 12">
            <a:extLst>
              <a:ext uri="{FF2B5EF4-FFF2-40B4-BE49-F238E27FC236}">
                <a16:creationId xmlns:a16="http://schemas.microsoft.com/office/drawing/2014/main" id="{AF38677B-4222-1FDA-1884-C72D46053C63}"/>
              </a:ext>
            </a:extLst>
          </p:cNvPr>
          <p:cNvSpPr/>
          <p:nvPr/>
        </p:nvSpPr>
        <p:spPr>
          <a:xfrm>
            <a:off x="841248" y="3931920"/>
            <a:ext cx="4764024" cy="0"/>
          </a:xfrm>
          <a:prstGeom prst="line">
            <a:avLst/>
          </a:prstGeom>
          <a:noFill/>
          <a:ln w="12700">
            <a:solidFill>
              <a:srgbClr val="333333"/>
            </a:solidFill>
            <a:prstDash val="solid"/>
          </a:ln>
        </p:spPr>
        <p:txBody>
          <a:bodyPr/>
          <a:lstStyle/>
          <a:p>
            <a:endParaRPr lang="en-GB"/>
          </a:p>
        </p:txBody>
      </p:sp>
      <p:sp>
        <p:nvSpPr>
          <p:cNvPr id="16" name="Text 13">
            <a:extLst>
              <a:ext uri="{FF2B5EF4-FFF2-40B4-BE49-F238E27FC236}">
                <a16:creationId xmlns:a16="http://schemas.microsoft.com/office/drawing/2014/main" id="{2AAE9FD8-D2F5-C16D-2E45-14807613CC90}"/>
              </a:ext>
            </a:extLst>
          </p:cNvPr>
          <p:cNvSpPr/>
          <p:nvPr/>
        </p:nvSpPr>
        <p:spPr>
          <a:xfrm>
            <a:off x="841248" y="3986784"/>
            <a:ext cx="201168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Topic</a:t>
            </a:r>
            <a:endParaRPr lang="en-US" sz="1100" dirty="0"/>
          </a:p>
        </p:txBody>
      </p:sp>
      <p:sp>
        <p:nvSpPr>
          <p:cNvPr id="17" name="Text 14">
            <a:extLst>
              <a:ext uri="{FF2B5EF4-FFF2-40B4-BE49-F238E27FC236}">
                <a16:creationId xmlns:a16="http://schemas.microsoft.com/office/drawing/2014/main" id="{3ADA299F-138D-DE1A-1C2F-88A19D048A7E}"/>
              </a:ext>
            </a:extLst>
          </p:cNvPr>
          <p:cNvSpPr/>
          <p:nvPr/>
        </p:nvSpPr>
        <p:spPr>
          <a:xfrm>
            <a:off x="2834640" y="3986784"/>
            <a:ext cx="2770632" cy="310896"/>
          </a:xfrm>
          <a:prstGeom prst="rect">
            <a:avLst/>
          </a:prstGeom>
          <a:noFill/>
          <a:ln/>
        </p:spPr>
        <p:txBody>
          <a:bodyPr wrap="square" rtlCol="0" anchor="ctr"/>
          <a:lstStyle/>
          <a:p>
            <a:pPr marL="0" indent="0" algn="r">
              <a:buNone/>
            </a:pPr>
            <a:r>
              <a:rPr lang="en-US" sz="1150" b="1" dirty="0">
                <a:solidFill>
                  <a:srgbClr val="D7263D"/>
                </a:solidFill>
                <a:latin typeface="Courier New" pitchFamily="34" charset="0"/>
                <a:ea typeface="Courier New" pitchFamily="34" charset="-122"/>
                <a:cs typeface="Courier New" pitchFamily="34" charset="-120"/>
              </a:rPr>
              <a:t>taxi-trips</a:t>
            </a:r>
            <a:endParaRPr lang="en-US" sz="1150" dirty="0"/>
          </a:p>
        </p:txBody>
      </p:sp>
      <p:sp>
        <p:nvSpPr>
          <p:cNvPr id="18" name="Shape 15">
            <a:extLst>
              <a:ext uri="{FF2B5EF4-FFF2-40B4-BE49-F238E27FC236}">
                <a16:creationId xmlns:a16="http://schemas.microsoft.com/office/drawing/2014/main" id="{C82CE0CB-AE54-CFFC-0D75-644CC3BFF323}"/>
              </a:ext>
            </a:extLst>
          </p:cNvPr>
          <p:cNvSpPr/>
          <p:nvPr/>
        </p:nvSpPr>
        <p:spPr>
          <a:xfrm>
            <a:off x="841248" y="4352544"/>
            <a:ext cx="4764024" cy="0"/>
          </a:xfrm>
          <a:prstGeom prst="line">
            <a:avLst/>
          </a:prstGeom>
          <a:noFill/>
          <a:ln w="12700">
            <a:solidFill>
              <a:srgbClr val="333333"/>
            </a:solidFill>
            <a:prstDash val="solid"/>
          </a:ln>
        </p:spPr>
        <p:txBody>
          <a:bodyPr/>
          <a:lstStyle/>
          <a:p>
            <a:endParaRPr lang="en-GB"/>
          </a:p>
        </p:txBody>
      </p:sp>
      <p:sp>
        <p:nvSpPr>
          <p:cNvPr id="19" name="Text 16">
            <a:extLst>
              <a:ext uri="{FF2B5EF4-FFF2-40B4-BE49-F238E27FC236}">
                <a16:creationId xmlns:a16="http://schemas.microsoft.com/office/drawing/2014/main" id="{3892128B-57ED-FF93-C99A-2A31A2F9D27B}"/>
              </a:ext>
            </a:extLst>
          </p:cNvPr>
          <p:cNvSpPr/>
          <p:nvPr/>
        </p:nvSpPr>
        <p:spPr>
          <a:xfrm>
            <a:off x="841248" y="4407408"/>
            <a:ext cx="201168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Message format</a:t>
            </a:r>
            <a:endParaRPr lang="en-US" sz="1100" dirty="0"/>
          </a:p>
        </p:txBody>
      </p:sp>
      <p:sp>
        <p:nvSpPr>
          <p:cNvPr id="20" name="Text 17">
            <a:extLst>
              <a:ext uri="{FF2B5EF4-FFF2-40B4-BE49-F238E27FC236}">
                <a16:creationId xmlns:a16="http://schemas.microsoft.com/office/drawing/2014/main" id="{BED64F97-19E8-ADC4-E84A-140053D14EF0}"/>
              </a:ext>
            </a:extLst>
          </p:cNvPr>
          <p:cNvSpPr/>
          <p:nvPr/>
        </p:nvSpPr>
        <p:spPr>
          <a:xfrm>
            <a:off x="2834640" y="4407408"/>
            <a:ext cx="2770632" cy="310896"/>
          </a:xfrm>
          <a:prstGeom prst="rect">
            <a:avLst/>
          </a:prstGeom>
          <a:noFill/>
          <a:ln/>
        </p:spPr>
        <p:txBody>
          <a:bodyPr wrap="square" rtlCol="0" anchor="ctr"/>
          <a:lstStyle/>
          <a:p>
            <a:pPr marL="0" indent="0" algn="r">
              <a:buNone/>
            </a:pPr>
            <a:r>
              <a:rPr lang="en-US" sz="1150" b="1" dirty="0">
                <a:solidFill>
                  <a:srgbClr val="D7263D"/>
                </a:solidFill>
                <a:latin typeface="Courier New" pitchFamily="34" charset="0"/>
                <a:ea typeface="Courier New" pitchFamily="34" charset="-122"/>
                <a:cs typeface="Courier New" pitchFamily="34" charset="-120"/>
              </a:rPr>
              <a:t>JSON, one trip per record</a:t>
            </a:r>
            <a:endParaRPr lang="en-US" sz="1150" dirty="0"/>
          </a:p>
        </p:txBody>
      </p:sp>
      <p:sp>
        <p:nvSpPr>
          <p:cNvPr id="21" name="Shape 18">
            <a:extLst>
              <a:ext uri="{FF2B5EF4-FFF2-40B4-BE49-F238E27FC236}">
                <a16:creationId xmlns:a16="http://schemas.microsoft.com/office/drawing/2014/main" id="{1E92C382-5D5B-F613-4E0F-056B02AC781C}"/>
              </a:ext>
            </a:extLst>
          </p:cNvPr>
          <p:cNvSpPr/>
          <p:nvPr/>
        </p:nvSpPr>
        <p:spPr>
          <a:xfrm>
            <a:off x="841248" y="4773168"/>
            <a:ext cx="4764024" cy="0"/>
          </a:xfrm>
          <a:prstGeom prst="line">
            <a:avLst/>
          </a:prstGeom>
          <a:noFill/>
          <a:ln w="12700">
            <a:solidFill>
              <a:srgbClr val="333333"/>
            </a:solidFill>
            <a:prstDash val="solid"/>
          </a:ln>
        </p:spPr>
        <p:txBody>
          <a:bodyPr/>
          <a:lstStyle/>
          <a:p>
            <a:endParaRPr lang="en-GB"/>
          </a:p>
        </p:txBody>
      </p:sp>
      <p:sp>
        <p:nvSpPr>
          <p:cNvPr id="22" name="Text 19">
            <a:extLst>
              <a:ext uri="{FF2B5EF4-FFF2-40B4-BE49-F238E27FC236}">
                <a16:creationId xmlns:a16="http://schemas.microsoft.com/office/drawing/2014/main" id="{1B0772BC-6EFB-FACC-C655-26A6C6FA926C}"/>
              </a:ext>
            </a:extLst>
          </p:cNvPr>
          <p:cNvSpPr/>
          <p:nvPr/>
        </p:nvSpPr>
        <p:spPr>
          <a:xfrm>
            <a:off x="841248" y="4828032"/>
            <a:ext cx="201168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Bootstrap server</a:t>
            </a:r>
            <a:endParaRPr lang="en-US" sz="1100" dirty="0"/>
          </a:p>
        </p:txBody>
      </p:sp>
      <p:sp>
        <p:nvSpPr>
          <p:cNvPr id="23" name="Text 20">
            <a:extLst>
              <a:ext uri="{FF2B5EF4-FFF2-40B4-BE49-F238E27FC236}">
                <a16:creationId xmlns:a16="http://schemas.microsoft.com/office/drawing/2014/main" id="{89B8E958-5D47-DB4A-2447-26AA58B03D0A}"/>
              </a:ext>
            </a:extLst>
          </p:cNvPr>
          <p:cNvSpPr/>
          <p:nvPr/>
        </p:nvSpPr>
        <p:spPr>
          <a:xfrm>
            <a:off x="2834640" y="4828032"/>
            <a:ext cx="2770632" cy="310896"/>
          </a:xfrm>
          <a:prstGeom prst="rect">
            <a:avLst/>
          </a:prstGeom>
          <a:noFill/>
          <a:ln/>
        </p:spPr>
        <p:txBody>
          <a:bodyPr wrap="square" rtlCol="0" anchor="ctr"/>
          <a:lstStyle/>
          <a:p>
            <a:pPr marL="0" indent="0" algn="r">
              <a:buNone/>
            </a:pPr>
            <a:r>
              <a:rPr lang="en-US" sz="1150" b="1" dirty="0">
                <a:solidFill>
                  <a:srgbClr val="D7263D"/>
                </a:solidFill>
                <a:latin typeface="Courier New" pitchFamily="34" charset="0"/>
                <a:ea typeface="Courier New" pitchFamily="34" charset="-122"/>
                <a:cs typeface="Courier New" pitchFamily="34" charset="-120"/>
              </a:rPr>
              <a:t>localhost:9092</a:t>
            </a:r>
            <a:endParaRPr lang="en-US" sz="1150" dirty="0"/>
          </a:p>
        </p:txBody>
      </p:sp>
      <p:sp>
        <p:nvSpPr>
          <p:cNvPr id="24" name="Text 21">
            <a:extLst>
              <a:ext uri="{FF2B5EF4-FFF2-40B4-BE49-F238E27FC236}">
                <a16:creationId xmlns:a16="http://schemas.microsoft.com/office/drawing/2014/main" id="{81E26665-5E7B-0FAD-9118-FCBCD7C3F13B}"/>
              </a:ext>
            </a:extLst>
          </p:cNvPr>
          <p:cNvSpPr/>
          <p:nvPr/>
        </p:nvSpPr>
        <p:spPr>
          <a:xfrm>
            <a:off x="6172200" y="1600200"/>
            <a:ext cx="5468112" cy="274320"/>
          </a:xfrm>
          <a:prstGeom prst="rect">
            <a:avLst/>
          </a:prstGeom>
          <a:noFill/>
          <a:ln/>
        </p:spPr>
        <p:txBody>
          <a:bodyPr wrap="square" rtlCol="0" anchor="ctr"/>
          <a:lstStyle/>
          <a:p>
            <a:pPr marL="0" indent="0">
              <a:buNone/>
            </a:pPr>
            <a:r>
              <a:rPr lang="en-US" sz="1100" b="1" kern="0" spc="150" dirty="0">
                <a:solidFill>
                  <a:srgbClr val="D7263D"/>
                </a:solidFill>
                <a:latin typeface="Calibri" pitchFamily="34" charset="0"/>
                <a:ea typeface="Calibri" pitchFamily="34" charset="-122"/>
                <a:cs typeface="Calibri" pitchFamily="34" charset="-120"/>
              </a:rPr>
              <a:t>TRAFFIC MODES</a:t>
            </a:r>
            <a:endParaRPr lang="en-US" sz="1100" dirty="0"/>
          </a:p>
        </p:txBody>
      </p:sp>
      <p:sp>
        <p:nvSpPr>
          <p:cNvPr id="25" name="Text 22">
            <a:extLst>
              <a:ext uri="{FF2B5EF4-FFF2-40B4-BE49-F238E27FC236}">
                <a16:creationId xmlns:a16="http://schemas.microsoft.com/office/drawing/2014/main" id="{E7ECC747-DAB4-9691-DC16-45B941CFADB3}"/>
              </a:ext>
            </a:extLst>
          </p:cNvPr>
          <p:cNvSpPr/>
          <p:nvPr/>
        </p:nvSpPr>
        <p:spPr>
          <a:xfrm>
            <a:off x="6172200" y="1892808"/>
            <a:ext cx="5468112" cy="365760"/>
          </a:xfrm>
          <a:prstGeom prst="rect">
            <a:avLst/>
          </a:prstGeom>
          <a:noFill/>
          <a:ln/>
        </p:spPr>
        <p:txBody>
          <a:bodyPr wrap="square" rtlCol="0" anchor="ctr"/>
          <a:lstStyle/>
          <a:p>
            <a:pPr marL="0" indent="0">
              <a:buNone/>
            </a:pPr>
            <a:r>
              <a:rPr lang="en-US" sz="1200" dirty="0">
                <a:solidFill>
                  <a:srgbClr val="C9C9C9"/>
                </a:solidFill>
                <a:latin typeface="Calibri" pitchFamily="34" charset="0"/>
                <a:ea typeface="Calibri" pitchFamily="34" charset="-122"/>
                <a:cs typeface="Calibri" pitchFamily="34" charset="-120"/>
              </a:rPr>
              <a:t>The producer can simulate different demand levels</a:t>
            </a:r>
            <a:endParaRPr lang="en-US" sz="1200" dirty="0"/>
          </a:p>
        </p:txBody>
      </p:sp>
      <p:sp>
        <p:nvSpPr>
          <p:cNvPr id="26" name="Shape 23">
            <a:extLst>
              <a:ext uri="{FF2B5EF4-FFF2-40B4-BE49-F238E27FC236}">
                <a16:creationId xmlns:a16="http://schemas.microsoft.com/office/drawing/2014/main" id="{C0C81DA4-DE1C-B0F7-C456-08DFAEEF9EFF}"/>
              </a:ext>
            </a:extLst>
          </p:cNvPr>
          <p:cNvSpPr/>
          <p:nvPr/>
        </p:nvSpPr>
        <p:spPr>
          <a:xfrm>
            <a:off x="6172200" y="2468880"/>
            <a:ext cx="5468112" cy="1051560"/>
          </a:xfrm>
          <a:prstGeom prst="roundRect">
            <a:avLst>
              <a:gd name="adj" fmla="val 6957"/>
            </a:avLst>
          </a:prstGeom>
          <a:solidFill>
            <a:srgbClr val="232323"/>
          </a:solidFill>
          <a:ln w="12700">
            <a:solidFill>
              <a:srgbClr val="2E2E2E"/>
            </a:solidFill>
            <a:prstDash val="solid"/>
          </a:ln>
        </p:spPr>
        <p:txBody>
          <a:bodyPr/>
          <a:lstStyle/>
          <a:p>
            <a:endParaRPr lang="en-GB"/>
          </a:p>
        </p:txBody>
      </p:sp>
      <p:sp>
        <p:nvSpPr>
          <p:cNvPr id="27" name="Text 24">
            <a:extLst>
              <a:ext uri="{FF2B5EF4-FFF2-40B4-BE49-F238E27FC236}">
                <a16:creationId xmlns:a16="http://schemas.microsoft.com/office/drawing/2014/main" id="{79D5F370-6126-9907-EA23-78CBB7F5DAFE}"/>
              </a:ext>
            </a:extLst>
          </p:cNvPr>
          <p:cNvSpPr/>
          <p:nvPr/>
        </p:nvSpPr>
        <p:spPr>
          <a:xfrm>
            <a:off x="6400800" y="2606040"/>
            <a:ext cx="5010912" cy="3200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Peak</a:t>
            </a:r>
            <a:endParaRPr lang="en-US" sz="1450" dirty="0"/>
          </a:p>
        </p:txBody>
      </p:sp>
      <p:sp>
        <p:nvSpPr>
          <p:cNvPr id="28" name="Text 25">
            <a:extLst>
              <a:ext uri="{FF2B5EF4-FFF2-40B4-BE49-F238E27FC236}">
                <a16:creationId xmlns:a16="http://schemas.microsoft.com/office/drawing/2014/main" id="{FAE0C79C-C597-0D19-D2D9-C8D3FB29BE01}"/>
              </a:ext>
            </a:extLst>
          </p:cNvPr>
          <p:cNvSpPr/>
          <p:nvPr/>
        </p:nvSpPr>
        <p:spPr>
          <a:xfrm>
            <a:off x="6400800" y="2944368"/>
            <a:ext cx="5010912" cy="274320"/>
          </a:xfrm>
          <a:prstGeom prst="rect">
            <a:avLst/>
          </a:prstGeom>
          <a:noFill/>
          <a:ln/>
        </p:spPr>
        <p:txBody>
          <a:bodyPr wrap="square" rtlCol="0" anchor="ctr"/>
          <a:lstStyle/>
          <a:p>
            <a:pPr marL="0" indent="0">
              <a:buNone/>
            </a:pPr>
            <a:r>
              <a:rPr lang="en-US" sz="1100" dirty="0">
                <a:solidFill>
                  <a:srgbClr val="D7263D"/>
                </a:solidFill>
                <a:latin typeface="Courier New" pitchFamily="34" charset="0"/>
                <a:ea typeface="Courier New" pitchFamily="34" charset="-122"/>
                <a:cs typeface="Courier New" pitchFamily="34" charset="-120"/>
              </a:rPr>
              <a:t>~0.05s delay ± 40%</a:t>
            </a:r>
            <a:endParaRPr lang="en-US" sz="1100" dirty="0"/>
          </a:p>
        </p:txBody>
      </p:sp>
      <p:sp>
        <p:nvSpPr>
          <p:cNvPr id="29" name="Text 26">
            <a:extLst>
              <a:ext uri="{FF2B5EF4-FFF2-40B4-BE49-F238E27FC236}">
                <a16:creationId xmlns:a16="http://schemas.microsoft.com/office/drawing/2014/main" id="{4F7EC0AA-9942-195D-62C3-7A033CA106AF}"/>
              </a:ext>
            </a:extLst>
          </p:cNvPr>
          <p:cNvSpPr/>
          <p:nvPr/>
        </p:nvSpPr>
        <p:spPr>
          <a:xfrm>
            <a:off x="6400800" y="3218688"/>
            <a:ext cx="5010912" cy="256032"/>
          </a:xfrm>
          <a:prstGeom prst="rect">
            <a:avLst/>
          </a:prstGeom>
          <a:noFill/>
          <a:ln/>
        </p:spPr>
        <p:txBody>
          <a:bodyPr wrap="square" rtlCol="0" anchor="ctr"/>
          <a:lstStyle/>
          <a:p>
            <a:pPr marL="0" indent="0">
              <a:buNone/>
            </a:pPr>
            <a:r>
              <a:rPr lang="en-US" sz="1000" dirty="0">
                <a:solidFill>
                  <a:srgbClr val="9A9A9A"/>
                </a:solidFill>
                <a:latin typeface="Calibri" pitchFamily="34" charset="0"/>
                <a:ea typeface="Calibri" pitchFamily="34" charset="-122"/>
                <a:cs typeface="Calibri" pitchFamily="34" charset="-120"/>
              </a:rPr>
              <a:t>Rush-hour message rate</a:t>
            </a:r>
            <a:endParaRPr lang="en-US" sz="1000" dirty="0"/>
          </a:p>
        </p:txBody>
      </p:sp>
      <p:sp>
        <p:nvSpPr>
          <p:cNvPr id="30" name="Shape 27">
            <a:extLst>
              <a:ext uri="{FF2B5EF4-FFF2-40B4-BE49-F238E27FC236}">
                <a16:creationId xmlns:a16="http://schemas.microsoft.com/office/drawing/2014/main" id="{9F7AF7E5-8A06-A664-661A-1575D7F8CA04}"/>
              </a:ext>
            </a:extLst>
          </p:cNvPr>
          <p:cNvSpPr/>
          <p:nvPr/>
        </p:nvSpPr>
        <p:spPr>
          <a:xfrm>
            <a:off x="6172200" y="3675888"/>
            <a:ext cx="5468112" cy="1051560"/>
          </a:xfrm>
          <a:prstGeom prst="roundRect">
            <a:avLst>
              <a:gd name="adj" fmla="val 6957"/>
            </a:avLst>
          </a:prstGeom>
          <a:solidFill>
            <a:srgbClr val="232323"/>
          </a:solidFill>
          <a:ln w="12700">
            <a:solidFill>
              <a:srgbClr val="2E2E2E"/>
            </a:solidFill>
            <a:prstDash val="solid"/>
          </a:ln>
        </p:spPr>
        <p:txBody>
          <a:bodyPr/>
          <a:lstStyle/>
          <a:p>
            <a:endParaRPr lang="en-GB"/>
          </a:p>
        </p:txBody>
      </p:sp>
      <p:sp>
        <p:nvSpPr>
          <p:cNvPr id="31" name="Text 28">
            <a:extLst>
              <a:ext uri="{FF2B5EF4-FFF2-40B4-BE49-F238E27FC236}">
                <a16:creationId xmlns:a16="http://schemas.microsoft.com/office/drawing/2014/main" id="{0C2F5CF8-4B3E-B5C1-F5FF-33269B8ACA3E}"/>
              </a:ext>
            </a:extLst>
          </p:cNvPr>
          <p:cNvSpPr/>
          <p:nvPr/>
        </p:nvSpPr>
        <p:spPr>
          <a:xfrm>
            <a:off x="6400800" y="3813048"/>
            <a:ext cx="5010912" cy="3200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Normal</a:t>
            </a:r>
            <a:endParaRPr lang="en-US" sz="1450" dirty="0"/>
          </a:p>
        </p:txBody>
      </p:sp>
      <p:sp>
        <p:nvSpPr>
          <p:cNvPr id="32" name="Text 29">
            <a:extLst>
              <a:ext uri="{FF2B5EF4-FFF2-40B4-BE49-F238E27FC236}">
                <a16:creationId xmlns:a16="http://schemas.microsoft.com/office/drawing/2014/main" id="{BC9B9985-8DCE-FF7B-85D3-5B830C45F289}"/>
              </a:ext>
            </a:extLst>
          </p:cNvPr>
          <p:cNvSpPr/>
          <p:nvPr/>
        </p:nvSpPr>
        <p:spPr>
          <a:xfrm>
            <a:off x="6400800" y="4151376"/>
            <a:ext cx="5010912" cy="274320"/>
          </a:xfrm>
          <a:prstGeom prst="rect">
            <a:avLst/>
          </a:prstGeom>
          <a:noFill/>
          <a:ln/>
        </p:spPr>
        <p:txBody>
          <a:bodyPr wrap="square" rtlCol="0" anchor="ctr"/>
          <a:lstStyle/>
          <a:p>
            <a:pPr marL="0" indent="0">
              <a:buNone/>
            </a:pPr>
            <a:r>
              <a:rPr lang="en-US" sz="1100" dirty="0">
                <a:solidFill>
                  <a:srgbClr val="D7263D"/>
                </a:solidFill>
                <a:latin typeface="Courier New" pitchFamily="34" charset="0"/>
                <a:ea typeface="Courier New" pitchFamily="34" charset="-122"/>
                <a:cs typeface="Courier New" pitchFamily="34" charset="-120"/>
              </a:rPr>
              <a:t>~0.5s delay ± 30%</a:t>
            </a:r>
            <a:endParaRPr lang="en-US" sz="1100" dirty="0"/>
          </a:p>
        </p:txBody>
      </p:sp>
      <p:sp>
        <p:nvSpPr>
          <p:cNvPr id="33" name="Text 30">
            <a:extLst>
              <a:ext uri="{FF2B5EF4-FFF2-40B4-BE49-F238E27FC236}">
                <a16:creationId xmlns:a16="http://schemas.microsoft.com/office/drawing/2014/main" id="{DAB26F3F-B8F0-D5D4-A1EF-3002642E80F1}"/>
              </a:ext>
            </a:extLst>
          </p:cNvPr>
          <p:cNvSpPr/>
          <p:nvPr/>
        </p:nvSpPr>
        <p:spPr>
          <a:xfrm>
            <a:off x="6400800" y="4425696"/>
            <a:ext cx="5010912" cy="256032"/>
          </a:xfrm>
          <a:prstGeom prst="rect">
            <a:avLst/>
          </a:prstGeom>
          <a:noFill/>
          <a:ln/>
        </p:spPr>
        <p:txBody>
          <a:bodyPr wrap="square" rtlCol="0" anchor="ctr"/>
          <a:lstStyle/>
          <a:p>
            <a:pPr marL="0" indent="0">
              <a:buNone/>
            </a:pPr>
            <a:r>
              <a:rPr lang="en-US" sz="1000" dirty="0">
                <a:solidFill>
                  <a:srgbClr val="9A9A9A"/>
                </a:solidFill>
                <a:latin typeface="Calibri" pitchFamily="34" charset="0"/>
                <a:ea typeface="Calibri" pitchFamily="34" charset="-122"/>
                <a:cs typeface="Calibri" pitchFamily="34" charset="-120"/>
              </a:rPr>
              <a:t>Typical daytime traffic</a:t>
            </a:r>
            <a:endParaRPr lang="en-US" sz="1000" dirty="0"/>
          </a:p>
        </p:txBody>
      </p:sp>
      <p:sp>
        <p:nvSpPr>
          <p:cNvPr id="34" name="Shape 31">
            <a:extLst>
              <a:ext uri="{FF2B5EF4-FFF2-40B4-BE49-F238E27FC236}">
                <a16:creationId xmlns:a16="http://schemas.microsoft.com/office/drawing/2014/main" id="{63948FDA-8A43-F7C0-69AD-A83DA2802452}"/>
              </a:ext>
            </a:extLst>
          </p:cNvPr>
          <p:cNvSpPr/>
          <p:nvPr/>
        </p:nvSpPr>
        <p:spPr>
          <a:xfrm>
            <a:off x="6172200" y="4882896"/>
            <a:ext cx="5468112" cy="1051560"/>
          </a:xfrm>
          <a:prstGeom prst="roundRect">
            <a:avLst>
              <a:gd name="adj" fmla="val 6957"/>
            </a:avLst>
          </a:prstGeom>
          <a:solidFill>
            <a:srgbClr val="232323"/>
          </a:solidFill>
          <a:ln w="12700">
            <a:solidFill>
              <a:srgbClr val="2E2E2E"/>
            </a:solidFill>
            <a:prstDash val="solid"/>
          </a:ln>
        </p:spPr>
        <p:txBody>
          <a:bodyPr/>
          <a:lstStyle/>
          <a:p>
            <a:endParaRPr lang="en-GB"/>
          </a:p>
        </p:txBody>
      </p:sp>
      <p:sp>
        <p:nvSpPr>
          <p:cNvPr id="35" name="Text 32">
            <a:extLst>
              <a:ext uri="{FF2B5EF4-FFF2-40B4-BE49-F238E27FC236}">
                <a16:creationId xmlns:a16="http://schemas.microsoft.com/office/drawing/2014/main" id="{D121B98E-E144-BAB0-6A5E-017DD3B39D41}"/>
              </a:ext>
            </a:extLst>
          </p:cNvPr>
          <p:cNvSpPr/>
          <p:nvPr/>
        </p:nvSpPr>
        <p:spPr>
          <a:xfrm>
            <a:off x="6400800" y="5020056"/>
            <a:ext cx="5010912" cy="32004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Off-peak</a:t>
            </a:r>
            <a:endParaRPr lang="en-US" sz="1450" dirty="0"/>
          </a:p>
        </p:txBody>
      </p:sp>
      <p:sp>
        <p:nvSpPr>
          <p:cNvPr id="36" name="Text 33">
            <a:extLst>
              <a:ext uri="{FF2B5EF4-FFF2-40B4-BE49-F238E27FC236}">
                <a16:creationId xmlns:a16="http://schemas.microsoft.com/office/drawing/2014/main" id="{64E0E9DE-D50A-47F3-4EFE-4D79A75D9733}"/>
              </a:ext>
            </a:extLst>
          </p:cNvPr>
          <p:cNvSpPr/>
          <p:nvPr/>
        </p:nvSpPr>
        <p:spPr>
          <a:xfrm>
            <a:off x="6400800" y="5358384"/>
            <a:ext cx="5010912" cy="274320"/>
          </a:xfrm>
          <a:prstGeom prst="rect">
            <a:avLst/>
          </a:prstGeom>
          <a:noFill/>
          <a:ln/>
        </p:spPr>
        <p:txBody>
          <a:bodyPr wrap="square" rtlCol="0" anchor="ctr"/>
          <a:lstStyle/>
          <a:p>
            <a:pPr marL="0" indent="0">
              <a:buNone/>
            </a:pPr>
            <a:r>
              <a:rPr lang="en-US" sz="1100" dirty="0">
                <a:solidFill>
                  <a:srgbClr val="D7263D"/>
                </a:solidFill>
                <a:latin typeface="Courier New" pitchFamily="34" charset="0"/>
                <a:ea typeface="Courier New" pitchFamily="34" charset="-122"/>
                <a:cs typeface="Courier New" pitchFamily="34" charset="-120"/>
              </a:rPr>
              <a:t>~2.0s delay ± 25%</a:t>
            </a:r>
            <a:endParaRPr lang="en-US" sz="1100" dirty="0"/>
          </a:p>
        </p:txBody>
      </p:sp>
      <p:sp>
        <p:nvSpPr>
          <p:cNvPr id="37" name="Text 34">
            <a:extLst>
              <a:ext uri="{FF2B5EF4-FFF2-40B4-BE49-F238E27FC236}">
                <a16:creationId xmlns:a16="http://schemas.microsoft.com/office/drawing/2014/main" id="{C87008FC-B556-6CC4-30BE-832E378B423E}"/>
              </a:ext>
            </a:extLst>
          </p:cNvPr>
          <p:cNvSpPr/>
          <p:nvPr/>
        </p:nvSpPr>
        <p:spPr>
          <a:xfrm>
            <a:off x="6400800" y="5632704"/>
            <a:ext cx="5010912" cy="256032"/>
          </a:xfrm>
          <a:prstGeom prst="rect">
            <a:avLst/>
          </a:prstGeom>
          <a:noFill/>
          <a:ln/>
        </p:spPr>
        <p:txBody>
          <a:bodyPr wrap="square" rtlCol="0" anchor="ctr"/>
          <a:lstStyle/>
          <a:p>
            <a:pPr marL="0" indent="0">
              <a:buNone/>
            </a:pPr>
            <a:r>
              <a:rPr lang="en-US" sz="1000" dirty="0">
                <a:solidFill>
                  <a:srgbClr val="9A9A9A"/>
                </a:solidFill>
                <a:latin typeface="Calibri" pitchFamily="34" charset="0"/>
                <a:ea typeface="Calibri" pitchFamily="34" charset="-122"/>
                <a:cs typeface="Calibri" pitchFamily="34" charset="-120"/>
              </a:rPr>
              <a:t>Overnight, low-demand hours</a:t>
            </a:r>
            <a:endParaRPr lang="en-US" sz="1000" dirty="0"/>
          </a:p>
        </p:txBody>
      </p:sp>
      <p:sp>
        <p:nvSpPr>
          <p:cNvPr id="38" name="Text 35">
            <a:extLst>
              <a:ext uri="{FF2B5EF4-FFF2-40B4-BE49-F238E27FC236}">
                <a16:creationId xmlns:a16="http://schemas.microsoft.com/office/drawing/2014/main" id="{F0E38E25-FC7C-D9F4-3106-8204E7936282}"/>
              </a:ext>
            </a:extLst>
          </p:cNvPr>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06</a:t>
            </a:r>
            <a:endParaRPr lang="en-US" sz="1000" dirty="0"/>
          </a:p>
        </p:txBody>
      </p:sp>
    </p:spTree>
    <p:extLst>
      <p:ext uri="{BB962C8B-B14F-4D97-AF65-F5344CB8AC3E}">
        <p14:creationId xmlns:p14="http://schemas.microsoft.com/office/powerpoint/2010/main" val="4117354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STEP 3 OF 6  —  STREAM PROCESSING</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marL="0" indent="0">
              <a:buNone/>
            </a:pPr>
            <a:r>
              <a:rPr lang="en-US" sz="3000" b="1" dirty="0">
                <a:solidFill>
                  <a:srgbClr val="141414"/>
                </a:solidFill>
                <a:latin typeface="Bookman Old Style" pitchFamily="34" charset="0"/>
                <a:ea typeface="Bookman Old Style" pitchFamily="34" charset="-122"/>
                <a:cs typeface="Bookman Old Style" pitchFamily="34" charset="-120"/>
              </a:rPr>
              <a:t>Spark — cleaning and validating in flight</a:t>
            </a:r>
            <a:endParaRPr lang="en-US" sz="3000" dirty="0"/>
          </a:p>
        </p:txBody>
      </p:sp>
      <p:sp>
        <p:nvSpPr>
          <p:cNvPr id="4" name="Shape 2"/>
          <p:cNvSpPr/>
          <p:nvPr/>
        </p:nvSpPr>
        <p:spPr>
          <a:xfrm>
            <a:off x="9226296" y="530352"/>
            <a:ext cx="310896" cy="82296"/>
          </a:xfrm>
          <a:prstGeom prst="roundRect">
            <a:avLst>
              <a:gd name="adj" fmla="val 50000"/>
            </a:avLst>
          </a:prstGeom>
          <a:solidFill>
            <a:srgbClr val="E2E2E2"/>
          </a:solidFill>
          <a:ln/>
        </p:spPr>
        <p:txBody>
          <a:bodyPr/>
          <a:lstStyle/>
          <a:p>
            <a:endParaRPr lang="en-GB"/>
          </a:p>
        </p:txBody>
      </p:sp>
      <p:sp>
        <p:nvSpPr>
          <p:cNvPr id="5" name="Shape 3"/>
          <p:cNvSpPr/>
          <p:nvPr/>
        </p:nvSpPr>
        <p:spPr>
          <a:xfrm>
            <a:off x="9646920" y="530352"/>
            <a:ext cx="310896" cy="82296"/>
          </a:xfrm>
          <a:prstGeom prst="roundRect">
            <a:avLst>
              <a:gd name="adj" fmla="val 50000"/>
            </a:avLst>
          </a:prstGeom>
          <a:solidFill>
            <a:srgbClr val="E2E2E2"/>
          </a:solidFill>
          <a:ln/>
        </p:spPr>
        <p:txBody>
          <a:bodyPr/>
          <a:lstStyle/>
          <a:p>
            <a:endParaRPr lang="en-GB"/>
          </a:p>
        </p:txBody>
      </p:sp>
      <p:sp>
        <p:nvSpPr>
          <p:cNvPr id="6" name="Shape 4"/>
          <p:cNvSpPr/>
          <p:nvPr/>
        </p:nvSpPr>
        <p:spPr>
          <a:xfrm>
            <a:off x="10067544" y="530352"/>
            <a:ext cx="310896" cy="82296"/>
          </a:xfrm>
          <a:prstGeom prst="roundRect">
            <a:avLst>
              <a:gd name="adj" fmla="val 50000"/>
            </a:avLst>
          </a:prstGeom>
          <a:solidFill>
            <a:srgbClr val="D7263D"/>
          </a:solidFill>
          <a:ln/>
        </p:spPr>
        <p:txBody>
          <a:bodyPr/>
          <a:lstStyle/>
          <a:p>
            <a:endParaRPr lang="en-GB"/>
          </a:p>
        </p:txBody>
      </p:sp>
      <p:sp>
        <p:nvSpPr>
          <p:cNvPr id="7" name="Shape 5"/>
          <p:cNvSpPr/>
          <p:nvPr/>
        </p:nvSpPr>
        <p:spPr>
          <a:xfrm>
            <a:off x="10488168" y="530352"/>
            <a:ext cx="310896" cy="82296"/>
          </a:xfrm>
          <a:prstGeom prst="roundRect">
            <a:avLst>
              <a:gd name="adj" fmla="val 50000"/>
            </a:avLst>
          </a:prstGeom>
          <a:solidFill>
            <a:srgbClr val="E2E2E2"/>
          </a:solidFill>
          <a:ln/>
        </p:spPr>
        <p:txBody>
          <a:bodyPr/>
          <a:lstStyle/>
          <a:p>
            <a:endParaRPr lang="en-GB"/>
          </a:p>
        </p:txBody>
      </p:sp>
      <p:sp>
        <p:nvSpPr>
          <p:cNvPr id="8" name="Shape 6"/>
          <p:cNvSpPr/>
          <p:nvPr/>
        </p:nvSpPr>
        <p:spPr>
          <a:xfrm>
            <a:off x="10908792" y="530352"/>
            <a:ext cx="310896" cy="82296"/>
          </a:xfrm>
          <a:prstGeom prst="roundRect">
            <a:avLst>
              <a:gd name="adj" fmla="val 50000"/>
            </a:avLst>
          </a:prstGeom>
          <a:solidFill>
            <a:srgbClr val="E2E2E2"/>
          </a:solidFill>
          <a:ln/>
        </p:spPr>
        <p:txBody>
          <a:bodyPr/>
          <a:lstStyle/>
          <a:p>
            <a:endParaRPr lang="en-GB"/>
          </a:p>
        </p:txBody>
      </p:sp>
      <p:sp>
        <p:nvSpPr>
          <p:cNvPr id="9" name="Shape 7"/>
          <p:cNvSpPr/>
          <p:nvPr/>
        </p:nvSpPr>
        <p:spPr>
          <a:xfrm>
            <a:off x="11329416" y="530352"/>
            <a:ext cx="310896" cy="82296"/>
          </a:xfrm>
          <a:prstGeom prst="roundRect">
            <a:avLst>
              <a:gd name="adj" fmla="val 50000"/>
            </a:avLst>
          </a:prstGeom>
          <a:solidFill>
            <a:srgbClr val="E2E2E2"/>
          </a:solidFill>
          <a:ln/>
        </p:spPr>
        <p:txBody>
          <a:bodyPr/>
          <a:lstStyle/>
          <a:p>
            <a:endParaRPr lang="en-GB"/>
          </a:p>
        </p:txBody>
      </p:sp>
      <p:sp>
        <p:nvSpPr>
          <p:cNvPr id="10" name="Text 8"/>
          <p:cNvSpPr/>
          <p:nvPr/>
        </p:nvSpPr>
        <p:spPr>
          <a:xfrm>
            <a:off x="548640" y="1417320"/>
            <a:ext cx="10881360" cy="685800"/>
          </a:xfrm>
          <a:prstGeom prst="rect">
            <a:avLst/>
          </a:prstGeom>
          <a:noFill/>
          <a:ln/>
        </p:spPr>
        <p:txBody>
          <a:bodyPr wrap="square" rtlCol="0" anchor="ctr"/>
          <a:lstStyle/>
          <a:p>
            <a:pPr marL="0" indent="0">
              <a:lnSpc>
                <a:spcPct val="125000"/>
              </a:lnSpc>
              <a:buNone/>
            </a:pPr>
            <a:r>
              <a:rPr lang="en-US" sz="1250" dirty="0">
                <a:solidFill>
                  <a:srgbClr val="3A3A3A"/>
                </a:solidFill>
                <a:latin typeface="Calibri" pitchFamily="34" charset="0"/>
                <a:ea typeface="Calibri" pitchFamily="34" charset="-122"/>
                <a:cs typeface="Calibri" pitchFamily="34" charset="-120"/>
              </a:rPr>
              <a:t>Spark Structured Streaming subscribes to the Kafka topic, parses each JSON message against a defined schema, casts every field to its proper type, and applies a set of data-quality rules before writing clean micro-batches to ClickHouse via JDBC.</a:t>
            </a:r>
            <a:endParaRPr lang="en-US" sz="1250" dirty="0"/>
          </a:p>
        </p:txBody>
      </p:sp>
      <p:sp>
        <p:nvSpPr>
          <p:cNvPr id="11" name="Text 9"/>
          <p:cNvSpPr/>
          <p:nvPr/>
        </p:nvSpPr>
        <p:spPr>
          <a:xfrm>
            <a:off x="548640" y="2286000"/>
            <a:ext cx="5257800" cy="274320"/>
          </a:xfrm>
          <a:prstGeom prst="rect">
            <a:avLst/>
          </a:prstGeom>
          <a:noFill/>
          <a:ln/>
        </p:spPr>
        <p:txBody>
          <a:bodyPr wrap="square" rtlCol="0" anchor="ctr"/>
          <a:lstStyle/>
          <a:p>
            <a:pPr marL="0" indent="0">
              <a:buNone/>
            </a:pPr>
            <a:r>
              <a:rPr lang="en-US" sz="1100" b="1" kern="0" spc="150" dirty="0">
                <a:solidFill>
                  <a:srgbClr val="D7263D"/>
                </a:solidFill>
                <a:latin typeface="Calibri" pitchFamily="34" charset="0"/>
                <a:ea typeface="Calibri" pitchFamily="34" charset="-122"/>
                <a:cs typeface="Calibri" pitchFamily="34" charset="-120"/>
              </a:rPr>
              <a:t>TRANSFORMATIONS</a:t>
            </a:r>
            <a:endParaRPr lang="en-US" sz="1100" dirty="0"/>
          </a:p>
        </p:txBody>
      </p:sp>
      <p:sp>
        <p:nvSpPr>
          <p:cNvPr id="12" name="Shape 10"/>
          <p:cNvSpPr/>
          <p:nvPr/>
        </p:nvSpPr>
        <p:spPr>
          <a:xfrm>
            <a:off x="548640" y="2670048"/>
            <a:ext cx="384048" cy="384048"/>
          </a:xfrm>
          <a:prstGeom prst="ellipse">
            <a:avLst/>
          </a:prstGeom>
          <a:solidFill>
            <a:srgbClr val="141414"/>
          </a:solidFill>
          <a:ln/>
        </p:spPr>
        <p:txBody>
          <a:bodyPr/>
          <a:lstStyle/>
          <a:p>
            <a:endParaRPr lang="en-GB"/>
          </a:p>
        </p:txBody>
      </p:sp>
      <p:sp>
        <p:nvSpPr>
          <p:cNvPr id="13" name="Text 11"/>
          <p:cNvSpPr/>
          <p:nvPr/>
        </p:nvSpPr>
        <p:spPr>
          <a:xfrm>
            <a:off x="548640" y="2670048"/>
            <a:ext cx="384048" cy="384048"/>
          </a:xfrm>
          <a:prstGeom prst="rect">
            <a:avLst/>
          </a:prstGeom>
          <a:noFill/>
          <a:ln/>
        </p:spPr>
        <p:txBody>
          <a:bodyPr wrap="square" rtlCol="0" anchor="ctr"/>
          <a:lstStyle/>
          <a:p>
            <a:pPr marL="0" indent="0" algn="ctr">
              <a:buNone/>
            </a:pPr>
            <a:r>
              <a:rPr lang="en-US" sz="1300" b="1" dirty="0">
                <a:solidFill>
                  <a:srgbClr val="D7263D"/>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1078992" y="2624328"/>
            <a:ext cx="4709160" cy="274320"/>
          </a:xfrm>
          <a:prstGeom prst="rect">
            <a:avLst/>
          </a:prstGeom>
          <a:noFill/>
          <a:ln/>
        </p:spPr>
        <p:txBody>
          <a:bodyPr wrap="square"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Parse</a:t>
            </a:r>
            <a:endParaRPr lang="en-US" sz="1300" dirty="0"/>
          </a:p>
        </p:txBody>
      </p:sp>
      <p:sp>
        <p:nvSpPr>
          <p:cNvPr id="15" name="Text 13"/>
          <p:cNvSpPr/>
          <p:nvPr/>
        </p:nvSpPr>
        <p:spPr>
          <a:xfrm>
            <a:off x="1078992" y="2889504"/>
            <a:ext cx="4709160" cy="411480"/>
          </a:xfrm>
          <a:prstGeom prst="rect">
            <a:avLst/>
          </a:prstGeom>
          <a:noFill/>
          <a:ln/>
        </p:spPr>
        <p:txBody>
          <a:bodyPr wrap="square" rtlCol="0" anchor="ctr"/>
          <a:lstStyle/>
          <a:p>
            <a:pPr marL="0" indent="0">
              <a:lnSpc>
                <a:spcPct val="115000"/>
              </a:lnSpc>
              <a:buNone/>
            </a:pPr>
            <a:r>
              <a:rPr lang="en-US" sz="1030" dirty="0">
                <a:solidFill>
                  <a:srgbClr val="6B6B6B"/>
                </a:solidFill>
                <a:latin typeface="Calibri" pitchFamily="34" charset="0"/>
                <a:ea typeface="Calibri" pitchFamily="34" charset="-122"/>
                <a:cs typeface="Calibri" pitchFamily="34" charset="-120"/>
              </a:rPr>
              <a:t>Read raw Kafka JSON against a fixed 10-field schema.</a:t>
            </a:r>
            <a:endParaRPr lang="en-US" sz="1030" dirty="0"/>
          </a:p>
        </p:txBody>
      </p:sp>
      <p:sp>
        <p:nvSpPr>
          <p:cNvPr id="16" name="Shape 14"/>
          <p:cNvSpPr/>
          <p:nvPr/>
        </p:nvSpPr>
        <p:spPr>
          <a:xfrm>
            <a:off x="548640" y="3447288"/>
            <a:ext cx="384048" cy="384048"/>
          </a:xfrm>
          <a:prstGeom prst="ellipse">
            <a:avLst/>
          </a:prstGeom>
          <a:solidFill>
            <a:srgbClr val="141414"/>
          </a:solidFill>
          <a:ln/>
        </p:spPr>
        <p:txBody>
          <a:bodyPr/>
          <a:lstStyle/>
          <a:p>
            <a:endParaRPr lang="en-GB"/>
          </a:p>
        </p:txBody>
      </p:sp>
      <p:sp>
        <p:nvSpPr>
          <p:cNvPr id="17" name="Text 15"/>
          <p:cNvSpPr/>
          <p:nvPr/>
        </p:nvSpPr>
        <p:spPr>
          <a:xfrm>
            <a:off x="548640" y="3447288"/>
            <a:ext cx="384048" cy="384048"/>
          </a:xfrm>
          <a:prstGeom prst="rect">
            <a:avLst/>
          </a:prstGeom>
          <a:noFill/>
          <a:ln/>
        </p:spPr>
        <p:txBody>
          <a:bodyPr wrap="square" rtlCol="0" anchor="ctr"/>
          <a:lstStyle/>
          <a:p>
            <a:pPr marL="0" indent="0" algn="ctr">
              <a:buNone/>
            </a:pPr>
            <a:r>
              <a:rPr lang="en-US" sz="1300" b="1" dirty="0">
                <a:solidFill>
                  <a:srgbClr val="D7263D"/>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1078992" y="3401568"/>
            <a:ext cx="4709160" cy="274320"/>
          </a:xfrm>
          <a:prstGeom prst="rect">
            <a:avLst/>
          </a:prstGeom>
          <a:noFill/>
          <a:ln/>
        </p:spPr>
        <p:txBody>
          <a:bodyPr wrap="square"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Cast</a:t>
            </a:r>
            <a:endParaRPr lang="en-US" sz="1300" dirty="0"/>
          </a:p>
        </p:txBody>
      </p:sp>
      <p:sp>
        <p:nvSpPr>
          <p:cNvPr id="19" name="Text 17"/>
          <p:cNvSpPr/>
          <p:nvPr/>
        </p:nvSpPr>
        <p:spPr>
          <a:xfrm>
            <a:off x="1078992" y="3666744"/>
            <a:ext cx="4709160" cy="411480"/>
          </a:xfrm>
          <a:prstGeom prst="rect">
            <a:avLst/>
          </a:prstGeom>
          <a:noFill/>
          <a:ln/>
        </p:spPr>
        <p:txBody>
          <a:bodyPr wrap="square" rtlCol="0" anchor="ctr"/>
          <a:lstStyle/>
          <a:p>
            <a:pPr marL="0" indent="0">
              <a:lnSpc>
                <a:spcPct val="115000"/>
              </a:lnSpc>
              <a:buNone/>
            </a:pPr>
            <a:r>
              <a:rPr lang="en-US" sz="1030" dirty="0">
                <a:solidFill>
                  <a:srgbClr val="6B6B6B"/>
                </a:solidFill>
                <a:latin typeface="Calibri" pitchFamily="34" charset="0"/>
                <a:ea typeface="Calibri" pitchFamily="34" charset="-122"/>
                <a:cs typeface="Calibri" pitchFamily="34" charset="-120"/>
              </a:rPr>
              <a:t>Convert timestamps, ints and floats to their target types.</a:t>
            </a:r>
            <a:endParaRPr lang="en-US" sz="1030" dirty="0"/>
          </a:p>
        </p:txBody>
      </p:sp>
      <p:sp>
        <p:nvSpPr>
          <p:cNvPr id="20" name="Shape 18"/>
          <p:cNvSpPr/>
          <p:nvPr/>
        </p:nvSpPr>
        <p:spPr>
          <a:xfrm>
            <a:off x="548640" y="4224528"/>
            <a:ext cx="384048" cy="384048"/>
          </a:xfrm>
          <a:prstGeom prst="ellipse">
            <a:avLst/>
          </a:prstGeom>
          <a:solidFill>
            <a:srgbClr val="141414"/>
          </a:solidFill>
          <a:ln/>
        </p:spPr>
        <p:txBody>
          <a:bodyPr/>
          <a:lstStyle/>
          <a:p>
            <a:endParaRPr lang="en-GB"/>
          </a:p>
        </p:txBody>
      </p:sp>
      <p:sp>
        <p:nvSpPr>
          <p:cNvPr id="21" name="Text 19"/>
          <p:cNvSpPr/>
          <p:nvPr/>
        </p:nvSpPr>
        <p:spPr>
          <a:xfrm>
            <a:off x="548640" y="4224528"/>
            <a:ext cx="384048" cy="384048"/>
          </a:xfrm>
          <a:prstGeom prst="rect">
            <a:avLst/>
          </a:prstGeom>
          <a:noFill/>
          <a:ln/>
        </p:spPr>
        <p:txBody>
          <a:bodyPr wrap="square" rtlCol="0" anchor="ctr"/>
          <a:lstStyle/>
          <a:p>
            <a:pPr marL="0" indent="0" algn="ctr">
              <a:buNone/>
            </a:pPr>
            <a:r>
              <a:rPr lang="en-US" sz="1300" b="1" dirty="0">
                <a:solidFill>
                  <a:srgbClr val="D7263D"/>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1078992" y="4178808"/>
            <a:ext cx="4709160" cy="274320"/>
          </a:xfrm>
          <a:prstGeom prst="rect">
            <a:avLst/>
          </a:prstGeom>
          <a:noFill/>
          <a:ln/>
        </p:spPr>
        <p:txBody>
          <a:bodyPr wrap="square"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De-duplicate</a:t>
            </a:r>
            <a:endParaRPr lang="en-US" sz="1300" dirty="0"/>
          </a:p>
        </p:txBody>
      </p:sp>
      <p:sp>
        <p:nvSpPr>
          <p:cNvPr id="23" name="Text 21"/>
          <p:cNvSpPr/>
          <p:nvPr/>
        </p:nvSpPr>
        <p:spPr>
          <a:xfrm>
            <a:off x="1078992" y="4443984"/>
            <a:ext cx="4709160" cy="411480"/>
          </a:xfrm>
          <a:prstGeom prst="rect">
            <a:avLst/>
          </a:prstGeom>
          <a:noFill/>
          <a:ln/>
        </p:spPr>
        <p:txBody>
          <a:bodyPr wrap="square" rtlCol="0" anchor="ctr"/>
          <a:lstStyle/>
          <a:p>
            <a:pPr marL="0" indent="0">
              <a:lnSpc>
                <a:spcPct val="115000"/>
              </a:lnSpc>
              <a:buNone/>
            </a:pPr>
            <a:r>
              <a:rPr lang="en-US" sz="1030" dirty="0">
                <a:solidFill>
                  <a:srgbClr val="6B6B6B"/>
                </a:solidFill>
                <a:latin typeface="Calibri" pitchFamily="34" charset="0"/>
                <a:ea typeface="Calibri" pitchFamily="34" charset="-122"/>
                <a:cs typeface="Calibri" pitchFamily="34" charset="-120"/>
              </a:rPr>
              <a:t>Drop exact duplicate trip records.</a:t>
            </a:r>
            <a:endParaRPr lang="en-US" sz="1030" dirty="0"/>
          </a:p>
        </p:txBody>
      </p:sp>
      <p:sp>
        <p:nvSpPr>
          <p:cNvPr id="24" name="Shape 22"/>
          <p:cNvSpPr/>
          <p:nvPr/>
        </p:nvSpPr>
        <p:spPr>
          <a:xfrm>
            <a:off x="548640" y="5001768"/>
            <a:ext cx="384048" cy="384048"/>
          </a:xfrm>
          <a:prstGeom prst="ellipse">
            <a:avLst/>
          </a:prstGeom>
          <a:solidFill>
            <a:srgbClr val="141414"/>
          </a:solidFill>
          <a:ln/>
        </p:spPr>
        <p:txBody>
          <a:bodyPr/>
          <a:lstStyle/>
          <a:p>
            <a:endParaRPr lang="en-GB"/>
          </a:p>
        </p:txBody>
      </p:sp>
      <p:sp>
        <p:nvSpPr>
          <p:cNvPr id="25" name="Text 23"/>
          <p:cNvSpPr/>
          <p:nvPr/>
        </p:nvSpPr>
        <p:spPr>
          <a:xfrm>
            <a:off x="548640" y="5001768"/>
            <a:ext cx="384048" cy="384048"/>
          </a:xfrm>
          <a:prstGeom prst="rect">
            <a:avLst/>
          </a:prstGeom>
          <a:noFill/>
          <a:ln/>
        </p:spPr>
        <p:txBody>
          <a:bodyPr wrap="square" rtlCol="0" anchor="ctr"/>
          <a:lstStyle/>
          <a:p>
            <a:pPr marL="0" indent="0" algn="ctr">
              <a:buNone/>
            </a:pPr>
            <a:r>
              <a:rPr lang="en-US" sz="1300" b="1" dirty="0">
                <a:solidFill>
                  <a:srgbClr val="D7263D"/>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1078992" y="4956048"/>
            <a:ext cx="4709160" cy="274320"/>
          </a:xfrm>
          <a:prstGeom prst="rect">
            <a:avLst/>
          </a:prstGeom>
          <a:noFill/>
          <a:ln/>
        </p:spPr>
        <p:txBody>
          <a:bodyPr wrap="square"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Clean nulls</a:t>
            </a:r>
            <a:endParaRPr lang="en-US" sz="1300" dirty="0"/>
          </a:p>
        </p:txBody>
      </p:sp>
      <p:sp>
        <p:nvSpPr>
          <p:cNvPr id="27" name="Text 25"/>
          <p:cNvSpPr/>
          <p:nvPr/>
        </p:nvSpPr>
        <p:spPr>
          <a:xfrm>
            <a:off x="1078992" y="5221224"/>
            <a:ext cx="4709160" cy="411480"/>
          </a:xfrm>
          <a:prstGeom prst="rect">
            <a:avLst/>
          </a:prstGeom>
          <a:noFill/>
          <a:ln/>
        </p:spPr>
        <p:txBody>
          <a:bodyPr wrap="square" rtlCol="0" anchor="ctr"/>
          <a:lstStyle/>
          <a:p>
            <a:pPr marL="0" indent="0">
              <a:lnSpc>
                <a:spcPct val="115000"/>
              </a:lnSpc>
              <a:buNone/>
            </a:pPr>
            <a:r>
              <a:rPr lang="en-US" sz="1030" dirty="0">
                <a:solidFill>
                  <a:srgbClr val="6B6B6B"/>
                </a:solidFill>
                <a:latin typeface="Calibri" pitchFamily="34" charset="0"/>
                <a:ea typeface="Calibri" pitchFamily="34" charset="-122"/>
                <a:cs typeface="Calibri" pitchFamily="34" charset="-120"/>
              </a:rPr>
              <a:t>Drop rows missing pickup/dropoff time; fill missing passenger count.</a:t>
            </a:r>
            <a:endParaRPr lang="en-US" sz="1030" dirty="0"/>
          </a:p>
        </p:txBody>
      </p:sp>
      <p:sp>
        <p:nvSpPr>
          <p:cNvPr id="28" name="Shape 26"/>
          <p:cNvSpPr/>
          <p:nvPr/>
        </p:nvSpPr>
        <p:spPr>
          <a:xfrm>
            <a:off x="6172200" y="2286000"/>
            <a:ext cx="5468112" cy="3566160"/>
          </a:xfrm>
          <a:prstGeom prst="roundRect">
            <a:avLst>
              <a:gd name="adj" fmla="val 2308"/>
            </a:avLst>
          </a:prstGeom>
          <a:solidFill>
            <a:srgbClr val="141414"/>
          </a:solidFill>
          <a:ln/>
        </p:spPr>
        <p:txBody>
          <a:bodyPr/>
          <a:lstStyle/>
          <a:p>
            <a:endParaRPr lang="en-GB"/>
          </a:p>
        </p:txBody>
      </p:sp>
      <p:sp>
        <p:nvSpPr>
          <p:cNvPr id="29" name="Text 27"/>
          <p:cNvSpPr/>
          <p:nvPr/>
        </p:nvSpPr>
        <p:spPr>
          <a:xfrm>
            <a:off x="6446520" y="2514600"/>
            <a:ext cx="4919472" cy="274320"/>
          </a:xfrm>
          <a:prstGeom prst="rect">
            <a:avLst/>
          </a:prstGeom>
          <a:noFill/>
          <a:ln/>
        </p:spPr>
        <p:txBody>
          <a:bodyPr wrap="square" rtlCol="0" anchor="ctr"/>
          <a:lstStyle/>
          <a:p>
            <a:pPr marL="0" indent="0">
              <a:buNone/>
            </a:pPr>
            <a:r>
              <a:rPr lang="en-US" sz="1100" b="1" kern="0" spc="150" dirty="0">
                <a:solidFill>
                  <a:srgbClr val="D7263D"/>
                </a:solidFill>
                <a:latin typeface="Calibri" pitchFamily="34" charset="0"/>
                <a:ea typeface="Calibri" pitchFamily="34" charset="-122"/>
                <a:cs typeface="Calibri" pitchFamily="34" charset="-120"/>
              </a:rPr>
              <a:t>VALIDATION FILTER</a:t>
            </a:r>
            <a:endParaRPr lang="en-US" sz="1100" dirty="0"/>
          </a:p>
        </p:txBody>
      </p:sp>
      <p:sp>
        <p:nvSpPr>
          <p:cNvPr id="30" name="Text 28"/>
          <p:cNvSpPr/>
          <p:nvPr/>
        </p:nvSpPr>
        <p:spPr>
          <a:xfrm>
            <a:off x="6446520" y="2798064"/>
            <a:ext cx="4919472" cy="41148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Only trips passing every rule reach ClickHouse</a:t>
            </a:r>
            <a:endParaRPr lang="en-US" sz="1300" dirty="0"/>
          </a:p>
        </p:txBody>
      </p:sp>
      <p:sp>
        <p:nvSpPr>
          <p:cNvPr id="31" name="Shape 29"/>
          <p:cNvSpPr/>
          <p:nvPr/>
        </p:nvSpPr>
        <p:spPr>
          <a:xfrm>
            <a:off x="6446520" y="3392424"/>
            <a:ext cx="82296" cy="82296"/>
          </a:xfrm>
          <a:prstGeom prst="ellipse">
            <a:avLst/>
          </a:prstGeom>
          <a:solidFill>
            <a:srgbClr val="D7263D"/>
          </a:solidFill>
          <a:ln/>
        </p:spPr>
        <p:txBody>
          <a:bodyPr/>
          <a:lstStyle/>
          <a:p>
            <a:endParaRPr lang="en-GB"/>
          </a:p>
        </p:txBody>
      </p:sp>
      <p:sp>
        <p:nvSpPr>
          <p:cNvPr id="32" name="Text 30"/>
          <p:cNvSpPr/>
          <p:nvPr/>
        </p:nvSpPr>
        <p:spPr>
          <a:xfrm>
            <a:off x="6675120" y="3264408"/>
            <a:ext cx="4690872" cy="365760"/>
          </a:xfrm>
          <a:prstGeom prst="rect">
            <a:avLst/>
          </a:prstGeom>
          <a:noFill/>
          <a:ln/>
        </p:spPr>
        <p:txBody>
          <a:bodyPr wrap="square" rtlCol="0" anchor="ctr"/>
          <a:lstStyle/>
          <a:p>
            <a:pPr marL="0" indent="0">
              <a:buNone/>
            </a:pPr>
            <a:r>
              <a:rPr lang="en-US" sz="1100" dirty="0">
                <a:solidFill>
                  <a:srgbClr val="E6E6E6"/>
                </a:solidFill>
                <a:latin typeface="Courier New" pitchFamily="34" charset="0"/>
                <a:ea typeface="Courier New" pitchFamily="34" charset="-122"/>
                <a:cs typeface="Courier New" pitchFamily="34" charset="-120"/>
              </a:rPr>
              <a:t>fare_amount ≥ 0</a:t>
            </a:r>
            <a:endParaRPr lang="en-US" sz="1100" dirty="0"/>
          </a:p>
        </p:txBody>
      </p:sp>
      <p:sp>
        <p:nvSpPr>
          <p:cNvPr id="33" name="Shape 31"/>
          <p:cNvSpPr/>
          <p:nvPr/>
        </p:nvSpPr>
        <p:spPr>
          <a:xfrm>
            <a:off x="6446520" y="3794760"/>
            <a:ext cx="82296" cy="82296"/>
          </a:xfrm>
          <a:prstGeom prst="ellipse">
            <a:avLst/>
          </a:prstGeom>
          <a:solidFill>
            <a:srgbClr val="D7263D"/>
          </a:solidFill>
          <a:ln/>
        </p:spPr>
        <p:txBody>
          <a:bodyPr/>
          <a:lstStyle/>
          <a:p>
            <a:endParaRPr lang="en-GB"/>
          </a:p>
        </p:txBody>
      </p:sp>
      <p:sp>
        <p:nvSpPr>
          <p:cNvPr id="34" name="Text 32"/>
          <p:cNvSpPr/>
          <p:nvPr/>
        </p:nvSpPr>
        <p:spPr>
          <a:xfrm>
            <a:off x="6675120" y="3666744"/>
            <a:ext cx="4690872" cy="365760"/>
          </a:xfrm>
          <a:prstGeom prst="rect">
            <a:avLst/>
          </a:prstGeom>
          <a:noFill/>
          <a:ln/>
        </p:spPr>
        <p:txBody>
          <a:bodyPr wrap="square" rtlCol="0" anchor="ctr"/>
          <a:lstStyle/>
          <a:p>
            <a:pPr marL="0" indent="0">
              <a:buNone/>
            </a:pPr>
            <a:r>
              <a:rPr lang="en-US" sz="1100" dirty="0">
                <a:solidFill>
                  <a:srgbClr val="E6E6E6"/>
                </a:solidFill>
                <a:latin typeface="Courier New" pitchFamily="34" charset="0"/>
                <a:ea typeface="Courier New" pitchFamily="34" charset="-122"/>
                <a:cs typeface="Courier New" pitchFamily="34" charset="-120"/>
              </a:rPr>
              <a:t>passenger_count ≤ 8</a:t>
            </a:r>
            <a:endParaRPr lang="en-US" sz="1100" dirty="0"/>
          </a:p>
        </p:txBody>
      </p:sp>
      <p:sp>
        <p:nvSpPr>
          <p:cNvPr id="35" name="Shape 33"/>
          <p:cNvSpPr/>
          <p:nvPr/>
        </p:nvSpPr>
        <p:spPr>
          <a:xfrm>
            <a:off x="6446520" y="4197096"/>
            <a:ext cx="82296" cy="82296"/>
          </a:xfrm>
          <a:prstGeom prst="ellipse">
            <a:avLst/>
          </a:prstGeom>
          <a:solidFill>
            <a:srgbClr val="D7263D"/>
          </a:solidFill>
          <a:ln/>
        </p:spPr>
        <p:txBody>
          <a:bodyPr/>
          <a:lstStyle/>
          <a:p>
            <a:endParaRPr lang="en-GB"/>
          </a:p>
        </p:txBody>
      </p:sp>
      <p:sp>
        <p:nvSpPr>
          <p:cNvPr id="36" name="Text 34"/>
          <p:cNvSpPr/>
          <p:nvPr/>
        </p:nvSpPr>
        <p:spPr>
          <a:xfrm>
            <a:off x="6675120" y="4069080"/>
            <a:ext cx="4690872" cy="365760"/>
          </a:xfrm>
          <a:prstGeom prst="rect">
            <a:avLst/>
          </a:prstGeom>
          <a:noFill/>
          <a:ln/>
        </p:spPr>
        <p:txBody>
          <a:bodyPr wrap="square" rtlCol="0" anchor="ctr"/>
          <a:lstStyle/>
          <a:p>
            <a:pPr marL="0" indent="0">
              <a:buNone/>
            </a:pPr>
            <a:r>
              <a:rPr lang="en-US" sz="1100" dirty="0">
                <a:solidFill>
                  <a:srgbClr val="E6E6E6"/>
                </a:solidFill>
                <a:latin typeface="Courier New" pitchFamily="34" charset="0"/>
                <a:ea typeface="Courier New" pitchFamily="34" charset="-122"/>
                <a:cs typeface="Courier New" pitchFamily="34" charset="-120"/>
              </a:rPr>
              <a:t>dropoff_datetime &gt; pickup_datetime</a:t>
            </a:r>
            <a:endParaRPr lang="en-US" sz="1100" dirty="0"/>
          </a:p>
        </p:txBody>
      </p:sp>
      <p:sp>
        <p:nvSpPr>
          <p:cNvPr id="37" name="Shape 35"/>
          <p:cNvSpPr/>
          <p:nvPr/>
        </p:nvSpPr>
        <p:spPr>
          <a:xfrm>
            <a:off x="6446520" y="4599432"/>
            <a:ext cx="82296" cy="82296"/>
          </a:xfrm>
          <a:prstGeom prst="ellipse">
            <a:avLst/>
          </a:prstGeom>
          <a:solidFill>
            <a:srgbClr val="D7263D"/>
          </a:solidFill>
          <a:ln/>
        </p:spPr>
        <p:txBody>
          <a:bodyPr/>
          <a:lstStyle/>
          <a:p>
            <a:endParaRPr lang="en-GB"/>
          </a:p>
        </p:txBody>
      </p:sp>
      <p:sp>
        <p:nvSpPr>
          <p:cNvPr id="38" name="Text 36"/>
          <p:cNvSpPr/>
          <p:nvPr/>
        </p:nvSpPr>
        <p:spPr>
          <a:xfrm>
            <a:off x="6675120" y="4471416"/>
            <a:ext cx="4690872" cy="365760"/>
          </a:xfrm>
          <a:prstGeom prst="rect">
            <a:avLst/>
          </a:prstGeom>
          <a:noFill/>
          <a:ln/>
        </p:spPr>
        <p:txBody>
          <a:bodyPr wrap="square" rtlCol="0" anchor="ctr"/>
          <a:lstStyle/>
          <a:p>
            <a:pPr marL="0" indent="0">
              <a:buNone/>
            </a:pPr>
            <a:r>
              <a:rPr lang="en-US" sz="1100" dirty="0">
                <a:solidFill>
                  <a:srgbClr val="E6E6E6"/>
                </a:solidFill>
                <a:latin typeface="Courier New" pitchFamily="34" charset="0"/>
                <a:ea typeface="Courier New" pitchFamily="34" charset="-122"/>
                <a:cs typeface="Courier New" pitchFamily="34" charset="-120"/>
              </a:rPr>
              <a:t>pickup / dropoff zone IDs between 1 and 265</a:t>
            </a:r>
            <a:endParaRPr lang="en-US" sz="1100" dirty="0"/>
          </a:p>
        </p:txBody>
      </p:sp>
      <p:sp>
        <p:nvSpPr>
          <p:cNvPr id="39" name="Shape 37"/>
          <p:cNvSpPr/>
          <p:nvPr/>
        </p:nvSpPr>
        <p:spPr>
          <a:xfrm>
            <a:off x="6446520" y="5001768"/>
            <a:ext cx="82296" cy="82296"/>
          </a:xfrm>
          <a:prstGeom prst="ellipse">
            <a:avLst/>
          </a:prstGeom>
          <a:solidFill>
            <a:srgbClr val="D7263D"/>
          </a:solidFill>
          <a:ln/>
        </p:spPr>
        <p:txBody>
          <a:bodyPr/>
          <a:lstStyle/>
          <a:p>
            <a:endParaRPr lang="en-GB"/>
          </a:p>
        </p:txBody>
      </p:sp>
      <p:sp>
        <p:nvSpPr>
          <p:cNvPr id="40" name="Text 38"/>
          <p:cNvSpPr/>
          <p:nvPr/>
        </p:nvSpPr>
        <p:spPr>
          <a:xfrm>
            <a:off x="6675120" y="4873752"/>
            <a:ext cx="4690872" cy="365760"/>
          </a:xfrm>
          <a:prstGeom prst="rect">
            <a:avLst/>
          </a:prstGeom>
          <a:noFill/>
          <a:ln/>
        </p:spPr>
        <p:txBody>
          <a:bodyPr wrap="square" rtlCol="0" anchor="ctr"/>
          <a:lstStyle/>
          <a:p>
            <a:pPr marL="0" indent="0">
              <a:buNone/>
            </a:pPr>
            <a:r>
              <a:rPr lang="en-US" sz="1100" dirty="0">
                <a:solidFill>
                  <a:srgbClr val="E6E6E6"/>
                </a:solidFill>
                <a:latin typeface="Courier New" pitchFamily="34" charset="0"/>
                <a:ea typeface="Courier New" pitchFamily="34" charset="-122"/>
                <a:cs typeface="Courier New" pitchFamily="34" charset="-120"/>
              </a:rPr>
              <a:t>payment_type between 0 and 6</a:t>
            </a:r>
            <a:endParaRPr lang="en-US" sz="1100" dirty="0"/>
          </a:p>
        </p:txBody>
      </p:sp>
      <p:sp>
        <p:nvSpPr>
          <p:cNvPr id="41" name="Shape 39"/>
          <p:cNvSpPr/>
          <p:nvPr/>
        </p:nvSpPr>
        <p:spPr>
          <a:xfrm>
            <a:off x="6446520" y="5404104"/>
            <a:ext cx="82296" cy="82296"/>
          </a:xfrm>
          <a:prstGeom prst="ellipse">
            <a:avLst/>
          </a:prstGeom>
          <a:solidFill>
            <a:srgbClr val="D7263D"/>
          </a:solidFill>
          <a:ln/>
        </p:spPr>
        <p:txBody>
          <a:bodyPr/>
          <a:lstStyle/>
          <a:p>
            <a:endParaRPr lang="en-GB"/>
          </a:p>
        </p:txBody>
      </p:sp>
      <p:sp>
        <p:nvSpPr>
          <p:cNvPr id="42" name="Text 40"/>
          <p:cNvSpPr/>
          <p:nvPr/>
        </p:nvSpPr>
        <p:spPr>
          <a:xfrm>
            <a:off x="6675120" y="5276088"/>
            <a:ext cx="4690872" cy="365760"/>
          </a:xfrm>
          <a:prstGeom prst="rect">
            <a:avLst/>
          </a:prstGeom>
          <a:noFill/>
          <a:ln/>
        </p:spPr>
        <p:txBody>
          <a:bodyPr wrap="square" rtlCol="0" anchor="ctr"/>
          <a:lstStyle/>
          <a:p>
            <a:pPr marL="0" indent="0">
              <a:buNone/>
            </a:pPr>
            <a:r>
              <a:rPr lang="en-US" sz="1100" dirty="0">
                <a:solidFill>
                  <a:srgbClr val="E6E6E6"/>
                </a:solidFill>
                <a:latin typeface="Courier New" pitchFamily="34" charset="0"/>
                <a:ea typeface="Courier New" pitchFamily="34" charset="-122"/>
                <a:cs typeface="Courier New" pitchFamily="34" charset="-120"/>
              </a:rPr>
              <a:t>excludes zero-distance trips with fare &gt; $10</a:t>
            </a:r>
            <a:endParaRPr lang="en-US" sz="1100" dirty="0"/>
          </a:p>
        </p:txBody>
      </p:sp>
      <p:sp>
        <p:nvSpPr>
          <p:cNvPr id="43" name="Text 4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0F2D7EE1-A11B-D8AC-1FE9-B742354A3E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B1A174-3507-EE67-AD0B-56C374DE31FC}"/>
              </a:ext>
            </a:extLst>
          </p:cNvPr>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STEP 3 OF 6  —  STREAM PROCESSING</a:t>
            </a:r>
            <a:endParaRPr lang="en-US" sz="1200" dirty="0"/>
          </a:p>
        </p:txBody>
      </p:sp>
      <p:sp>
        <p:nvSpPr>
          <p:cNvPr id="3" name="Text 1">
            <a:extLst>
              <a:ext uri="{FF2B5EF4-FFF2-40B4-BE49-F238E27FC236}">
                <a16:creationId xmlns:a16="http://schemas.microsoft.com/office/drawing/2014/main" id="{C8B83F3B-950E-0964-F93C-E4ACA726DDCC}"/>
              </a:ext>
            </a:extLst>
          </p:cNvPr>
          <p:cNvSpPr/>
          <p:nvPr/>
        </p:nvSpPr>
        <p:spPr>
          <a:xfrm>
            <a:off x="548640" y="749808"/>
            <a:ext cx="10881360" cy="594360"/>
          </a:xfrm>
          <a:prstGeom prst="rect">
            <a:avLst/>
          </a:prstGeom>
          <a:noFill/>
          <a:ln/>
        </p:spPr>
        <p:txBody>
          <a:bodyPr wrap="square" rtlCol="0" anchor="ctr"/>
          <a:lstStyle/>
          <a:p>
            <a:pPr marL="0" indent="0">
              <a:buNone/>
            </a:pPr>
            <a:r>
              <a:rPr lang="en-US" sz="3000" b="1" dirty="0">
                <a:solidFill>
                  <a:srgbClr val="141414"/>
                </a:solidFill>
                <a:latin typeface="Bookman Old Style" pitchFamily="34" charset="0"/>
                <a:ea typeface="Bookman Old Style" pitchFamily="34" charset="-122"/>
                <a:cs typeface="Bookman Old Style" pitchFamily="34" charset="-120"/>
              </a:rPr>
              <a:t>Spark — cleaning and validating in flight</a:t>
            </a:r>
            <a:endParaRPr lang="en-US" sz="3000" dirty="0"/>
          </a:p>
        </p:txBody>
      </p:sp>
      <p:sp>
        <p:nvSpPr>
          <p:cNvPr id="4" name="Shape 2">
            <a:extLst>
              <a:ext uri="{FF2B5EF4-FFF2-40B4-BE49-F238E27FC236}">
                <a16:creationId xmlns:a16="http://schemas.microsoft.com/office/drawing/2014/main" id="{0C7F102A-95E4-43D4-4B69-80F345DDCE7F}"/>
              </a:ext>
            </a:extLst>
          </p:cNvPr>
          <p:cNvSpPr/>
          <p:nvPr/>
        </p:nvSpPr>
        <p:spPr>
          <a:xfrm>
            <a:off x="9226296" y="530352"/>
            <a:ext cx="310896" cy="82296"/>
          </a:xfrm>
          <a:prstGeom prst="roundRect">
            <a:avLst>
              <a:gd name="adj" fmla="val 50000"/>
            </a:avLst>
          </a:prstGeom>
          <a:solidFill>
            <a:srgbClr val="E2E2E2"/>
          </a:solidFill>
          <a:ln/>
        </p:spPr>
        <p:txBody>
          <a:bodyPr/>
          <a:lstStyle/>
          <a:p>
            <a:endParaRPr lang="en-GB"/>
          </a:p>
        </p:txBody>
      </p:sp>
      <p:sp>
        <p:nvSpPr>
          <p:cNvPr id="5" name="Shape 3">
            <a:extLst>
              <a:ext uri="{FF2B5EF4-FFF2-40B4-BE49-F238E27FC236}">
                <a16:creationId xmlns:a16="http://schemas.microsoft.com/office/drawing/2014/main" id="{DE480E3C-CBD7-CEA7-D19D-812C7B0FBE52}"/>
              </a:ext>
            </a:extLst>
          </p:cNvPr>
          <p:cNvSpPr/>
          <p:nvPr/>
        </p:nvSpPr>
        <p:spPr>
          <a:xfrm>
            <a:off x="9646920" y="530352"/>
            <a:ext cx="310896" cy="82296"/>
          </a:xfrm>
          <a:prstGeom prst="roundRect">
            <a:avLst>
              <a:gd name="adj" fmla="val 50000"/>
            </a:avLst>
          </a:prstGeom>
          <a:solidFill>
            <a:srgbClr val="E2E2E2"/>
          </a:solidFill>
          <a:ln/>
        </p:spPr>
        <p:txBody>
          <a:bodyPr/>
          <a:lstStyle/>
          <a:p>
            <a:endParaRPr lang="en-GB"/>
          </a:p>
        </p:txBody>
      </p:sp>
      <p:sp>
        <p:nvSpPr>
          <p:cNvPr id="6" name="Shape 4">
            <a:extLst>
              <a:ext uri="{FF2B5EF4-FFF2-40B4-BE49-F238E27FC236}">
                <a16:creationId xmlns:a16="http://schemas.microsoft.com/office/drawing/2014/main" id="{741B86CC-D919-3E9C-C2D0-CF90CFC428BD}"/>
              </a:ext>
            </a:extLst>
          </p:cNvPr>
          <p:cNvSpPr/>
          <p:nvPr/>
        </p:nvSpPr>
        <p:spPr>
          <a:xfrm>
            <a:off x="10067544" y="530352"/>
            <a:ext cx="310896" cy="82296"/>
          </a:xfrm>
          <a:prstGeom prst="roundRect">
            <a:avLst>
              <a:gd name="adj" fmla="val 50000"/>
            </a:avLst>
          </a:prstGeom>
          <a:solidFill>
            <a:srgbClr val="D7263D"/>
          </a:solidFill>
          <a:ln/>
        </p:spPr>
        <p:txBody>
          <a:bodyPr/>
          <a:lstStyle/>
          <a:p>
            <a:endParaRPr lang="en-GB"/>
          </a:p>
        </p:txBody>
      </p:sp>
      <p:sp>
        <p:nvSpPr>
          <p:cNvPr id="7" name="Shape 5">
            <a:extLst>
              <a:ext uri="{FF2B5EF4-FFF2-40B4-BE49-F238E27FC236}">
                <a16:creationId xmlns:a16="http://schemas.microsoft.com/office/drawing/2014/main" id="{1D0E263A-7B69-3EDA-0B76-3FB5D25ABB58}"/>
              </a:ext>
            </a:extLst>
          </p:cNvPr>
          <p:cNvSpPr/>
          <p:nvPr/>
        </p:nvSpPr>
        <p:spPr>
          <a:xfrm>
            <a:off x="10488168" y="530352"/>
            <a:ext cx="310896" cy="82296"/>
          </a:xfrm>
          <a:prstGeom prst="roundRect">
            <a:avLst>
              <a:gd name="adj" fmla="val 50000"/>
            </a:avLst>
          </a:prstGeom>
          <a:solidFill>
            <a:srgbClr val="E2E2E2"/>
          </a:solidFill>
          <a:ln/>
        </p:spPr>
        <p:txBody>
          <a:bodyPr/>
          <a:lstStyle/>
          <a:p>
            <a:endParaRPr lang="en-GB"/>
          </a:p>
        </p:txBody>
      </p:sp>
      <p:sp>
        <p:nvSpPr>
          <p:cNvPr id="8" name="Shape 6">
            <a:extLst>
              <a:ext uri="{FF2B5EF4-FFF2-40B4-BE49-F238E27FC236}">
                <a16:creationId xmlns:a16="http://schemas.microsoft.com/office/drawing/2014/main" id="{631B6CE9-41D5-C417-0E2F-5B5A06CD0D41}"/>
              </a:ext>
            </a:extLst>
          </p:cNvPr>
          <p:cNvSpPr/>
          <p:nvPr/>
        </p:nvSpPr>
        <p:spPr>
          <a:xfrm>
            <a:off x="10908792" y="530352"/>
            <a:ext cx="310896" cy="82296"/>
          </a:xfrm>
          <a:prstGeom prst="roundRect">
            <a:avLst>
              <a:gd name="adj" fmla="val 50000"/>
            </a:avLst>
          </a:prstGeom>
          <a:solidFill>
            <a:srgbClr val="E2E2E2"/>
          </a:solidFill>
          <a:ln/>
        </p:spPr>
        <p:txBody>
          <a:bodyPr/>
          <a:lstStyle/>
          <a:p>
            <a:endParaRPr lang="en-GB"/>
          </a:p>
        </p:txBody>
      </p:sp>
      <p:sp>
        <p:nvSpPr>
          <p:cNvPr id="9" name="Shape 7">
            <a:extLst>
              <a:ext uri="{FF2B5EF4-FFF2-40B4-BE49-F238E27FC236}">
                <a16:creationId xmlns:a16="http://schemas.microsoft.com/office/drawing/2014/main" id="{027B935C-D5F0-B7B9-BCC7-EE362172A27D}"/>
              </a:ext>
            </a:extLst>
          </p:cNvPr>
          <p:cNvSpPr/>
          <p:nvPr/>
        </p:nvSpPr>
        <p:spPr>
          <a:xfrm>
            <a:off x="11329416" y="530352"/>
            <a:ext cx="310896" cy="82296"/>
          </a:xfrm>
          <a:prstGeom prst="roundRect">
            <a:avLst>
              <a:gd name="adj" fmla="val 50000"/>
            </a:avLst>
          </a:prstGeom>
          <a:solidFill>
            <a:srgbClr val="E2E2E2"/>
          </a:solidFill>
          <a:ln/>
        </p:spPr>
        <p:txBody>
          <a:bodyPr/>
          <a:lstStyle/>
          <a:p>
            <a:endParaRPr lang="en-GB"/>
          </a:p>
        </p:txBody>
      </p:sp>
      <p:pic>
        <p:nvPicPr>
          <p:cNvPr id="47" name="Picture 46">
            <a:extLst>
              <a:ext uri="{FF2B5EF4-FFF2-40B4-BE49-F238E27FC236}">
                <a16:creationId xmlns:a16="http://schemas.microsoft.com/office/drawing/2014/main" id="{97BA2E8A-6A08-C719-C905-171C694AEE66}"/>
              </a:ext>
            </a:extLst>
          </p:cNvPr>
          <p:cNvPicPr>
            <a:picLocks noChangeAspect="1"/>
          </p:cNvPicPr>
          <p:nvPr/>
        </p:nvPicPr>
        <p:blipFill>
          <a:blip r:embed="rId3"/>
          <a:stretch>
            <a:fillRect/>
          </a:stretch>
        </p:blipFill>
        <p:spPr>
          <a:xfrm>
            <a:off x="548640" y="1636776"/>
            <a:ext cx="4650222" cy="4307268"/>
          </a:xfrm>
          <a:prstGeom prst="rect">
            <a:avLst/>
          </a:prstGeom>
        </p:spPr>
      </p:pic>
      <p:pic>
        <p:nvPicPr>
          <p:cNvPr id="49" name="Picture 48">
            <a:extLst>
              <a:ext uri="{FF2B5EF4-FFF2-40B4-BE49-F238E27FC236}">
                <a16:creationId xmlns:a16="http://schemas.microsoft.com/office/drawing/2014/main" id="{BE3A8408-D4D0-CB3C-2961-E206D019F0D8}"/>
              </a:ext>
            </a:extLst>
          </p:cNvPr>
          <p:cNvPicPr>
            <a:picLocks noChangeAspect="1"/>
          </p:cNvPicPr>
          <p:nvPr/>
        </p:nvPicPr>
        <p:blipFill>
          <a:blip r:embed="rId4"/>
          <a:stretch>
            <a:fillRect/>
          </a:stretch>
        </p:blipFill>
        <p:spPr>
          <a:xfrm>
            <a:off x="6476111" y="1612819"/>
            <a:ext cx="4853305" cy="4495373"/>
          </a:xfrm>
          <a:prstGeom prst="rect">
            <a:avLst/>
          </a:prstGeom>
        </p:spPr>
      </p:pic>
    </p:spTree>
    <p:extLst>
      <p:ext uri="{BB962C8B-B14F-4D97-AF65-F5344CB8AC3E}">
        <p14:creationId xmlns:p14="http://schemas.microsoft.com/office/powerpoint/2010/main" val="1427710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180" dirty="0">
                <a:solidFill>
                  <a:srgbClr val="D7263D"/>
                </a:solidFill>
                <a:latin typeface="Calibri" pitchFamily="34" charset="0"/>
                <a:ea typeface="Calibri" pitchFamily="34" charset="-122"/>
                <a:cs typeface="Calibri" pitchFamily="34" charset="-120"/>
              </a:rPr>
              <a:t>STEP 4 OF 6  —  ANALYTICAL STORAGE</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ClickHouse — built for instant queries</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txBody>
          <a:bodyPr/>
          <a:lstStyle/>
          <a:p>
            <a:endParaRPr lang="en-GB"/>
          </a:p>
        </p:txBody>
      </p:sp>
      <p:sp>
        <p:nvSpPr>
          <p:cNvPr id="5" name="Shape 3"/>
          <p:cNvSpPr/>
          <p:nvPr/>
        </p:nvSpPr>
        <p:spPr>
          <a:xfrm>
            <a:off x="9646920" y="530352"/>
            <a:ext cx="310896" cy="82296"/>
          </a:xfrm>
          <a:prstGeom prst="roundRect">
            <a:avLst>
              <a:gd name="adj" fmla="val 50000"/>
            </a:avLst>
          </a:prstGeom>
          <a:solidFill>
            <a:srgbClr val="3A3A3A"/>
          </a:solidFill>
          <a:ln/>
        </p:spPr>
        <p:txBody>
          <a:bodyPr/>
          <a:lstStyle/>
          <a:p>
            <a:endParaRPr lang="en-GB"/>
          </a:p>
        </p:txBody>
      </p:sp>
      <p:sp>
        <p:nvSpPr>
          <p:cNvPr id="6" name="Shape 4"/>
          <p:cNvSpPr/>
          <p:nvPr/>
        </p:nvSpPr>
        <p:spPr>
          <a:xfrm>
            <a:off x="10067544" y="530352"/>
            <a:ext cx="310896" cy="82296"/>
          </a:xfrm>
          <a:prstGeom prst="roundRect">
            <a:avLst>
              <a:gd name="adj" fmla="val 50000"/>
            </a:avLst>
          </a:prstGeom>
          <a:solidFill>
            <a:srgbClr val="3A3A3A"/>
          </a:solidFill>
          <a:ln/>
        </p:spPr>
        <p:txBody>
          <a:bodyPr/>
          <a:lstStyle/>
          <a:p>
            <a:endParaRPr lang="en-GB"/>
          </a:p>
        </p:txBody>
      </p:sp>
      <p:sp>
        <p:nvSpPr>
          <p:cNvPr id="7" name="Shape 5"/>
          <p:cNvSpPr/>
          <p:nvPr/>
        </p:nvSpPr>
        <p:spPr>
          <a:xfrm>
            <a:off x="10488168" y="530352"/>
            <a:ext cx="310896" cy="82296"/>
          </a:xfrm>
          <a:prstGeom prst="roundRect">
            <a:avLst>
              <a:gd name="adj" fmla="val 50000"/>
            </a:avLst>
          </a:prstGeom>
          <a:solidFill>
            <a:srgbClr val="D7263D"/>
          </a:solidFill>
          <a:ln/>
        </p:spPr>
        <p:txBody>
          <a:bodyPr/>
          <a:lstStyle/>
          <a:p>
            <a:endParaRPr lang="en-GB"/>
          </a:p>
        </p:txBody>
      </p:sp>
      <p:sp>
        <p:nvSpPr>
          <p:cNvPr id="8" name="Shape 6"/>
          <p:cNvSpPr/>
          <p:nvPr/>
        </p:nvSpPr>
        <p:spPr>
          <a:xfrm>
            <a:off x="10908792" y="530352"/>
            <a:ext cx="310896" cy="82296"/>
          </a:xfrm>
          <a:prstGeom prst="roundRect">
            <a:avLst>
              <a:gd name="adj" fmla="val 50000"/>
            </a:avLst>
          </a:prstGeom>
          <a:solidFill>
            <a:srgbClr val="3A3A3A"/>
          </a:solidFill>
          <a:ln/>
        </p:spPr>
        <p:txBody>
          <a:bodyPr/>
          <a:lstStyle/>
          <a:p>
            <a:endParaRPr lang="en-GB"/>
          </a:p>
        </p:txBody>
      </p:sp>
      <p:sp>
        <p:nvSpPr>
          <p:cNvPr id="9" name="Shape 7"/>
          <p:cNvSpPr/>
          <p:nvPr/>
        </p:nvSpPr>
        <p:spPr>
          <a:xfrm>
            <a:off x="11329416" y="530352"/>
            <a:ext cx="310896" cy="82296"/>
          </a:xfrm>
          <a:prstGeom prst="roundRect">
            <a:avLst>
              <a:gd name="adj" fmla="val 50000"/>
            </a:avLst>
          </a:prstGeom>
          <a:solidFill>
            <a:srgbClr val="3A3A3A"/>
          </a:solidFill>
          <a:ln/>
        </p:spPr>
        <p:txBody>
          <a:bodyPr/>
          <a:lstStyle/>
          <a:p>
            <a:endParaRPr lang="en-GB"/>
          </a:p>
        </p:txBody>
      </p:sp>
      <p:sp>
        <p:nvSpPr>
          <p:cNvPr id="10" name="Shape 8"/>
          <p:cNvSpPr/>
          <p:nvPr/>
        </p:nvSpPr>
        <p:spPr>
          <a:xfrm>
            <a:off x="548640" y="1600200"/>
            <a:ext cx="5349240" cy="4526280"/>
          </a:xfrm>
          <a:prstGeom prst="roundRect">
            <a:avLst>
              <a:gd name="adj" fmla="val 1818"/>
            </a:avLst>
          </a:prstGeom>
          <a:solidFill>
            <a:srgbClr val="1E1E1E"/>
          </a:solidFill>
          <a:ln/>
        </p:spPr>
        <p:txBody>
          <a:bodyPr/>
          <a:lstStyle/>
          <a:p>
            <a:endParaRPr lang="en-GB"/>
          </a:p>
        </p:txBody>
      </p:sp>
      <p:sp>
        <p:nvSpPr>
          <p:cNvPr id="11" name="Shape 9"/>
          <p:cNvSpPr/>
          <p:nvPr/>
        </p:nvSpPr>
        <p:spPr>
          <a:xfrm>
            <a:off x="822960" y="1856232"/>
            <a:ext cx="548640" cy="548640"/>
          </a:xfrm>
          <a:prstGeom prst="ellipse">
            <a:avLst/>
          </a:prstGeom>
          <a:solidFill>
            <a:srgbClr val="D7263D"/>
          </a:solidFill>
          <a:ln/>
        </p:spPr>
        <p:txBody>
          <a:bodyPr/>
          <a:lstStyle/>
          <a:p>
            <a:endParaRPr lang="en-GB"/>
          </a:p>
        </p:txBody>
      </p:sp>
      <p:pic>
        <p:nvPicPr>
          <p:cNvPr id="12" name="Image 0" descr="/home/claude/assets/clickhouse.png"/>
          <p:cNvPicPr>
            <a:picLocks noChangeAspect="1"/>
          </p:cNvPicPr>
          <p:nvPr/>
        </p:nvPicPr>
        <p:blipFill>
          <a:blip r:embed="rId3"/>
          <a:stretch>
            <a:fillRect/>
          </a:stretch>
        </p:blipFill>
        <p:spPr>
          <a:xfrm>
            <a:off x="941832" y="1975104"/>
            <a:ext cx="310896" cy="310896"/>
          </a:xfrm>
          <a:prstGeom prst="rect">
            <a:avLst/>
          </a:prstGeom>
        </p:spPr>
      </p:pic>
      <p:sp>
        <p:nvSpPr>
          <p:cNvPr id="13" name="Text 10"/>
          <p:cNvSpPr/>
          <p:nvPr/>
        </p:nvSpPr>
        <p:spPr>
          <a:xfrm>
            <a:off x="1554480" y="1874520"/>
            <a:ext cx="4160520" cy="50292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Why ClickHouse</a:t>
            </a:r>
            <a:endParaRPr lang="en-US" sz="1600" dirty="0"/>
          </a:p>
        </p:txBody>
      </p:sp>
      <p:sp>
        <p:nvSpPr>
          <p:cNvPr id="14" name="Text 11"/>
          <p:cNvSpPr/>
          <p:nvPr/>
        </p:nvSpPr>
        <p:spPr>
          <a:xfrm>
            <a:off x="841248" y="2606040"/>
            <a:ext cx="4764024" cy="914400"/>
          </a:xfrm>
          <a:prstGeom prst="rect">
            <a:avLst/>
          </a:prstGeom>
          <a:noFill/>
          <a:ln/>
        </p:spPr>
        <p:txBody>
          <a:bodyPr wrap="square" rtlCol="0" anchor="ctr"/>
          <a:lstStyle/>
          <a:p>
            <a:pPr marL="0" indent="0">
              <a:lnSpc>
                <a:spcPct val="130000"/>
              </a:lnSpc>
              <a:buNone/>
            </a:pPr>
            <a:r>
              <a:rPr lang="en-US" sz="1200" dirty="0">
                <a:solidFill>
                  <a:srgbClr val="D8D8D8"/>
                </a:solidFill>
                <a:latin typeface="Calibri" pitchFamily="34" charset="0"/>
                <a:ea typeface="Calibri" pitchFamily="34" charset="-122"/>
                <a:cs typeface="Calibri" pitchFamily="34" charset="-120"/>
              </a:rPr>
              <a:t>A column-oriented analytical database purpose-built for aggregations over large volumes of event data — exactly the kind of scan-heavy queries a taxi-demand dashboard needs to run in milliseconds.</a:t>
            </a:r>
            <a:endParaRPr lang="en-US" sz="1200" dirty="0"/>
          </a:p>
        </p:txBody>
      </p:sp>
      <p:sp>
        <p:nvSpPr>
          <p:cNvPr id="15" name="Text 12"/>
          <p:cNvSpPr/>
          <p:nvPr/>
        </p:nvSpPr>
        <p:spPr>
          <a:xfrm>
            <a:off x="841248" y="3657600"/>
            <a:ext cx="4800600" cy="274320"/>
          </a:xfrm>
          <a:prstGeom prst="rect">
            <a:avLst/>
          </a:prstGeom>
          <a:noFill/>
          <a:ln/>
        </p:spPr>
        <p:txBody>
          <a:bodyPr wrap="square" rtlCol="0" anchor="ctr"/>
          <a:lstStyle/>
          <a:p>
            <a:pPr marL="0" indent="0">
              <a:buNone/>
            </a:pPr>
            <a:r>
              <a:rPr lang="en-US" sz="1050" b="1" kern="0" spc="150" dirty="0">
                <a:solidFill>
                  <a:srgbClr val="D7263D"/>
                </a:solidFill>
                <a:latin typeface="Calibri" pitchFamily="34" charset="0"/>
                <a:ea typeface="Calibri" pitchFamily="34" charset="-122"/>
                <a:cs typeface="Calibri" pitchFamily="34" charset="-120"/>
              </a:rPr>
              <a:t>SETUP</a:t>
            </a:r>
            <a:endParaRPr lang="en-US" sz="1050" dirty="0"/>
          </a:p>
        </p:txBody>
      </p:sp>
      <p:sp>
        <p:nvSpPr>
          <p:cNvPr id="16" name="Shape 13"/>
          <p:cNvSpPr/>
          <p:nvPr/>
        </p:nvSpPr>
        <p:spPr>
          <a:xfrm>
            <a:off x="841248" y="3977640"/>
            <a:ext cx="4764024" cy="0"/>
          </a:xfrm>
          <a:prstGeom prst="line">
            <a:avLst/>
          </a:prstGeom>
          <a:noFill/>
          <a:ln w="12700">
            <a:solidFill>
              <a:srgbClr val="333333"/>
            </a:solidFill>
            <a:prstDash val="solid"/>
          </a:ln>
        </p:spPr>
        <p:txBody>
          <a:bodyPr/>
          <a:lstStyle/>
          <a:p>
            <a:endParaRPr lang="en-GB"/>
          </a:p>
        </p:txBody>
      </p:sp>
      <p:sp>
        <p:nvSpPr>
          <p:cNvPr id="17" name="Text 14"/>
          <p:cNvSpPr/>
          <p:nvPr/>
        </p:nvSpPr>
        <p:spPr>
          <a:xfrm>
            <a:off x="841248" y="4032504"/>
            <a:ext cx="210312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Database</a:t>
            </a:r>
            <a:endParaRPr lang="en-US" sz="1100" dirty="0"/>
          </a:p>
        </p:txBody>
      </p:sp>
      <p:sp>
        <p:nvSpPr>
          <p:cNvPr id="18" name="Text 15"/>
          <p:cNvSpPr/>
          <p:nvPr/>
        </p:nvSpPr>
        <p:spPr>
          <a:xfrm>
            <a:off x="2926080" y="4032504"/>
            <a:ext cx="2679192" cy="310896"/>
          </a:xfrm>
          <a:prstGeom prst="rect">
            <a:avLst/>
          </a:prstGeom>
          <a:noFill/>
          <a:ln/>
        </p:spPr>
        <p:txBody>
          <a:bodyPr wrap="square" rtlCol="0" anchor="ctr"/>
          <a:lstStyle/>
          <a:p>
            <a:pPr marL="0" indent="0" algn="r">
              <a:buNone/>
            </a:pPr>
            <a:r>
              <a:rPr lang="en-US" sz="1080" b="1" dirty="0">
                <a:solidFill>
                  <a:srgbClr val="D7263D"/>
                </a:solidFill>
                <a:latin typeface="Courier New" pitchFamily="34" charset="0"/>
                <a:ea typeface="Courier New" pitchFamily="34" charset="-122"/>
                <a:cs typeface="Courier New" pitchFamily="34" charset="-120"/>
              </a:rPr>
              <a:t>NYC_TAXI</a:t>
            </a:r>
            <a:endParaRPr lang="en-US" sz="1080" dirty="0"/>
          </a:p>
        </p:txBody>
      </p:sp>
      <p:sp>
        <p:nvSpPr>
          <p:cNvPr id="19" name="Shape 16"/>
          <p:cNvSpPr/>
          <p:nvPr/>
        </p:nvSpPr>
        <p:spPr>
          <a:xfrm>
            <a:off x="841248" y="4343400"/>
            <a:ext cx="4764024" cy="0"/>
          </a:xfrm>
          <a:prstGeom prst="line">
            <a:avLst/>
          </a:prstGeom>
          <a:noFill/>
          <a:ln w="12700">
            <a:solidFill>
              <a:srgbClr val="333333"/>
            </a:solidFill>
            <a:prstDash val="solid"/>
          </a:ln>
        </p:spPr>
        <p:txBody>
          <a:bodyPr/>
          <a:lstStyle/>
          <a:p>
            <a:endParaRPr lang="en-GB"/>
          </a:p>
        </p:txBody>
      </p:sp>
      <p:sp>
        <p:nvSpPr>
          <p:cNvPr id="20" name="Text 17"/>
          <p:cNvSpPr/>
          <p:nvPr/>
        </p:nvSpPr>
        <p:spPr>
          <a:xfrm>
            <a:off x="841248" y="4398264"/>
            <a:ext cx="210312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Table</a:t>
            </a:r>
            <a:endParaRPr lang="en-US" sz="1100" dirty="0"/>
          </a:p>
        </p:txBody>
      </p:sp>
      <p:sp>
        <p:nvSpPr>
          <p:cNvPr id="21" name="Text 18"/>
          <p:cNvSpPr/>
          <p:nvPr/>
        </p:nvSpPr>
        <p:spPr>
          <a:xfrm>
            <a:off x="2926080" y="4398264"/>
            <a:ext cx="2679192" cy="310896"/>
          </a:xfrm>
          <a:prstGeom prst="rect">
            <a:avLst/>
          </a:prstGeom>
          <a:noFill/>
          <a:ln/>
        </p:spPr>
        <p:txBody>
          <a:bodyPr wrap="square" rtlCol="0" anchor="ctr"/>
          <a:lstStyle/>
          <a:p>
            <a:pPr marL="0" indent="0" algn="r">
              <a:buNone/>
            </a:pPr>
            <a:r>
              <a:rPr lang="en-US" sz="1080" b="1" dirty="0">
                <a:solidFill>
                  <a:srgbClr val="D7263D"/>
                </a:solidFill>
                <a:latin typeface="Courier New" pitchFamily="34" charset="0"/>
                <a:ea typeface="Courier New" pitchFamily="34" charset="-122"/>
                <a:cs typeface="Courier New" pitchFamily="34" charset="-120"/>
              </a:rPr>
              <a:t>taxi_trips</a:t>
            </a:r>
            <a:endParaRPr lang="en-US" sz="1080" dirty="0"/>
          </a:p>
        </p:txBody>
      </p:sp>
      <p:sp>
        <p:nvSpPr>
          <p:cNvPr id="22" name="Shape 19"/>
          <p:cNvSpPr/>
          <p:nvPr/>
        </p:nvSpPr>
        <p:spPr>
          <a:xfrm>
            <a:off x="841248" y="4709160"/>
            <a:ext cx="4764024" cy="0"/>
          </a:xfrm>
          <a:prstGeom prst="line">
            <a:avLst/>
          </a:prstGeom>
          <a:noFill/>
          <a:ln w="12700">
            <a:solidFill>
              <a:srgbClr val="333333"/>
            </a:solidFill>
            <a:prstDash val="solid"/>
          </a:ln>
        </p:spPr>
        <p:txBody>
          <a:bodyPr/>
          <a:lstStyle/>
          <a:p>
            <a:endParaRPr lang="en-GB"/>
          </a:p>
        </p:txBody>
      </p:sp>
      <p:sp>
        <p:nvSpPr>
          <p:cNvPr id="23" name="Text 20"/>
          <p:cNvSpPr/>
          <p:nvPr/>
        </p:nvSpPr>
        <p:spPr>
          <a:xfrm>
            <a:off x="841248" y="4764024"/>
            <a:ext cx="210312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Engine</a:t>
            </a:r>
            <a:endParaRPr lang="en-US" sz="1100" dirty="0"/>
          </a:p>
        </p:txBody>
      </p:sp>
      <p:sp>
        <p:nvSpPr>
          <p:cNvPr id="24" name="Text 21"/>
          <p:cNvSpPr/>
          <p:nvPr/>
        </p:nvSpPr>
        <p:spPr>
          <a:xfrm>
            <a:off x="2926080" y="4764024"/>
            <a:ext cx="2679192" cy="310896"/>
          </a:xfrm>
          <a:prstGeom prst="rect">
            <a:avLst/>
          </a:prstGeom>
          <a:noFill/>
          <a:ln/>
        </p:spPr>
        <p:txBody>
          <a:bodyPr wrap="square" rtlCol="0" anchor="ctr"/>
          <a:lstStyle/>
          <a:p>
            <a:pPr marL="0" indent="0" algn="r">
              <a:buNone/>
            </a:pPr>
            <a:r>
              <a:rPr lang="en-US" sz="1080" b="1" dirty="0">
                <a:solidFill>
                  <a:srgbClr val="D7263D"/>
                </a:solidFill>
                <a:latin typeface="Courier New" pitchFamily="34" charset="0"/>
                <a:ea typeface="Courier New" pitchFamily="34" charset="-122"/>
                <a:cs typeface="Courier New" pitchFamily="34" charset="-120"/>
              </a:rPr>
              <a:t>MergeTree()</a:t>
            </a:r>
            <a:endParaRPr lang="en-US" sz="1080" dirty="0"/>
          </a:p>
        </p:txBody>
      </p:sp>
      <p:sp>
        <p:nvSpPr>
          <p:cNvPr id="25" name="Shape 22"/>
          <p:cNvSpPr/>
          <p:nvPr/>
        </p:nvSpPr>
        <p:spPr>
          <a:xfrm>
            <a:off x="841248" y="5074920"/>
            <a:ext cx="4764024" cy="0"/>
          </a:xfrm>
          <a:prstGeom prst="line">
            <a:avLst/>
          </a:prstGeom>
          <a:noFill/>
          <a:ln w="12700">
            <a:solidFill>
              <a:srgbClr val="333333"/>
            </a:solidFill>
            <a:prstDash val="solid"/>
          </a:ln>
        </p:spPr>
        <p:txBody>
          <a:bodyPr/>
          <a:lstStyle/>
          <a:p>
            <a:endParaRPr lang="en-GB"/>
          </a:p>
        </p:txBody>
      </p:sp>
      <p:sp>
        <p:nvSpPr>
          <p:cNvPr id="26" name="Text 23"/>
          <p:cNvSpPr/>
          <p:nvPr/>
        </p:nvSpPr>
        <p:spPr>
          <a:xfrm>
            <a:off x="841248" y="5129784"/>
            <a:ext cx="210312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Ordered by</a:t>
            </a:r>
            <a:endParaRPr lang="en-US" sz="1100" dirty="0"/>
          </a:p>
        </p:txBody>
      </p:sp>
      <p:sp>
        <p:nvSpPr>
          <p:cNvPr id="27" name="Text 24"/>
          <p:cNvSpPr/>
          <p:nvPr/>
        </p:nvSpPr>
        <p:spPr>
          <a:xfrm>
            <a:off x="2926080" y="5129784"/>
            <a:ext cx="2679192" cy="310896"/>
          </a:xfrm>
          <a:prstGeom prst="rect">
            <a:avLst/>
          </a:prstGeom>
          <a:noFill/>
          <a:ln/>
        </p:spPr>
        <p:txBody>
          <a:bodyPr wrap="square" rtlCol="0" anchor="ctr"/>
          <a:lstStyle/>
          <a:p>
            <a:pPr marL="0" indent="0" algn="r">
              <a:buNone/>
            </a:pPr>
            <a:r>
              <a:rPr lang="en-US" sz="1080" b="1" dirty="0">
                <a:solidFill>
                  <a:srgbClr val="D7263D"/>
                </a:solidFill>
                <a:latin typeface="Courier New" pitchFamily="34" charset="0"/>
                <a:ea typeface="Courier New" pitchFamily="34" charset="-122"/>
                <a:cs typeface="Courier New" pitchFamily="34" charset="-120"/>
              </a:rPr>
              <a:t>pickup_datetime</a:t>
            </a:r>
            <a:endParaRPr lang="en-US" sz="1080" dirty="0"/>
          </a:p>
        </p:txBody>
      </p:sp>
      <p:sp>
        <p:nvSpPr>
          <p:cNvPr id="28" name="Shape 25"/>
          <p:cNvSpPr/>
          <p:nvPr/>
        </p:nvSpPr>
        <p:spPr>
          <a:xfrm>
            <a:off x="841248" y="5440680"/>
            <a:ext cx="4764024" cy="0"/>
          </a:xfrm>
          <a:prstGeom prst="line">
            <a:avLst/>
          </a:prstGeom>
          <a:noFill/>
          <a:ln w="12700">
            <a:solidFill>
              <a:srgbClr val="333333"/>
            </a:solidFill>
            <a:prstDash val="solid"/>
          </a:ln>
        </p:spPr>
        <p:txBody>
          <a:bodyPr/>
          <a:lstStyle/>
          <a:p>
            <a:endParaRPr lang="en-GB"/>
          </a:p>
        </p:txBody>
      </p:sp>
      <p:sp>
        <p:nvSpPr>
          <p:cNvPr id="29" name="Text 26"/>
          <p:cNvSpPr/>
          <p:nvPr/>
        </p:nvSpPr>
        <p:spPr>
          <a:xfrm>
            <a:off x="841248" y="5495544"/>
            <a:ext cx="2103120" cy="310896"/>
          </a:xfrm>
          <a:prstGeom prst="rect">
            <a:avLst/>
          </a:prstGeom>
          <a:noFill/>
          <a:ln/>
        </p:spPr>
        <p:txBody>
          <a:bodyPr wrap="square" rtlCol="0" anchor="ctr"/>
          <a:lstStyle/>
          <a:p>
            <a:pPr marL="0" indent="0">
              <a:buNone/>
            </a:pPr>
            <a:r>
              <a:rPr lang="en-US" sz="1100" dirty="0">
                <a:solidFill>
                  <a:srgbClr val="9A9A9A"/>
                </a:solidFill>
                <a:latin typeface="Calibri" pitchFamily="34" charset="0"/>
                <a:ea typeface="Calibri" pitchFamily="34" charset="-122"/>
                <a:cs typeface="Calibri" pitchFamily="34" charset="-120"/>
              </a:rPr>
              <a:t>Write path</a:t>
            </a:r>
            <a:endParaRPr lang="en-US" sz="1100" dirty="0"/>
          </a:p>
        </p:txBody>
      </p:sp>
      <p:sp>
        <p:nvSpPr>
          <p:cNvPr id="30" name="Text 27"/>
          <p:cNvSpPr/>
          <p:nvPr/>
        </p:nvSpPr>
        <p:spPr>
          <a:xfrm>
            <a:off x="2926080" y="5495544"/>
            <a:ext cx="2679192" cy="310896"/>
          </a:xfrm>
          <a:prstGeom prst="rect">
            <a:avLst/>
          </a:prstGeom>
          <a:noFill/>
          <a:ln/>
        </p:spPr>
        <p:txBody>
          <a:bodyPr wrap="square" rtlCol="0" anchor="ctr"/>
          <a:lstStyle/>
          <a:p>
            <a:pPr marL="0" indent="0" algn="r">
              <a:buNone/>
            </a:pPr>
            <a:r>
              <a:rPr lang="en-US" sz="1080" b="1" dirty="0">
                <a:solidFill>
                  <a:srgbClr val="D7263D"/>
                </a:solidFill>
                <a:latin typeface="Courier New" pitchFamily="34" charset="0"/>
                <a:ea typeface="Courier New" pitchFamily="34" charset="-122"/>
                <a:cs typeface="Courier New" pitchFamily="34" charset="-120"/>
              </a:rPr>
              <a:t>Spark → JDBC → ClickHouse</a:t>
            </a:r>
            <a:endParaRPr lang="en-US" sz="1080" dirty="0"/>
          </a:p>
        </p:txBody>
      </p:sp>
      <p:sp>
        <p:nvSpPr>
          <p:cNvPr id="31" name="Shape 28"/>
          <p:cNvSpPr/>
          <p:nvPr/>
        </p:nvSpPr>
        <p:spPr>
          <a:xfrm>
            <a:off x="6172200" y="1600200"/>
            <a:ext cx="5468112" cy="4526280"/>
          </a:xfrm>
          <a:prstGeom prst="roundRect">
            <a:avLst>
              <a:gd name="adj" fmla="val 1818"/>
            </a:avLst>
          </a:prstGeom>
          <a:solidFill>
            <a:srgbClr val="D7263D"/>
          </a:solidFill>
          <a:ln/>
        </p:spPr>
        <p:txBody>
          <a:bodyPr/>
          <a:lstStyle/>
          <a:p>
            <a:endParaRPr lang="en-GB"/>
          </a:p>
        </p:txBody>
      </p:sp>
      <p:sp>
        <p:nvSpPr>
          <p:cNvPr id="32" name="Text 29"/>
          <p:cNvSpPr/>
          <p:nvPr/>
        </p:nvSpPr>
        <p:spPr>
          <a:xfrm>
            <a:off x="6446520" y="1828800"/>
            <a:ext cx="4919472" cy="274320"/>
          </a:xfrm>
          <a:prstGeom prst="rect">
            <a:avLst/>
          </a:prstGeom>
          <a:noFill/>
          <a:ln/>
        </p:spPr>
        <p:txBody>
          <a:bodyPr wrap="square" rtlCol="0" anchor="ctr"/>
          <a:lstStyle/>
          <a:p>
            <a:pPr marL="0" indent="0">
              <a:buNone/>
            </a:pPr>
            <a:r>
              <a:rPr lang="en-US" sz="1100" b="1" kern="0" spc="150" dirty="0">
                <a:solidFill>
                  <a:srgbClr val="141414"/>
                </a:solidFill>
                <a:latin typeface="Calibri" pitchFamily="34" charset="0"/>
                <a:ea typeface="Calibri" pitchFamily="34" charset="-122"/>
                <a:cs typeface="Calibri" pitchFamily="34" charset="-120"/>
              </a:rPr>
              <a:t>ANALYTICAL QUERIES</a:t>
            </a:r>
            <a:endParaRPr lang="en-US" sz="1100" dirty="0"/>
          </a:p>
        </p:txBody>
      </p:sp>
      <p:sp>
        <p:nvSpPr>
          <p:cNvPr id="33" name="Text 30"/>
          <p:cNvSpPr/>
          <p:nvPr/>
        </p:nvSpPr>
        <p:spPr>
          <a:xfrm>
            <a:off x="6446520" y="2112264"/>
            <a:ext cx="4919472" cy="365760"/>
          </a:xfrm>
          <a:prstGeom prst="rect">
            <a:avLst/>
          </a:prstGeom>
          <a:noFill/>
          <a:ln/>
        </p:spPr>
        <p:txBody>
          <a:bodyPr wrap="square" rtlCol="0" anchor="ctr"/>
          <a:lstStyle/>
          <a:p>
            <a:pPr marL="0" indent="0">
              <a:buNone/>
            </a:pPr>
            <a:r>
              <a:rPr lang="en-US" sz="1500" b="1" dirty="0">
                <a:solidFill>
                  <a:srgbClr val="141414"/>
                </a:solidFill>
                <a:latin typeface="Calibri" pitchFamily="34" charset="0"/>
                <a:ea typeface="Calibri" pitchFamily="34" charset="-122"/>
                <a:cs typeface="Calibri" pitchFamily="34" charset="-120"/>
              </a:rPr>
              <a:t>What </a:t>
            </a:r>
            <a:r>
              <a:rPr lang="en-GB" sz="1500" b="1" dirty="0">
                <a:solidFill>
                  <a:srgbClr val="141414"/>
                </a:solidFill>
                <a:latin typeface="Calibri" pitchFamily="34" charset="0"/>
                <a:ea typeface="Calibri" pitchFamily="34" charset="-122"/>
                <a:cs typeface="Calibri" pitchFamily="34" charset="-120"/>
              </a:rPr>
              <a:t>Agents</a:t>
            </a:r>
            <a:r>
              <a:rPr lang="en-US" sz="1500" b="1" dirty="0">
                <a:solidFill>
                  <a:srgbClr val="141414"/>
                </a:solidFill>
                <a:latin typeface="Calibri" pitchFamily="34" charset="0"/>
                <a:ea typeface="Calibri" pitchFamily="34" charset="-122"/>
                <a:cs typeface="Calibri" pitchFamily="34" charset="-120"/>
              </a:rPr>
              <a:t> asks ClickHouse</a:t>
            </a:r>
            <a:endParaRPr lang="en-US" sz="1500" dirty="0"/>
          </a:p>
        </p:txBody>
      </p:sp>
      <p:sp>
        <p:nvSpPr>
          <p:cNvPr id="34" name="Shape 31"/>
          <p:cNvSpPr/>
          <p:nvPr/>
        </p:nvSpPr>
        <p:spPr>
          <a:xfrm>
            <a:off x="6446520" y="2743200"/>
            <a:ext cx="4919472" cy="777240"/>
          </a:xfrm>
          <a:prstGeom prst="roundRect">
            <a:avLst>
              <a:gd name="adj" fmla="val 8235"/>
            </a:avLst>
          </a:prstGeom>
          <a:solidFill>
            <a:srgbClr val="F5A3AC"/>
          </a:solidFill>
          <a:ln/>
        </p:spPr>
        <p:txBody>
          <a:bodyPr/>
          <a:lstStyle/>
          <a:p>
            <a:endParaRPr lang="en-GB"/>
          </a:p>
        </p:txBody>
      </p:sp>
      <p:sp>
        <p:nvSpPr>
          <p:cNvPr id="35" name="Text 32"/>
          <p:cNvSpPr/>
          <p:nvPr/>
        </p:nvSpPr>
        <p:spPr>
          <a:xfrm>
            <a:off x="6611112" y="2834640"/>
            <a:ext cx="4599432" cy="274320"/>
          </a:xfrm>
          <a:prstGeom prst="rect">
            <a:avLst/>
          </a:prstGeom>
          <a:noFill/>
          <a:ln/>
        </p:spPr>
        <p:txBody>
          <a:bodyPr wrap="square" rtlCol="0" anchor="ctr"/>
          <a:lstStyle/>
          <a:p>
            <a:pPr marL="0" indent="0">
              <a:buNone/>
            </a:pPr>
            <a:r>
              <a:rPr lang="en-US" sz="1250" b="1" dirty="0">
                <a:solidFill>
                  <a:srgbClr val="141414"/>
                </a:solidFill>
                <a:latin typeface="Calibri" pitchFamily="34" charset="0"/>
                <a:ea typeface="Calibri" pitchFamily="34" charset="-122"/>
                <a:cs typeface="Calibri" pitchFamily="34" charset="-120"/>
              </a:rPr>
              <a:t>Total trip volume</a:t>
            </a:r>
            <a:endParaRPr lang="en-US" sz="1250" dirty="0"/>
          </a:p>
        </p:txBody>
      </p:sp>
      <p:sp>
        <p:nvSpPr>
          <p:cNvPr id="36" name="Text 33"/>
          <p:cNvSpPr/>
          <p:nvPr/>
        </p:nvSpPr>
        <p:spPr>
          <a:xfrm>
            <a:off x="6611112" y="3127248"/>
            <a:ext cx="4599432" cy="320040"/>
          </a:xfrm>
          <a:prstGeom prst="rect">
            <a:avLst/>
          </a:prstGeom>
          <a:noFill/>
          <a:ln/>
        </p:spPr>
        <p:txBody>
          <a:bodyPr wrap="square" rtlCol="0" anchor="ctr"/>
          <a:lstStyle/>
          <a:p>
            <a:pPr marL="0" indent="0">
              <a:buNone/>
            </a:pPr>
            <a:r>
              <a:rPr lang="en-US" sz="980" dirty="0">
                <a:solidFill>
                  <a:srgbClr val="3A0008"/>
                </a:solidFill>
                <a:latin typeface="Courier New" pitchFamily="34" charset="0"/>
                <a:ea typeface="Courier New" pitchFamily="34" charset="-122"/>
                <a:cs typeface="Courier New" pitchFamily="34" charset="-120"/>
              </a:rPr>
              <a:t>COUNT(*) across all trips</a:t>
            </a:r>
            <a:endParaRPr lang="en-US" sz="980" dirty="0"/>
          </a:p>
        </p:txBody>
      </p:sp>
      <p:sp>
        <p:nvSpPr>
          <p:cNvPr id="37" name="Shape 34"/>
          <p:cNvSpPr/>
          <p:nvPr/>
        </p:nvSpPr>
        <p:spPr>
          <a:xfrm>
            <a:off x="6446520" y="3639312"/>
            <a:ext cx="4919472" cy="777240"/>
          </a:xfrm>
          <a:prstGeom prst="roundRect">
            <a:avLst>
              <a:gd name="adj" fmla="val 8235"/>
            </a:avLst>
          </a:prstGeom>
          <a:solidFill>
            <a:srgbClr val="F5A3AC"/>
          </a:solidFill>
          <a:ln/>
        </p:spPr>
        <p:txBody>
          <a:bodyPr/>
          <a:lstStyle/>
          <a:p>
            <a:endParaRPr lang="en-GB"/>
          </a:p>
        </p:txBody>
      </p:sp>
      <p:sp>
        <p:nvSpPr>
          <p:cNvPr id="38" name="Text 35"/>
          <p:cNvSpPr/>
          <p:nvPr/>
        </p:nvSpPr>
        <p:spPr>
          <a:xfrm>
            <a:off x="6611112" y="3730752"/>
            <a:ext cx="4599432" cy="274320"/>
          </a:xfrm>
          <a:prstGeom prst="rect">
            <a:avLst/>
          </a:prstGeom>
          <a:noFill/>
          <a:ln/>
        </p:spPr>
        <p:txBody>
          <a:bodyPr wrap="square" rtlCol="0" anchor="ctr"/>
          <a:lstStyle/>
          <a:p>
            <a:pPr marL="0" indent="0">
              <a:buNone/>
            </a:pPr>
            <a:r>
              <a:rPr lang="en-US" sz="1250" b="1" dirty="0">
                <a:solidFill>
                  <a:srgbClr val="141414"/>
                </a:solidFill>
                <a:latin typeface="Calibri" pitchFamily="34" charset="0"/>
                <a:ea typeface="Calibri" pitchFamily="34" charset="-122"/>
                <a:cs typeface="Calibri" pitchFamily="34" charset="-120"/>
              </a:rPr>
              <a:t>Average fare &amp; tip</a:t>
            </a:r>
            <a:endParaRPr lang="en-US" sz="1250" dirty="0"/>
          </a:p>
        </p:txBody>
      </p:sp>
      <p:sp>
        <p:nvSpPr>
          <p:cNvPr id="39" name="Text 36"/>
          <p:cNvSpPr/>
          <p:nvPr/>
        </p:nvSpPr>
        <p:spPr>
          <a:xfrm>
            <a:off x="6611112" y="4023360"/>
            <a:ext cx="4599432" cy="320040"/>
          </a:xfrm>
          <a:prstGeom prst="rect">
            <a:avLst/>
          </a:prstGeom>
          <a:noFill/>
          <a:ln/>
        </p:spPr>
        <p:txBody>
          <a:bodyPr wrap="square" rtlCol="0" anchor="ctr"/>
          <a:lstStyle/>
          <a:p>
            <a:pPr marL="0" indent="0">
              <a:buNone/>
            </a:pPr>
            <a:r>
              <a:rPr lang="en-US" sz="980" dirty="0">
                <a:solidFill>
                  <a:srgbClr val="3A0008"/>
                </a:solidFill>
                <a:latin typeface="Courier New" pitchFamily="34" charset="0"/>
                <a:ea typeface="Courier New" pitchFamily="34" charset="-122"/>
                <a:cs typeface="Courier New" pitchFamily="34" charset="-120"/>
              </a:rPr>
              <a:t>AVG(fare_amount), AVG(tip_amount)</a:t>
            </a:r>
            <a:endParaRPr lang="en-US" sz="980" dirty="0"/>
          </a:p>
        </p:txBody>
      </p:sp>
      <p:sp>
        <p:nvSpPr>
          <p:cNvPr id="40" name="Shape 37"/>
          <p:cNvSpPr/>
          <p:nvPr/>
        </p:nvSpPr>
        <p:spPr>
          <a:xfrm>
            <a:off x="6446520" y="4535424"/>
            <a:ext cx="4919472" cy="777240"/>
          </a:xfrm>
          <a:prstGeom prst="roundRect">
            <a:avLst>
              <a:gd name="adj" fmla="val 8235"/>
            </a:avLst>
          </a:prstGeom>
          <a:solidFill>
            <a:srgbClr val="F5A3AC"/>
          </a:solidFill>
          <a:ln/>
        </p:spPr>
        <p:txBody>
          <a:bodyPr/>
          <a:lstStyle/>
          <a:p>
            <a:endParaRPr lang="en-GB"/>
          </a:p>
        </p:txBody>
      </p:sp>
      <p:sp>
        <p:nvSpPr>
          <p:cNvPr id="41" name="Text 38"/>
          <p:cNvSpPr/>
          <p:nvPr/>
        </p:nvSpPr>
        <p:spPr>
          <a:xfrm>
            <a:off x="6611112" y="4626864"/>
            <a:ext cx="4599432" cy="274320"/>
          </a:xfrm>
          <a:prstGeom prst="rect">
            <a:avLst/>
          </a:prstGeom>
          <a:noFill/>
          <a:ln/>
        </p:spPr>
        <p:txBody>
          <a:bodyPr wrap="square" rtlCol="0" anchor="ctr"/>
          <a:lstStyle/>
          <a:p>
            <a:pPr marL="0" indent="0">
              <a:buNone/>
            </a:pPr>
            <a:r>
              <a:rPr lang="en-US" sz="1250" b="1" dirty="0">
                <a:solidFill>
                  <a:srgbClr val="141414"/>
                </a:solidFill>
                <a:latin typeface="Calibri" pitchFamily="34" charset="0"/>
                <a:ea typeface="Calibri" pitchFamily="34" charset="-122"/>
                <a:cs typeface="Calibri" pitchFamily="34" charset="-120"/>
              </a:rPr>
              <a:t>Tip performance by zone</a:t>
            </a:r>
            <a:endParaRPr lang="en-US" sz="1250" dirty="0"/>
          </a:p>
        </p:txBody>
      </p:sp>
      <p:sp>
        <p:nvSpPr>
          <p:cNvPr id="42" name="Text 39"/>
          <p:cNvSpPr/>
          <p:nvPr/>
        </p:nvSpPr>
        <p:spPr>
          <a:xfrm>
            <a:off x="6611112" y="4919472"/>
            <a:ext cx="4599432" cy="320040"/>
          </a:xfrm>
          <a:prstGeom prst="rect">
            <a:avLst/>
          </a:prstGeom>
          <a:noFill/>
          <a:ln/>
        </p:spPr>
        <p:txBody>
          <a:bodyPr wrap="square" rtlCol="0" anchor="ctr"/>
          <a:lstStyle/>
          <a:p>
            <a:pPr marL="0" indent="0">
              <a:buNone/>
            </a:pPr>
            <a:r>
              <a:rPr lang="en-US" sz="980" dirty="0">
                <a:solidFill>
                  <a:srgbClr val="3A0008"/>
                </a:solidFill>
                <a:latin typeface="Courier New" pitchFamily="34" charset="0"/>
                <a:ea typeface="Courier New" pitchFamily="34" charset="-122"/>
                <a:cs typeface="Courier New" pitchFamily="34" charset="-120"/>
              </a:rPr>
              <a:t>AVG(tip_amount) grouped by pickup_location_id</a:t>
            </a:r>
            <a:endParaRPr lang="en-US" sz="980" dirty="0"/>
          </a:p>
        </p:txBody>
      </p:sp>
      <p:sp>
        <p:nvSpPr>
          <p:cNvPr id="43" name="Shape 40"/>
          <p:cNvSpPr/>
          <p:nvPr/>
        </p:nvSpPr>
        <p:spPr>
          <a:xfrm>
            <a:off x="6446520" y="5431536"/>
            <a:ext cx="4919472" cy="777240"/>
          </a:xfrm>
          <a:prstGeom prst="roundRect">
            <a:avLst>
              <a:gd name="adj" fmla="val 8235"/>
            </a:avLst>
          </a:prstGeom>
          <a:solidFill>
            <a:srgbClr val="F5A3AC"/>
          </a:solidFill>
          <a:ln/>
        </p:spPr>
        <p:txBody>
          <a:bodyPr/>
          <a:lstStyle/>
          <a:p>
            <a:endParaRPr lang="en-GB"/>
          </a:p>
        </p:txBody>
      </p:sp>
      <p:sp>
        <p:nvSpPr>
          <p:cNvPr id="44" name="Text 41"/>
          <p:cNvSpPr/>
          <p:nvPr/>
        </p:nvSpPr>
        <p:spPr>
          <a:xfrm>
            <a:off x="6611112" y="5522976"/>
            <a:ext cx="4599432" cy="274320"/>
          </a:xfrm>
          <a:prstGeom prst="rect">
            <a:avLst/>
          </a:prstGeom>
          <a:noFill/>
          <a:ln/>
        </p:spPr>
        <p:txBody>
          <a:bodyPr wrap="square" rtlCol="0" anchor="ctr"/>
          <a:lstStyle/>
          <a:p>
            <a:pPr marL="0" indent="0">
              <a:buNone/>
            </a:pPr>
            <a:r>
              <a:rPr lang="en-US" sz="1250" b="1" dirty="0">
                <a:solidFill>
                  <a:srgbClr val="141414"/>
                </a:solidFill>
                <a:latin typeface="Calibri" pitchFamily="34" charset="0"/>
                <a:ea typeface="Calibri" pitchFamily="34" charset="-122"/>
                <a:cs typeface="Calibri" pitchFamily="34" charset="-120"/>
              </a:rPr>
              <a:t>Demand over time</a:t>
            </a:r>
            <a:endParaRPr lang="en-US" sz="1250" dirty="0"/>
          </a:p>
        </p:txBody>
      </p:sp>
      <p:sp>
        <p:nvSpPr>
          <p:cNvPr id="45" name="Text 42"/>
          <p:cNvSpPr/>
          <p:nvPr/>
        </p:nvSpPr>
        <p:spPr>
          <a:xfrm>
            <a:off x="6611112" y="5815584"/>
            <a:ext cx="4599432" cy="320040"/>
          </a:xfrm>
          <a:prstGeom prst="rect">
            <a:avLst/>
          </a:prstGeom>
          <a:noFill/>
          <a:ln/>
        </p:spPr>
        <p:txBody>
          <a:bodyPr wrap="square" rtlCol="0" anchor="ctr"/>
          <a:lstStyle/>
          <a:p>
            <a:pPr marL="0" indent="0">
              <a:buNone/>
            </a:pPr>
            <a:r>
              <a:rPr lang="en-US" sz="980" dirty="0">
                <a:solidFill>
                  <a:srgbClr val="3A0008"/>
                </a:solidFill>
                <a:latin typeface="Courier New" pitchFamily="34" charset="0"/>
                <a:ea typeface="Courier New" pitchFamily="34" charset="-122"/>
                <a:cs typeface="Courier New" pitchFamily="34" charset="-120"/>
              </a:rPr>
              <a:t>COUNT(*) grouped by minute-level pickup time</a:t>
            </a:r>
            <a:endParaRPr lang="en-US" sz="980" dirty="0"/>
          </a:p>
        </p:txBody>
      </p:sp>
      <p:sp>
        <p:nvSpPr>
          <p:cNvPr id="46" name="Text 4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STEP 5 OF 6  —  ORCHESTRATION</a:t>
            </a:r>
            <a:endParaRPr lang="en-US" sz="1200" dirty="0"/>
          </a:p>
        </p:txBody>
      </p:sp>
      <p:sp>
        <p:nvSpPr>
          <p:cNvPr id="3" name="Text 1"/>
          <p:cNvSpPr/>
          <p:nvPr/>
        </p:nvSpPr>
        <p:spPr>
          <a:xfrm>
            <a:off x="548640" y="749808"/>
            <a:ext cx="10881360" cy="594360"/>
          </a:xfrm>
          <a:prstGeom prst="rect">
            <a:avLst/>
          </a:prstGeom>
          <a:noFill/>
          <a:ln/>
        </p:spPr>
        <p:txBody>
          <a:bodyPr wrap="square" rtlCol="0" anchor="ctr"/>
          <a:lstStyle/>
          <a:p>
            <a:pPr marL="0" indent="0">
              <a:buNone/>
            </a:pPr>
            <a:r>
              <a:rPr lang="en-US" sz="3000" b="1" dirty="0">
                <a:solidFill>
                  <a:srgbClr val="141414"/>
                </a:solidFill>
                <a:latin typeface="Bookman Old Style" pitchFamily="34" charset="0"/>
                <a:ea typeface="Bookman Old Style" pitchFamily="34" charset="-122"/>
                <a:cs typeface="Bookman Old Style" pitchFamily="34" charset="-120"/>
              </a:rPr>
              <a:t>Airflow — keeping every stage honest</a:t>
            </a:r>
            <a:endParaRPr lang="en-US" sz="3000" dirty="0"/>
          </a:p>
        </p:txBody>
      </p:sp>
      <p:sp>
        <p:nvSpPr>
          <p:cNvPr id="4" name="Shape 2"/>
          <p:cNvSpPr/>
          <p:nvPr/>
        </p:nvSpPr>
        <p:spPr>
          <a:xfrm>
            <a:off x="9226296" y="530352"/>
            <a:ext cx="310896" cy="82296"/>
          </a:xfrm>
          <a:prstGeom prst="roundRect">
            <a:avLst>
              <a:gd name="adj" fmla="val 50000"/>
            </a:avLst>
          </a:prstGeom>
          <a:solidFill>
            <a:srgbClr val="E2E2E2"/>
          </a:solidFill>
          <a:ln/>
        </p:spPr>
        <p:txBody>
          <a:bodyPr/>
          <a:lstStyle/>
          <a:p>
            <a:endParaRPr lang="en-GB"/>
          </a:p>
        </p:txBody>
      </p:sp>
      <p:sp>
        <p:nvSpPr>
          <p:cNvPr id="5" name="Shape 3"/>
          <p:cNvSpPr/>
          <p:nvPr/>
        </p:nvSpPr>
        <p:spPr>
          <a:xfrm>
            <a:off x="9646920" y="530352"/>
            <a:ext cx="310896" cy="82296"/>
          </a:xfrm>
          <a:prstGeom prst="roundRect">
            <a:avLst>
              <a:gd name="adj" fmla="val 50000"/>
            </a:avLst>
          </a:prstGeom>
          <a:solidFill>
            <a:srgbClr val="E2E2E2"/>
          </a:solidFill>
          <a:ln/>
        </p:spPr>
        <p:txBody>
          <a:bodyPr/>
          <a:lstStyle/>
          <a:p>
            <a:endParaRPr lang="en-GB"/>
          </a:p>
        </p:txBody>
      </p:sp>
      <p:sp>
        <p:nvSpPr>
          <p:cNvPr id="6" name="Shape 4"/>
          <p:cNvSpPr/>
          <p:nvPr/>
        </p:nvSpPr>
        <p:spPr>
          <a:xfrm>
            <a:off x="10067544" y="530352"/>
            <a:ext cx="310896" cy="82296"/>
          </a:xfrm>
          <a:prstGeom prst="roundRect">
            <a:avLst>
              <a:gd name="adj" fmla="val 50000"/>
            </a:avLst>
          </a:prstGeom>
          <a:solidFill>
            <a:srgbClr val="E2E2E2"/>
          </a:solidFill>
          <a:ln/>
        </p:spPr>
        <p:txBody>
          <a:bodyPr/>
          <a:lstStyle/>
          <a:p>
            <a:endParaRPr lang="en-GB"/>
          </a:p>
        </p:txBody>
      </p:sp>
      <p:sp>
        <p:nvSpPr>
          <p:cNvPr id="7" name="Shape 5"/>
          <p:cNvSpPr/>
          <p:nvPr/>
        </p:nvSpPr>
        <p:spPr>
          <a:xfrm>
            <a:off x="10488168" y="530352"/>
            <a:ext cx="310896" cy="82296"/>
          </a:xfrm>
          <a:prstGeom prst="roundRect">
            <a:avLst>
              <a:gd name="adj" fmla="val 50000"/>
            </a:avLst>
          </a:prstGeom>
          <a:solidFill>
            <a:srgbClr val="E2E2E2"/>
          </a:solidFill>
          <a:ln/>
        </p:spPr>
        <p:txBody>
          <a:bodyPr/>
          <a:lstStyle/>
          <a:p>
            <a:endParaRPr lang="en-GB"/>
          </a:p>
        </p:txBody>
      </p:sp>
      <p:sp>
        <p:nvSpPr>
          <p:cNvPr id="8" name="Shape 6"/>
          <p:cNvSpPr/>
          <p:nvPr/>
        </p:nvSpPr>
        <p:spPr>
          <a:xfrm>
            <a:off x="10908792" y="530352"/>
            <a:ext cx="310896" cy="82296"/>
          </a:xfrm>
          <a:prstGeom prst="roundRect">
            <a:avLst>
              <a:gd name="adj" fmla="val 50000"/>
            </a:avLst>
          </a:prstGeom>
          <a:solidFill>
            <a:srgbClr val="D7263D"/>
          </a:solidFill>
          <a:ln/>
        </p:spPr>
        <p:txBody>
          <a:bodyPr/>
          <a:lstStyle/>
          <a:p>
            <a:endParaRPr lang="en-GB"/>
          </a:p>
        </p:txBody>
      </p:sp>
      <p:sp>
        <p:nvSpPr>
          <p:cNvPr id="9" name="Shape 7"/>
          <p:cNvSpPr/>
          <p:nvPr/>
        </p:nvSpPr>
        <p:spPr>
          <a:xfrm>
            <a:off x="11329416" y="530352"/>
            <a:ext cx="310896" cy="82296"/>
          </a:xfrm>
          <a:prstGeom prst="roundRect">
            <a:avLst>
              <a:gd name="adj" fmla="val 50000"/>
            </a:avLst>
          </a:prstGeom>
          <a:solidFill>
            <a:srgbClr val="E2E2E2"/>
          </a:solidFill>
          <a:ln/>
        </p:spPr>
        <p:txBody>
          <a:bodyPr/>
          <a:lstStyle/>
          <a:p>
            <a:endParaRPr lang="en-GB"/>
          </a:p>
        </p:txBody>
      </p:sp>
      <p:sp>
        <p:nvSpPr>
          <p:cNvPr id="10" name="Text 8"/>
          <p:cNvSpPr/>
          <p:nvPr/>
        </p:nvSpPr>
        <p:spPr>
          <a:xfrm>
            <a:off x="548640" y="1417320"/>
            <a:ext cx="10881360" cy="594360"/>
          </a:xfrm>
          <a:prstGeom prst="rect">
            <a:avLst/>
          </a:prstGeom>
          <a:noFill/>
          <a:ln/>
        </p:spPr>
        <p:txBody>
          <a:bodyPr wrap="square" rtlCol="0" anchor="ctr"/>
          <a:lstStyle/>
          <a:p>
            <a:pPr marL="0" indent="0">
              <a:lnSpc>
                <a:spcPct val="125000"/>
              </a:lnSpc>
              <a:buNone/>
            </a:pPr>
            <a:r>
              <a:rPr lang="en-US" sz="1300" dirty="0">
                <a:solidFill>
                  <a:srgbClr val="3A3A3A"/>
                </a:solidFill>
                <a:latin typeface="Calibri" pitchFamily="34" charset="0"/>
                <a:ea typeface="Calibri" pitchFamily="34" charset="-122"/>
                <a:cs typeface="Calibri" pitchFamily="34" charset="-120"/>
              </a:rPr>
              <a:t>A single DAG — nyc_taxi_pipeline_dag — verifies that Kafka and ClickHouse are reachable before triggering the streaming simulation, with automatic retries on failure.</a:t>
            </a:r>
            <a:endParaRPr lang="en-US" sz="1300" dirty="0"/>
          </a:p>
        </p:txBody>
      </p:sp>
      <p:sp>
        <p:nvSpPr>
          <p:cNvPr id="11" name="Shape 9"/>
          <p:cNvSpPr/>
          <p:nvPr/>
        </p:nvSpPr>
        <p:spPr>
          <a:xfrm>
            <a:off x="1280160" y="2377440"/>
            <a:ext cx="3383280" cy="1188720"/>
          </a:xfrm>
          <a:prstGeom prst="roundRect">
            <a:avLst>
              <a:gd name="adj" fmla="val 6923"/>
            </a:avLst>
          </a:prstGeom>
          <a:solidFill>
            <a:srgbClr val="FFFFFF"/>
          </a:solidFill>
          <a:ln w="15875">
            <a:solidFill>
              <a:srgbClr val="E2E2E2"/>
            </a:solidFill>
            <a:prstDash val="solid"/>
          </a:ln>
        </p:spPr>
        <p:txBody>
          <a:bodyPr/>
          <a:lstStyle/>
          <a:p>
            <a:endParaRPr lang="en-GB"/>
          </a:p>
        </p:txBody>
      </p:sp>
      <p:sp>
        <p:nvSpPr>
          <p:cNvPr id="12" name="Shape 10"/>
          <p:cNvSpPr/>
          <p:nvPr/>
        </p:nvSpPr>
        <p:spPr>
          <a:xfrm>
            <a:off x="1481328" y="2578608"/>
            <a:ext cx="457200" cy="457200"/>
          </a:xfrm>
          <a:prstGeom prst="ellipse">
            <a:avLst/>
          </a:prstGeom>
          <a:solidFill>
            <a:srgbClr val="FAFAFA"/>
          </a:solidFill>
          <a:ln/>
        </p:spPr>
        <p:txBody>
          <a:bodyPr/>
          <a:lstStyle/>
          <a:p>
            <a:endParaRPr lang="en-GB"/>
          </a:p>
        </p:txBody>
      </p:sp>
      <p:pic>
        <p:nvPicPr>
          <p:cNvPr id="13" name="Image 0" descr="/home/claude/assets/FiWifi_black_r.png"/>
          <p:cNvPicPr>
            <a:picLocks noChangeAspect="1"/>
          </p:cNvPicPr>
          <p:nvPr/>
        </p:nvPicPr>
        <p:blipFill>
          <a:blip r:embed="rId3"/>
          <a:stretch>
            <a:fillRect/>
          </a:stretch>
        </p:blipFill>
        <p:spPr>
          <a:xfrm>
            <a:off x="1581912" y="2679192"/>
            <a:ext cx="256032" cy="256032"/>
          </a:xfrm>
          <a:prstGeom prst="rect">
            <a:avLst/>
          </a:prstGeom>
        </p:spPr>
      </p:pic>
      <p:sp>
        <p:nvSpPr>
          <p:cNvPr id="14" name="Text 11"/>
          <p:cNvSpPr/>
          <p:nvPr/>
        </p:nvSpPr>
        <p:spPr>
          <a:xfrm>
            <a:off x="2057400" y="2542032"/>
            <a:ext cx="2468880" cy="320040"/>
          </a:xfrm>
          <a:prstGeom prst="rect">
            <a:avLst/>
          </a:prstGeom>
          <a:noFill/>
          <a:ln/>
        </p:spPr>
        <p:txBody>
          <a:bodyPr wrap="square" rtlCol="0" anchor="ctr"/>
          <a:lstStyle/>
          <a:p>
            <a:pPr marL="0" indent="0">
              <a:buNone/>
            </a:pPr>
            <a:r>
              <a:rPr lang="en-US" sz="1100" b="1" dirty="0">
                <a:solidFill>
                  <a:srgbClr val="141414"/>
                </a:solidFill>
                <a:latin typeface="Courier New" pitchFamily="34" charset="0"/>
                <a:ea typeface="Courier New" pitchFamily="34" charset="-122"/>
                <a:cs typeface="Courier New" pitchFamily="34" charset="-120"/>
              </a:rPr>
              <a:t>verify_kafka_connectivity</a:t>
            </a:r>
            <a:endParaRPr lang="en-US" sz="1100" dirty="0"/>
          </a:p>
        </p:txBody>
      </p:sp>
      <p:sp>
        <p:nvSpPr>
          <p:cNvPr id="15" name="Text 12"/>
          <p:cNvSpPr/>
          <p:nvPr/>
        </p:nvSpPr>
        <p:spPr>
          <a:xfrm>
            <a:off x="2057400" y="2880360"/>
            <a:ext cx="2468880" cy="548640"/>
          </a:xfrm>
          <a:prstGeom prst="rect">
            <a:avLst/>
          </a:prstGeom>
          <a:noFill/>
          <a:ln/>
        </p:spPr>
        <p:txBody>
          <a:bodyPr wrap="square" rtlCol="0" anchor="ctr"/>
          <a:lstStyle/>
          <a:p>
            <a:pPr marL="0" indent="0">
              <a:lnSpc>
                <a:spcPct val="115000"/>
              </a:lnSpc>
              <a:buNone/>
            </a:pPr>
            <a:r>
              <a:rPr lang="en-US" sz="1000" dirty="0">
                <a:solidFill>
                  <a:srgbClr val="6B6B6B"/>
                </a:solidFill>
                <a:latin typeface="Calibri" pitchFamily="34" charset="0"/>
                <a:ea typeface="Calibri" pitchFamily="34" charset="-122"/>
                <a:cs typeface="Calibri" pitchFamily="34" charset="-120"/>
              </a:rPr>
              <a:t>Checks kafka:9092 is reachable</a:t>
            </a:r>
            <a:endParaRPr lang="en-US" sz="1000" dirty="0"/>
          </a:p>
        </p:txBody>
      </p:sp>
      <p:sp>
        <p:nvSpPr>
          <p:cNvPr id="16" name="Shape 13"/>
          <p:cNvSpPr/>
          <p:nvPr/>
        </p:nvSpPr>
        <p:spPr>
          <a:xfrm>
            <a:off x="5760720" y="2377440"/>
            <a:ext cx="3383280" cy="1188720"/>
          </a:xfrm>
          <a:prstGeom prst="roundRect">
            <a:avLst>
              <a:gd name="adj" fmla="val 6923"/>
            </a:avLst>
          </a:prstGeom>
          <a:solidFill>
            <a:srgbClr val="FFFFFF"/>
          </a:solidFill>
          <a:ln w="15875">
            <a:solidFill>
              <a:srgbClr val="E2E2E2"/>
            </a:solidFill>
            <a:prstDash val="solid"/>
          </a:ln>
        </p:spPr>
        <p:txBody>
          <a:bodyPr/>
          <a:lstStyle/>
          <a:p>
            <a:endParaRPr lang="en-GB"/>
          </a:p>
        </p:txBody>
      </p:sp>
      <p:sp>
        <p:nvSpPr>
          <p:cNvPr id="17" name="Shape 14"/>
          <p:cNvSpPr/>
          <p:nvPr/>
        </p:nvSpPr>
        <p:spPr>
          <a:xfrm>
            <a:off x="5961888" y="2578608"/>
            <a:ext cx="457200" cy="457200"/>
          </a:xfrm>
          <a:prstGeom prst="ellipse">
            <a:avLst/>
          </a:prstGeom>
          <a:solidFill>
            <a:srgbClr val="FAFAFA"/>
          </a:solidFill>
          <a:ln/>
        </p:spPr>
        <p:txBody>
          <a:bodyPr/>
          <a:lstStyle/>
          <a:p>
            <a:endParaRPr lang="en-GB"/>
          </a:p>
        </p:txBody>
      </p:sp>
      <p:pic>
        <p:nvPicPr>
          <p:cNvPr id="18" name="Image 1" descr="/home/claude/assets/FiServer_black_r.png"/>
          <p:cNvPicPr>
            <a:picLocks noChangeAspect="1"/>
          </p:cNvPicPr>
          <p:nvPr/>
        </p:nvPicPr>
        <p:blipFill>
          <a:blip r:embed="rId4"/>
          <a:stretch>
            <a:fillRect/>
          </a:stretch>
        </p:blipFill>
        <p:spPr>
          <a:xfrm>
            <a:off x="6062472" y="2679192"/>
            <a:ext cx="256032" cy="256032"/>
          </a:xfrm>
          <a:prstGeom prst="rect">
            <a:avLst/>
          </a:prstGeom>
        </p:spPr>
      </p:pic>
      <p:sp>
        <p:nvSpPr>
          <p:cNvPr id="19" name="Text 15"/>
          <p:cNvSpPr/>
          <p:nvPr/>
        </p:nvSpPr>
        <p:spPr>
          <a:xfrm>
            <a:off x="6537960" y="2542032"/>
            <a:ext cx="2514600" cy="320040"/>
          </a:xfrm>
          <a:prstGeom prst="rect">
            <a:avLst/>
          </a:prstGeom>
          <a:noFill/>
          <a:ln/>
        </p:spPr>
        <p:txBody>
          <a:bodyPr wrap="square" rtlCol="0" anchor="ctr"/>
          <a:lstStyle/>
          <a:p>
            <a:pPr marL="0" indent="0">
              <a:buNone/>
            </a:pPr>
            <a:r>
              <a:rPr lang="en-US" sz="930" b="1" dirty="0">
                <a:solidFill>
                  <a:srgbClr val="141414"/>
                </a:solidFill>
                <a:latin typeface="Courier New" pitchFamily="34" charset="0"/>
                <a:ea typeface="Courier New" pitchFamily="34" charset="-122"/>
                <a:cs typeface="Courier New" pitchFamily="34" charset="-120"/>
              </a:rPr>
              <a:t>verify_clickhouse_connectivity</a:t>
            </a:r>
            <a:endParaRPr lang="en-US" sz="930" dirty="0"/>
          </a:p>
        </p:txBody>
      </p:sp>
      <p:sp>
        <p:nvSpPr>
          <p:cNvPr id="20" name="Text 16"/>
          <p:cNvSpPr/>
          <p:nvPr/>
        </p:nvSpPr>
        <p:spPr>
          <a:xfrm>
            <a:off x="6537960" y="2880360"/>
            <a:ext cx="2468880" cy="548640"/>
          </a:xfrm>
          <a:prstGeom prst="rect">
            <a:avLst/>
          </a:prstGeom>
          <a:noFill/>
          <a:ln/>
        </p:spPr>
        <p:txBody>
          <a:bodyPr wrap="square" rtlCol="0" anchor="ctr"/>
          <a:lstStyle/>
          <a:p>
            <a:pPr marL="0" indent="0">
              <a:lnSpc>
                <a:spcPct val="115000"/>
              </a:lnSpc>
              <a:buNone/>
            </a:pPr>
            <a:r>
              <a:rPr lang="en-US" sz="1000" dirty="0">
                <a:solidFill>
                  <a:srgbClr val="6B6B6B"/>
                </a:solidFill>
                <a:latin typeface="Calibri" pitchFamily="34" charset="0"/>
                <a:ea typeface="Calibri" pitchFamily="34" charset="-122"/>
                <a:cs typeface="Calibri" pitchFamily="34" charset="-120"/>
              </a:rPr>
              <a:t>Pings the ClickHouse HTTP endpoint</a:t>
            </a:r>
            <a:endParaRPr lang="en-US" sz="1000" dirty="0"/>
          </a:p>
        </p:txBody>
      </p:sp>
      <p:sp>
        <p:nvSpPr>
          <p:cNvPr id="21" name="Shape 17"/>
          <p:cNvSpPr/>
          <p:nvPr/>
        </p:nvSpPr>
        <p:spPr>
          <a:xfrm>
            <a:off x="2971800" y="3566160"/>
            <a:ext cx="0" cy="320040"/>
          </a:xfrm>
          <a:prstGeom prst="line">
            <a:avLst/>
          </a:prstGeom>
          <a:noFill/>
          <a:ln w="22225">
            <a:solidFill>
              <a:srgbClr val="D7263D"/>
            </a:solidFill>
            <a:prstDash val="solid"/>
          </a:ln>
        </p:spPr>
        <p:txBody>
          <a:bodyPr/>
          <a:lstStyle/>
          <a:p>
            <a:endParaRPr lang="en-GB"/>
          </a:p>
        </p:txBody>
      </p:sp>
      <p:sp>
        <p:nvSpPr>
          <p:cNvPr id="22" name="Shape 18"/>
          <p:cNvSpPr/>
          <p:nvPr/>
        </p:nvSpPr>
        <p:spPr>
          <a:xfrm>
            <a:off x="7452360" y="3566160"/>
            <a:ext cx="0" cy="320040"/>
          </a:xfrm>
          <a:prstGeom prst="line">
            <a:avLst/>
          </a:prstGeom>
          <a:noFill/>
          <a:ln w="22225">
            <a:solidFill>
              <a:srgbClr val="D7263D"/>
            </a:solidFill>
            <a:prstDash val="solid"/>
          </a:ln>
        </p:spPr>
        <p:txBody>
          <a:bodyPr/>
          <a:lstStyle/>
          <a:p>
            <a:endParaRPr lang="en-GB"/>
          </a:p>
        </p:txBody>
      </p:sp>
      <p:sp>
        <p:nvSpPr>
          <p:cNvPr id="23" name="Shape 19"/>
          <p:cNvSpPr/>
          <p:nvPr/>
        </p:nvSpPr>
        <p:spPr>
          <a:xfrm>
            <a:off x="2971800" y="3886200"/>
            <a:ext cx="4480560" cy="0"/>
          </a:xfrm>
          <a:prstGeom prst="line">
            <a:avLst/>
          </a:prstGeom>
          <a:noFill/>
          <a:ln w="22225">
            <a:solidFill>
              <a:srgbClr val="D7263D"/>
            </a:solidFill>
            <a:prstDash val="solid"/>
          </a:ln>
        </p:spPr>
        <p:txBody>
          <a:bodyPr/>
          <a:lstStyle/>
          <a:p>
            <a:endParaRPr lang="en-GB"/>
          </a:p>
        </p:txBody>
      </p:sp>
      <p:sp>
        <p:nvSpPr>
          <p:cNvPr id="24" name="Shape 20"/>
          <p:cNvSpPr/>
          <p:nvPr/>
        </p:nvSpPr>
        <p:spPr>
          <a:xfrm>
            <a:off x="5212080" y="3886200"/>
            <a:ext cx="0" cy="320040"/>
          </a:xfrm>
          <a:prstGeom prst="line">
            <a:avLst/>
          </a:prstGeom>
          <a:noFill/>
          <a:ln w="22225">
            <a:solidFill>
              <a:srgbClr val="D7263D"/>
            </a:solidFill>
            <a:prstDash val="solid"/>
            <a:tailEnd type="triangle"/>
          </a:ln>
        </p:spPr>
        <p:txBody>
          <a:bodyPr/>
          <a:lstStyle/>
          <a:p>
            <a:endParaRPr lang="en-GB"/>
          </a:p>
        </p:txBody>
      </p:sp>
      <p:sp>
        <p:nvSpPr>
          <p:cNvPr id="25" name="Shape 21"/>
          <p:cNvSpPr/>
          <p:nvPr/>
        </p:nvSpPr>
        <p:spPr>
          <a:xfrm>
            <a:off x="3246120" y="4206240"/>
            <a:ext cx="3931920" cy="960120"/>
          </a:xfrm>
          <a:prstGeom prst="roundRect">
            <a:avLst>
              <a:gd name="adj" fmla="val 8571"/>
            </a:avLst>
          </a:prstGeom>
          <a:solidFill>
            <a:srgbClr val="141414"/>
          </a:solidFill>
          <a:ln/>
        </p:spPr>
        <p:txBody>
          <a:bodyPr/>
          <a:lstStyle/>
          <a:p>
            <a:endParaRPr lang="en-GB"/>
          </a:p>
        </p:txBody>
      </p:sp>
      <p:sp>
        <p:nvSpPr>
          <p:cNvPr id="26" name="Shape 22"/>
          <p:cNvSpPr/>
          <p:nvPr/>
        </p:nvSpPr>
        <p:spPr>
          <a:xfrm>
            <a:off x="3429000" y="4389120"/>
            <a:ext cx="566928" cy="566928"/>
          </a:xfrm>
          <a:prstGeom prst="ellipse">
            <a:avLst/>
          </a:prstGeom>
          <a:solidFill>
            <a:srgbClr val="D7263D"/>
          </a:solidFill>
          <a:ln/>
        </p:spPr>
        <p:txBody>
          <a:bodyPr/>
          <a:lstStyle/>
          <a:p>
            <a:endParaRPr lang="en-GB"/>
          </a:p>
        </p:txBody>
      </p:sp>
      <p:pic>
        <p:nvPicPr>
          <p:cNvPr id="27" name="Image 2" descr="/home/claude/assets/FiPlayCircle_black_r.png"/>
          <p:cNvPicPr>
            <a:picLocks noChangeAspect="1"/>
          </p:cNvPicPr>
          <p:nvPr/>
        </p:nvPicPr>
        <p:blipFill>
          <a:blip r:embed="rId5"/>
          <a:stretch>
            <a:fillRect/>
          </a:stretch>
        </p:blipFill>
        <p:spPr>
          <a:xfrm>
            <a:off x="3547872" y="4507992"/>
            <a:ext cx="329184" cy="329184"/>
          </a:xfrm>
          <a:prstGeom prst="rect">
            <a:avLst/>
          </a:prstGeom>
        </p:spPr>
      </p:pic>
      <p:sp>
        <p:nvSpPr>
          <p:cNvPr id="28" name="Text 23"/>
          <p:cNvSpPr/>
          <p:nvPr/>
        </p:nvSpPr>
        <p:spPr>
          <a:xfrm>
            <a:off x="4114800" y="4343400"/>
            <a:ext cx="2880360" cy="274320"/>
          </a:xfrm>
          <a:prstGeom prst="rect">
            <a:avLst/>
          </a:prstGeom>
          <a:noFill/>
          <a:ln/>
        </p:spPr>
        <p:txBody>
          <a:bodyPr wrap="square"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trigger_stream_simulation</a:t>
            </a:r>
            <a:endParaRPr lang="en-US" sz="1150" dirty="0"/>
          </a:p>
        </p:txBody>
      </p:sp>
      <p:sp>
        <p:nvSpPr>
          <p:cNvPr id="29" name="Text 24"/>
          <p:cNvSpPr/>
          <p:nvPr/>
        </p:nvSpPr>
        <p:spPr>
          <a:xfrm>
            <a:off x="4114800" y="4663440"/>
            <a:ext cx="2880360" cy="365760"/>
          </a:xfrm>
          <a:prstGeom prst="rect">
            <a:avLst/>
          </a:prstGeom>
          <a:noFill/>
          <a:ln/>
        </p:spPr>
        <p:txBody>
          <a:bodyPr wrap="square" rtlCol="0" anchor="ctr"/>
          <a:lstStyle/>
          <a:p>
            <a:pPr marL="0" indent="0">
              <a:buNone/>
            </a:pPr>
            <a:r>
              <a:rPr lang="en-US" sz="1000" dirty="0">
                <a:solidFill>
                  <a:srgbClr val="B8B8B8"/>
                </a:solidFill>
                <a:latin typeface="Calibri" pitchFamily="34" charset="0"/>
                <a:ea typeface="Calibri" pitchFamily="34" charset="-122"/>
                <a:cs typeface="Calibri" pitchFamily="34" charset="-120"/>
              </a:rPr>
              <a:t>Kicks off the taxi data stream</a:t>
            </a:r>
            <a:endParaRPr lang="en-US" sz="1000" dirty="0"/>
          </a:p>
        </p:txBody>
      </p:sp>
      <p:sp>
        <p:nvSpPr>
          <p:cNvPr id="30" name="Shape 25"/>
          <p:cNvSpPr/>
          <p:nvPr/>
        </p:nvSpPr>
        <p:spPr>
          <a:xfrm>
            <a:off x="548640" y="5486400"/>
            <a:ext cx="3502152" cy="777240"/>
          </a:xfrm>
          <a:prstGeom prst="roundRect">
            <a:avLst>
              <a:gd name="adj" fmla="val 8235"/>
            </a:avLst>
          </a:prstGeom>
          <a:solidFill>
            <a:srgbClr val="FFFFFF"/>
          </a:solidFill>
          <a:ln w="12700">
            <a:solidFill>
              <a:srgbClr val="E2E2E2"/>
            </a:solidFill>
            <a:prstDash val="solid"/>
          </a:ln>
        </p:spPr>
        <p:txBody>
          <a:bodyPr/>
          <a:lstStyle/>
          <a:p>
            <a:endParaRPr lang="en-GB"/>
          </a:p>
        </p:txBody>
      </p:sp>
      <p:sp>
        <p:nvSpPr>
          <p:cNvPr id="31" name="Text 26"/>
          <p:cNvSpPr/>
          <p:nvPr/>
        </p:nvSpPr>
        <p:spPr>
          <a:xfrm>
            <a:off x="749808" y="5605272"/>
            <a:ext cx="3099816" cy="274320"/>
          </a:xfrm>
          <a:prstGeom prst="rect">
            <a:avLst/>
          </a:prstGeom>
          <a:noFill/>
          <a:ln/>
        </p:spPr>
        <p:txBody>
          <a:bodyPr wrap="square" rtlCol="0" anchor="ctr"/>
          <a:lstStyle/>
          <a:p>
            <a:pPr marL="0" indent="0">
              <a:buNone/>
            </a:pPr>
            <a:r>
              <a:rPr lang="en-US" sz="950" b="1" kern="0" spc="100" dirty="0">
                <a:solidFill>
                  <a:srgbClr val="D7263D"/>
                </a:solidFill>
                <a:latin typeface="Calibri" pitchFamily="34" charset="0"/>
                <a:ea typeface="Calibri" pitchFamily="34" charset="-122"/>
                <a:cs typeface="Calibri" pitchFamily="34" charset="-120"/>
              </a:rPr>
              <a:t>SCHEDULE</a:t>
            </a:r>
            <a:endParaRPr lang="en-US" sz="950" dirty="0"/>
          </a:p>
        </p:txBody>
      </p:sp>
      <p:sp>
        <p:nvSpPr>
          <p:cNvPr id="32" name="Text 27"/>
          <p:cNvSpPr/>
          <p:nvPr/>
        </p:nvSpPr>
        <p:spPr>
          <a:xfrm>
            <a:off x="749808" y="5870448"/>
            <a:ext cx="3099816" cy="320040"/>
          </a:xfrm>
          <a:prstGeom prst="rect">
            <a:avLst/>
          </a:prstGeom>
          <a:noFill/>
          <a:ln/>
        </p:spPr>
        <p:txBody>
          <a:bodyPr wrap="square" rtlCol="0" anchor="ctr"/>
          <a:lstStyle/>
          <a:p>
            <a:pPr marL="0" indent="0">
              <a:buNone/>
            </a:pPr>
            <a:r>
              <a:rPr lang="en-US" sz="1200" dirty="0">
                <a:solidFill>
                  <a:srgbClr val="141414"/>
                </a:solidFill>
                <a:latin typeface="Calibri" pitchFamily="34" charset="0"/>
                <a:ea typeface="Calibri" pitchFamily="34" charset="-122"/>
                <a:cs typeface="Calibri" pitchFamily="34" charset="-120"/>
              </a:rPr>
              <a:t>Manual trigger</a:t>
            </a:r>
            <a:endParaRPr lang="en-US" sz="1200" dirty="0"/>
          </a:p>
        </p:txBody>
      </p:sp>
      <p:sp>
        <p:nvSpPr>
          <p:cNvPr id="33" name="Shape 28"/>
          <p:cNvSpPr/>
          <p:nvPr/>
        </p:nvSpPr>
        <p:spPr>
          <a:xfrm>
            <a:off x="4233672" y="5486400"/>
            <a:ext cx="3502152" cy="777240"/>
          </a:xfrm>
          <a:prstGeom prst="roundRect">
            <a:avLst>
              <a:gd name="adj" fmla="val 8235"/>
            </a:avLst>
          </a:prstGeom>
          <a:solidFill>
            <a:srgbClr val="FFFFFF"/>
          </a:solidFill>
          <a:ln w="12700">
            <a:solidFill>
              <a:srgbClr val="E2E2E2"/>
            </a:solidFill>
            <a:prstDash val="solid"/>
          </a:ln>
        </p:spPr>
        <p:txBody>
          <a:bodyPr/>
          <a:lstStyle/>
          <a:p>
            <a:endParaRPr lang="en-GB"/>
          </a:p>
        </p:txBody>
      </p:sp>
      <p:sp>
        <p:nvSpPr>
          <p:cNvPr id="34" name="Text 29"/>
          <p:cNvSpPr/>
          <p:nvPr/>
        </p:nvSpPr>
        <p:spPr>
          <a:xfrm>
            <a:off x="4434840" y="5605272"/>
            <a:ext cx="3099816" cy="274320"/>
          </a:xfrm>
          <a:prstGeom prst="rect">
            <a:avLst/>
          </a:prstGeom>
          <a:noFill/>
          <a:ln/>
        </p:spPr>
        <p:txBody>
          <a:bodyPr wrap="square" rtlCol="0" anchor="ctr"/>
          <a:lstStyle/>
          <a:p>
            <a:pPr marL="0" indent="0">
              <a:buNone/>
            </a:pPr>
            <a:r>
              <a:rPr lang="en-US" sz="950" b="1" kern="0" spc="100" dirty="0">
                <a:solidFill>
                  <a:srgbClr val="D7263D"/>
                </a:solidFill>
                <a:latin typeface="Calibri" pitchFamily="34" charset="0"/>
                <a:ea typeface="Calibri" pitchFamily="34" charset="-122"/>
                <a:cs typeface="Calibri" pitchFamily="34" charset="-120"/>
              </a:rPr>
              <a:t>RETRIES</a:t>
            </a:r>
            <a:endParaRPr lang="en-US" sz="950" dirty="0"/>
          </a:p>
        </p:txBody>
      </p:sp>
      <p:sp>
        <p:nvSpPr>
          <p:cNvPr id="35" name="Text 30"/>
          <p:cNvSpPr/>
          <p:nvPr/>
        </p:nvSpPr>
        <p:spPr>
          <a:xfrm>
            <a:off x="4434840" y="5870448"/>
            <a:ext cx="3099816" cy="320040"/>
          </a:xfrm>
          <a:prstGeom prst="rect">
            <a:avLst/>
          </a:prstGeom>
          <a:noFill/>
          <a:ln/>
        </p:spPr>
        <p:txBody>
          <a:bodyPr wrap="square" rtlCol="0" anchor="ctr"/>
          <a:lstStyle/>
          <a:p>
            <a:pPr marL="0" indent="0">
              <a:buNone/>
            </a:pPr>
            <a:r>
              <a:rPr lang="en-US" sz="1200" dirty="0">
                <a:solidFill>
                  <a:srgbClr val="141414"/>
                </a:solidFill>
                <a:latin typeface="Calibri" pitchFamily="34" charset="0"/>
                <a:ea typeface="Calibri" pitchFamily="34" charset="-122"/>
                <a:cs typeface="Calibri" pitchFamily="34" charset="-120"/>
              </a:rPr>
              <a:t>1, with 1-minute delay</a:t>
            </a:r>
            <a:endParaRPr lang="en-US" sz="1200" dirty="0"/>
          </a:p>
        </p:txBody>
      </p:sp>
      <p:sp>
        <p:nvSpPr>
          <p:cNvPr id="36" name="Shape 31"/>
          <p:cNvSpPr/>
          <p:nvPr/>
        </p:nvSpPr>
        <p:spPr>
          <a:xfrm>
            <a:off x="7918704" y="5486400"/>
            <a:ext cx="3502152" cy="777240"/>
          </a:xfrm>
          <a:prstGeom prst="roundRect">
            <a:avLst>
              <a:gd name="adj" fmla="val 8235"/>
            </a:avLst>
          </a:prstGeom>
          <a:solidFill>
            <a:srgbClr val="FFFFFF"/>
          </a:solidFill>
          <a:ln w="12700">
            <a:solidFill>
              <a:srgbClr val="E2E2E2"/>
            </a:solidFill>
            <a:prstDash val="solid"/>
          </a:ln>
        </p:spPr>
        <p:txBody>
          <a:bodyPr/>
          <a:lstStyle/>
          <a:p>
            <a:endParaRPr lang="en-GB"/>
          </a:p>
        </p:txBody>
      </p:sp>
      <p:sp>
        <p:nvSpPr>
          <p:cNvPr id="37" name="Text 32"/>
          <p:cNvSpPr/>
          <p:nvPr/>
        </p:nvSpPr>
        <p:spPr>
          <a:xfrm>
            <a:off x="8119872" y="5605272"/>
            <a:ext cx="3099816" cy="274320"/>
          </a:xfrm>
          <a:prstGeom prst="rect">
            <a:avLst/>
          </a:prstGeom>
          <a:noFill/>
          <a:ln/>
        </p:spPr>
        <p:txBody>
          <a:bodyPr wrap="square" rtlCol="0" anchor="ctr"/>
          <a:lstStyle/>
          <a:p>
            <a:pPr marL="0" indent="0">
              <a:buNone/>
            </a:pPr>
            <a:r>
              <a:rPr lang="en-US" sz="950" b="1" kern="0" spc="100" dirty="0">
                <a:solidFill>
                  <a:srgbClr val="D7263D"/>
                </a:solidFill>
                <a:latin typeface="Calibri" pitchFamily="34" charset="0"/>
                <a:ea typeface="Calibri" pitchFamily="34" charset="-122"/>
                <a:cs typeface="Calibri" pitchFamily="34" charset="-120"/>
              </a:rPr>
              <a:t>FAILURE ALERTS</a:t>
            </a:r>
            <a:endParaRPr lang="en-US" sz="950" dirty="0"/>
          </a:p>
        </p:txBody>
      </p:sp>
      <p:sp>
        <p:nvSpPr>
          <p:cNvPr id="38" name="Text 33"/>
          <p:cNvSpPr/>
          <p:nvPr/>
        </p:nvSpPr>
        <p:spPr>
          <a:xfrm>
            <a:off x="8119872" y="5870448"/>
            <a:ext cx="3099816" cy="320040"/>
          </a:xfrm>
          <a:prstGeom prst="rect">
            <a:avLst/>
          </a:prstGeom>
          <a:noFill/>
          <a:ln/>
        </p:spPr>
        <p:txBody>
          <a:bodyPr wrap="square" rtlCol="0" anchor="ctr"/>
          <a:lstStyle/>
          <a:p>
            <a:pPr marL="0" indent="0">
              <a:buNone/>
            </a:pPr>
            <a:r>
              <a:rPr lang="en-US" sz="1200" dirty="0">
                <a:solidFill>
                  <a:srgbClr val="141414"/>
                </a:solidFill>
                <a:latin typeface="Calibri" pitchFamily="34" charset="0"/>
                <a:ea typeface="Calibri" pitchFamily="34" charset="-122"/>
                <a:cs typeface="Calibri" pitchFamily="34" charset="-120"/>
              </a:rPr>
              <a:t>Email on failure (configurable)</a:t>
            </a:r>
            <a:endParaRPr lang="en-US" sz="1200" dirty="0"/>
          </a:p>
        </p:txBody>
      </p:sp>
      <p:sp>
        <p:nvSpPr>
          <p:cNvPr id="39" name="Text 3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BDBC13EE-FDF2-8912-6E14-41077C6601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6DE2FD4-B2F2-8812-74E9-E04EC91BE9D3}"/>
              </a:ext>
            </a:extLst>
          </p:cNvPr>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STEP 5 OF 6  —  ORCHESTRATION</a:t>
            </a:r>
            <a:endParaRPr lang="en-US" sz="1200" dirty="0"/>
          </a:p>
        </p:txBody>
      </p:sp>
      <p:sp>
        <p:nvSpPr>
          <p:cNvPr id="3" name="Text 1">
            <a:extLst>
              <a:ext uri="{FF2B5EF4-FFF2-40B4-BE49-F238E27FC236}">
                <a16:creationId xmlns:a16="http://schemas.microsoft.com/office/drawing/2014/main" id="{08331EA3-95B1-04F1-E323-D105E6546EF2}"/>
              </a:ext>
            </a:extLst>
          </p:cNvPr>
          <p:cNvSpPr/>
          <p:nvPr/>
        </p:nvSpPr>
        <p:spPr>
          <a:xfrm>
            <a:off x="548640" y="749808"/>
            <a:ext cx="10881360" cy="594360"/>
          </a:xfrm>
          <a:prstGeom prst="rect">
            <a:avLst/>
          </a:prstGeom>
          <a:noFill/>
          <a:ln/>
        </p:spPr>
        <p:txBody>
          <a:bodyPr wrap="square" rtlCol="0" anchor="ctr"/>
          <a:lstStyle/>
          <a:p>
            <a:pPr marL="0" indent="0">
              <a:buNone/>
            </a:pPr>
            <a:r>
              <a:rPr lang="en-US" sz="3000" b="1" dirty="0">
                <a:solidFill>
                  <a:srgbClr val="141414"/>
                </a:solidFill>
                <a:latin typeface="Bookman Old Style" pitchFamily="34" charset="0"/>
                <a:ea typeface="Bookman Old Style" pitchFamily="34" charset="-122"/>
                <a:cs typeface="Bookman Old Style" pitchFamily="34" charset="-120"/>
              </a:rPr>
              <a:t>Airflow — keeping every stage honest</a:t>
            </a:r>
            <a:endParaRPr lang="en-US" sz="3000" dirty="0"/>
          </a:p>
        </p:txBody>
      </p:sp>
      <p:sp>
        <p:nvSpPr>
          <p:cNvPr id="4" name="Shape 2">
            <a:extLst>
              <a:ext uri="{FF2B5EF4-FFF2-40B4-BE49-F238E27FC236}">
                <a16:creationId xmlns:a16="http://schemas.microsoft.com/office/drawing/2014/main" id="{40C6EFD0-953C-60EB-830D-429D06ED1557}"/>
              </a:ext>
            </a:extLst>
          </p:cNvPr>
          <p:cNvSpPr/>
          <p:nvPr/>
        </p:nvSpPr>
        <p:spPr>
          <a:xfrm>
            <a:off x="9226296" y="530352"/>
            <a:ext cx="310896" cy="82296"/>
          </a:xfrm>
          <a:prstGeom prst="roundRect">
            <a:avLst>
              <a:gd name="adj" fmla="val 50000"/>
            </a:avLst>
          </a:prstGeom>
          <a:solidFill>
            <a:srgbClr val="E2E2E2"/>
          </a:solidFill>
          <a:ln/>
        </p:spPr>
        <p:txBody>
          <a:bodyPr/>
          <a:lstStyle/>
          <a:p>
            <a:endParaRPr lang="en-GB"/>
          </a:p>
        </p:txBody>
      </p:sp>
      <p:sp>
        <p:nvSpPr>
          <p:cNvPr id="5" name="Shape 3">
            <a:extLst>
              <a:ext uri="{FF2B5EF4-FFF2-40B4-BE49-F238E27FC236}">
                <a16:creationId xmlns:a16="http://schemas.microsoft.com/office/drawing/2014/main" id="{45A38175-5247-A7D8-739A-B13F31099C0A}"/>
              </a:ext>
            </a:extLst>
          </p:cNvPr>
          <p:cNvSpPr/>
          <p:nvPr/>
        </p:nvSpPr>
        <p:spPr>
          <a:xfrm>
            <a:off x="9646920" y="530352"/>
            <a:ext cx="310896" cy="82296"/>
          </a:xfrm>
          <a:prstGeom prst="roundRect">
            <a:avLst>
              <a:gd name="adj" fmla="val 50000"/>
            </a:avLst>
          </a:prstGeom>
          <a:solidFill>
            <a:srgbClr val="E2E2E2"/>
          </a:solidFill>
          <a:ln/>
        </p:spPr>
        <p:txBody>
          <a:bodyPr/>
          <a:lstStyle/>
          <a:p>
            <a:endParaRPr lang="en-GB"/>
          </a:p>
        </p:txBody>
      </p:sp>
      <p:sp>
        <p:nvSpPr>
          <p:cNvPr id="6" name="Shape 4">
            <a:extLst>
              <a:ext uri="{FF2B5EF4-FFF2-40B4-BE49-F238E27FC236}">
                <a16:creationId xmlns:a16="http://schemas.microsoft.com/office/drawing/2014/main" id="{5BDC74DE-0956-04CA-AD7A-1ED52709DF19}"/>
              </a:ext>
            </a:extLst>
          </p:cNvPr>
          <p:cNvSpPr/>
          <p:nvPr/>
        </p:nvSpPr>
        <p:spPr>
          <a:xfrm>
            <a:off x="10067544" y="530352"/>
            <a:ext cx="310896" cy="82296"/>
          </a:xfrm>
          <a:prstGeom prst="roundRect">
            <a:avLst>
              <a:gd name="adj" fmla="val 50000"/>
            </a:avLst>
          </a:prstGeom>
          <a:solidFill>
            <a:srgbClr val="E2E2E2"/>
          </a:solidFill>
          <a:ln/>
        </p:spPr>
        <p:txBody>
          <a:bodyPr/>
          <a:lstStyle/>
          <a:p>
            <a:endParaRPr lang="en-GB"/>
          </a:p>
        </p:txBody>
      </p:sp>
      <p:sp>
        <p:nvSpPr>
          <p:cNvPr id="7" name="Shape 5">
            <a:extLst>
              <a:ext uri="{FF2B5EF4-FFF2-40B4-BE49-F238E27FC236}">
                <a16:creationId xmlns:a16="http://schemas.microsoft.com/office/drawing/2014/main" id="{184FD411-7C49-EA95-220C-1F2C9EDEB497}"/>
              </a:ext>
            </a:extLst>
          </p:cNvPr>
          <p:cNvSpPr/>
          <p:nvPr/>
        </p:nvSpPr>
        <p:spPr>
          <a:xfrm>
            <a:off x="10488168" y="530352"/>
            <a:ext cx="310896" cy="82296"/>
          </a:xfrm>
          <a:prstGeom prst="roundRect">
            <a:avLst>
              <a:gd name="adj" fmla="val 50000"/>
            </a:avLst>
          </a:prstGeom>
          <a:solidFill>
            <a:srgbClr val="E2E2E2"/>
          </a:solidFill>
          <a:ln/>
        </p:spPr>
        <p:txBody>
          <a:bodyPr/>
          <a:lstStyle/>
          <a:p>
            <a:endParaRPr lang="en-GB"/>
          </a:p>
        </p:txBody>
      </p:sp>
      <p:sp>
        <p:nvSpPr>
          <p:cNvPr id="8" name="Shape 6">
            <a:extLst>
              <a:ext uri="{FF2B5EF4-FFF2-40B4-BE49-F238E27FC236}">
                <a16:creationId xmlns:a16="http://schemas.microsoft.com/office/drawing/2014/main" id="{1DEAF726-CB06-D022-B4CD-2A8A0A6861B2}"/>
              </a:ext>
            </a:extLst>
          </p:cNvPr>
          <p:cNvSpPr/>
          <p:nvPr/>
        </p:nvSpPr>
        <p:spPr>
          <a:xfrm>
            <a:off x="10908792" y="530352"/>
            <a:ext cx="310896" cy="82296"/>
          </a:xfrm>
          <a:prstGeom prst="roundRect">
            <a:avLst>
              <a:gd name="adj" fmla="val 50000"/>
            </a:avLst>
          </a:prstGeom>
          <a:solidFill>
            <a:srgbClr val="D7263D"/>
          </a:solidFill>
          <a:ln/>
        </p:spPr>
        <p:txBody>
          <a:bodyPr/>
          <a:lstStyle/>
          <a:p>
            <a:endParaRPr lang="en-GB"/>
          </a:p>
        </p:txBody>
      </p:sp>
      <p:sp>
        <p:nvSpPr>
          <p:cNvPr id="9" name="Shape 7">
            <a:extLst>
              <a:ext uri="{FF2B5EF4-FFF2-40B4-BE49-F238E27FC236}">
                <a16:creationId xmlns:a16="http://schemas.microsoft.com/office/drawing/2014/main" id="{D5BDB507-1870-9613-180F-E0EE64FFF95C}"/>
              </a:ext>
            </a:extLst>
          </p:cNvPr>
          <p:cNvSpPr/>
          <p:nvPr/>
        </p:nvSpPr>
        <p:spPr>
          <a:xfrm>
            <a:off x="11329416" y="530352"/>
            <a:ext cx="310896" cy="82296"/>
          </a:xfrm>
          <a:prstGeom prst="roundRect">
            <a:avLst>
              <a:gd name="adj" fmla="val 50000"/>
            </a:avLst>
          </a:prstGeom>
          <a:solidFill>
            <a:srgbClr val="E2E2E2"/>
          </a:solidFill>
          <a:ln/>
        </p:spPr>
        <p:txBody>
          <a:bodyPr/>
          <a:lstStyle/>
          <a:p>
            <a:endParaRPr lang="en-GB"/>
          </a:p>
        </p:txBody>
      </p:sp>
      <p:pic>
        <p:nvPicPr>
          <p:cNvPr id="41" name="Picture 40">
            <a:extLst>
              <a:ext uri="{FF2B5EF4-FFF2-40B4-BE49-F238E27FC236}">
                <a16:creationId xmlns:a16="http://schemas.microsoft.com/office/drawing/2014/main" id="{47A8B23F-953E-871B-7D85-0F234E2BBB46}"/>
              </a:ext>
            </a:extLst>
          </p:cNvPr>
          <p:cNvPicPr>
            <a:picLocks noChangeAspect="1"/>
          </p:cNvPicPr>
          <p:nvPr/>
        </p:nvPicPr>
        <p:blipFill>
          <a:blip r:embed="rId3"/>
          <a:stretch>
            <a:fillRect/>
          </a:stretch>
        </p:blipFill>
        <p:spPr>
          <a:xfrm>
            <a:off x="451102" y="1636776"/>
            <a:ext cx="6055446" cy="2782761"/>
          </a:xfrm>
          <a:prstGeom prst="rect">
            <a:avLst/>
          </a:prstGeom>
        </p:spPr>
      </p:pic>
      <p:pic>
        <p:nvPicPr>
          <p:cNvPr id="43" name="Picture 42">
            <a:extLst>
              <a:ext uri="{FF2B5EF4-FFF2-40B4-BE49-F238E27FC236}">
                <a16:creationId xmlns:a16="http://schemas.microsoft.com/office/drawing/2014/main" id="{88675E3F-7A29-F1EB-5E03-A2F245162F9A}"/>
              </a:ext>
            </a:extLst>
          </p:cNvPr>
          <p:cNvPicPr>
            <a:picLocks noChangeAspect="1"/>
          </p:cNvPicPr>
          <p:nvPr/>
        </p:nvPicPr>
        <p:blipFill>
          <a:blip r:embed="rId4"/>
          <a:stretch>
            <a:fillRect/>
          </a:stretch>
        </p:blipFill>
        <p:spPr>
          <a:xfrm>
            <a:off x="4432041" y="3329345"/>
            <a:ext cx="7468584" cy="3071455"/>
          </a:xfrm>
          <a:prstGeom prst="rect">
            <a:avLst/>
          </a:prstGeom>
        </p:spPr>
      </p:pic>
    </p:spTree>
    <p:extLst>
      <p:ext uri="{BB962C8B-B14F-4D97-AF65-F5344CB8AC3E}">
        <p14:creationId xmlns:p14="http://schemas.microsoft.com/office/powerpoint/2010/main" val="1414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180" dirty="0">
                <a:solidFill>
                  <a:srgbClr val="D7263D"/>
                </a:solidFill>
                <a:latin typeface="Calibri" pitchFamily="34" charset="0"/>
                <a:ea typeface="Calibri" pitchFamily="34" charset="-122"/>
                <a:cs typeface="Calibri" pitchFamily="34" charset="-120"/>
              </a:rPr>
              <a:t>STEP 6 OF 6  —  AI Agent</a:t>
            </a:r>
            <a:endParaRPr lang="en-US" sz="1200" dirty="0"/>
          </a:p>
        </p:txBody>
      </p:sp>
      <p:sp>
        <p:nvSpPr>
          <p:cNvPr id="3" name="Text 1"/>
          <p:cNvSpPr/>
          <p:nvPr/>
        </p:nvSpPr>
        <p:spPr>
          <a:xfrm>
            <a:off x="548640" y="749808"/>
            <a:ext cx="10515600" cy="59436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AI Agent — where you ask</a:t>
            </a:r>
            <a:endParaRPr lang="en-US" sz="2800" dirty="0"/>
          </a:p>
        </p:txBody>
      </p:sp>
      <p:sp>
        <p:nvSpPr>
          <p:cNvPr id="4" name="Shape 2"/>
          <p:cNvSpPr/>
          <p:nvPr/>
        </p:nvSpPr>
        <p:spPr>
          <a:xfrm>
            <a:off x="9226296" y="530352"/>
            <a:ext cx="310896" cy="82296"/>
          </a:xfrm>
          <a:prstGeom prst="roundRect">
            <a:avLst>
              <a:gd name="adj" fmla="val 50000"/>
            </a:avLst>
          </a:prstGeom>
          <a:solidFill>
            <a:srgbClr val="3A3A3A"/>
          </a:solidFill>
          <a:ln/>
        </p:spPr>
        <p:txBody>
          <a:bodyPr/>
          <a:lstStyle/>
          <a:p>
            <a:endParaRPr/>
          </a:p>
        </p:txBody>
      </p:sp>
      <p:sp>
        <p:nvSpPr>
          <p:cNvPr id="5" name="Shape 3"/>
          <p:cNvSpPr/>
          <p:nvPr/>
        </p:nvSpPr>
        <p:spPr>
          <a:xfrm>
            <a:off x="9646920" y="530352"/>
            <a:ext cx="310896" cy="82296"/>
          </a:xfrm>
          <a:prstGeom prst="roundRect">
            <a:avLst>
              <a:gd name="adj" fmla="val 50000"/>
            </a:avLst>
          </a:prstGeom>
          <a:solidFill>
            <a:srgbClr val="3A3A3A"/>
          </a:solidFill>
          <a:ln/>
        </p:spPr>
        <p:txBody>
          <a:bodyPr/>
          <a:lstStyle/>
          <a:p>
            <a:endParaRPr/>
          </a:p>
        </p:txBody>
      </p:sp>
      <p:sp>
        <p:nvSpPr>
          <p:cNvPr id="6" name="Shape 4"/>
          <p:cNvSpPr/>
          <p:nvPr/>
        </p:nvSpPr>
        <p:spPr>
          <a:xfrm>
            <a:off x="10067544" y="530352"/>
            <a:ext cx="310896" cy="82296"/>
          </a:xfrm>
          <a:prstGeom prst="roundRect">
            <a:avLst>
              <a:gd name="adj" fmla="val 50000"/>
            </a:avLst>
          </a:prstGeom>
          <a:solidFill>
            <a:srgbClr val="3A3A3A"/>
          </a:solidFill>
          <a:ln/>
        </p:spPr>
        <p:txBody>
          <a:bodyPr/>
          <a:lstStyle/>
          <a:p>
            <a:endParaRPr/>
          </a:p>
        </p:txBody>
      </p:sp>
      <p:sp>
        <p:nvSpPr>
          <p:cNvPr id="7" name="Shape 5"/>
          <p:cNvSpPr/>
          <p:nvPr/>
        </p:nvSpPr>
        <p:spPr>
          <a:xfrm>
            <a:off x="10488168" y="530352"/>
            <a:ext cx="310896" cy="82296"/>
          </a:xfrm>
          <a:prstGeom prst="roundRect">
            <a:avLst>
              <a:gd name="adj" fmla="val 50000"/>
            </a:avLst>
          </a:prstGeom>
          <a:solidFill>
            <a:srgbClr val="3A3A3A"/>
          </a:solidFill>
          <a:ln/>
        </p:spPr>
        <p:txBody>
          <a:bodyPr/>
          <a:lstStyle/>
          <a:p>
            <a:endParaRPr/>
          </a:p>
        </p:txBody>
      </p:sp>
      <p:sp>
        <p:nvSpPr>
          <p:cNvPr id="8" name="Shape 6"/>
          <p:cNvSpPr/>
          <p:nvPr/>
        </p:nvSpPr>
        <p:spPr>
          <a:xfrm>
            <a:off x="10908792" y="530352"/>
            <a:ext cx="310896" cy="82296"/>
          </a:xfrm>
          <a:prstGeom prst="roundRect">
            <a:avLst>
              <a:gd name="adj" fmla="val 50000"/>
            </a:avLst>
          </a:prstGeom>
          <a:solidFill>
            <a:srgbClr val="3A3A3A"/>
          </a:solidFill>
          <a:ln/>
        </p:spPr>
        <p:txBody>
          <a:bodyPr/>
          <a:lstStyle/>
          <a:p>
            <a:endParaRPr/>
          </a:p>
        </p:txBody>
      </p:sp>
      <p:sp>
        <p:nvSpPr>
          <p:cNvPr id="9" name="Shape 7"/>
          <p:cNvSpPr/>
          <p:nvPr/>
        </p:nvSpPr>
        <p:spPr>
          <a:xfrm>
            <a:off x="11329416" y="530352"/>
            <a:ext cx="310896" cy="82296"/>
          </a:xfrm>
          <a:prstGeom prst="roundRect">
            <a:avLst>
              <a:gd name="adj" fmla="val 50000"/>
            </a:avLst>
          </a:prstGeom>
          <a:solidFill>
            <a:srgbClr val="D7263D"/>
          </a:solidFill>
          <a:ln/>
        </p:spPr>
        <p:txBody>
          <a:bodyPr/>
          <a:lstStyle/>
          <a:p>
            <a:endParaRPr/>
          </a:p>
        </p:txBody>
      </p:sp>
      <p:sp>
        <p:nvSpPr>
          <p:cNvPr id="47" name="Text 4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10</a:t>
            </a:r>
            <a:endParaRPr lang="en-US" sz="1000" dirty="0"/>
          </a:p>
        </p:txBody>
      </p:sp>
      <p:pic>
        <p:nvPicPr>
          <p:cNvPr id="54" name="Picture 53">
            <a:extLst>
              <a:ext uri="{FF2B5EF4-FFF2-40B4-BE49-F238E27FC236}">
                <a16:creationId xmlns:a16="http://schemas.microsoft.com/office/drawing/2014/main" id="{EA945FE3-8FB3-D5D8-F387-6057E2A110BB}"/>
              </a:ext>
            </a:extLst>
          </p:cNvPr>
          <p:cNvPicPr>
            <a:picLocks noChangeAspect="1"/>
          </p:cNvPicPr>
          <p:nvPr/>
        </p:nvPicPr>
        <p:blipFill>
          <a:blip r:embed="rId3"/>
          <a:srcRect t="802" r="36403" b="24515"/>
          <a:stretch>
            <a:fillRect/>
          </a:stretch>
        </p:blipFill>
        <p:spPr>
          <a:xfrm>
            <a:off x="2624701" y="1555506"/>
            <a:ext cx="7753739" cy="45526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141414"/>
        </a:solidFill>
        <a:effectLst/>
      </p:bgPr>
    </p:bg>
    <p:spTree>
      <p:nvGrpSpPr>
        <p:cNvPr id="1" name=""/>
        <p:cNvGrpSpPr/>
        <p:nvPr/>
      </p:nvGrpSpPr>
      <p:grpSpPr>
        <a:xfrm>
          <a:off x="0" y="0"/>
          <a:ext cx="0" cy="0"/>
          <a:chOff x="0" y="0"/>
          <a:chExt cx="0" cy="0"/>
        </a:xfrm>
      </p:grpSpPr>
      <p:sp>
        <p:nvSpPr>
          <p:cNvPr id="3" name="Text 1"/>
          <p:cNvSpPr/>
          <p:nvPr/>
        </p:nvSpPr>
        <p:spPr>
          <a:xfrm>
            <a:off x="2293465" y="960680"/>
            <a:ext cx="10515600" cy="594360"/>
          </a:xfrm>
          <a:prstGeom prst="rect">
            <a:avLst/>
          </a:prstGeom>
          <a:noFill/>
          <a:ln/>
        </p:spPr>
        <p:txBody>
          <a:bodyPr wrap="square" rtlCol="0" anchor="ctr"/>
          <a:lstStyle/>
          <a:p>
            <a:pPr marL="0" indent="0">
              <a:buNone/>
            </a:pPr>
            <a:r>
              <a:rPr lang="en-US" sz="2800" b="1" dirty="0">
                <a:solidFill>
                  <a:srgbClr val="FFFFFF"/>
                </a:solidFill>
                <a:latin typeface="Bookman Old Style" pitchFamily="34" charset="0"/>
                <a:ea typeface="Bookman Old Style" pitchFamily="34" charset="-122"/>
                <a:cs typeface="Bookman Old Style" pitchFamily="34" charset="-120"/>
              </a:rPr>
              <a:t>Docker — the real-time backbone</a:t>
            </a:r>
            <a:endParaRPr lang="en-US" sz="2800" dirty="0"/>
          </a:p>
        </p:txBody>
      </p:sp>
      <p:sp>
        <p:nvSpPr>
          <p:cNvPr id="38" name="Text 35"/>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8A8A"/>
                </a:solidFill>
                <a:latin typeface="Calibri" pitchFamily="34" charset="0"/>
                <a:ea typeface="Calibri" pitchFamily="34" charset="-122"/>
                <a:cs typeface="Calibri" pitchFamily="34" charset="-120"/>
              </a:rPr>
              <a:t>06</a:t>
            </a:r>
            <a:endParaRPr lang="en-US" sz="1000" dirty="0"/>
          </a:p>
        </p:txBody>
      </p:sp>
      <p:sp>
        <p:nvSpPr>
          <p:cNvPr id="41" name="Shape 27">
            <a:extLst>
              <a:ext uri="{FF2B5EF4-FFF2-40B4-BE49-F238E27FC236}">
                <a16:creationId xmlns:a16="http://schemas.microsoft.com/office/drawing/2014/main" id="{8BF47822-C604-2CF3-ABFA-954A40721FC2}"/>
              </a:ext>
            </a:extLst>
          </p:cNvPr>
          <p:cNvSpPr/>
          <p:nvPr/>
        </p:nvSpPr>
        <p:spPr>
          <a:xfrm>
            <a:off x="1009573" y="877824"/>
            <a:ext cx="822960" cy="822960"/>
          </a:xfrm>
          <a:prstGeom prst="ellipse">
            <a:avLst/>
          </a:prstGeom>
          <a:solidFill>
            <a:srgbClr val="FFFFFF"/>
          </a:solidFill>
          <a:ln/>
        </p:spPr>
        <p:txBody>
          <a:bodyPr/>
          <a:lstStyle/>
          <a:p>
            <a:endParaRPr/>
          </a:p>
        </p:txBody>
      </p:sp>
      <p:pic>
        <p:nvPicPr>
          <p:cNvPr id="43" name="Image 6" descr="/home/claude/assets/docker.png">
            <a:extLst>
              <a:ext uri="{FF2B5EF4-FFF2-40B4-BE49-F238E27FC236}">
                <a16:creationId xmlns:a16="http://schemas.microsoft.com/office/drawing/2014/main" id="{09199EC0-AEE1-F928-863E-8F04D1A695ED}"/>
              </a:ext>
            </a:extLst>
          </p:cNvPr>
          <p:cNvPicPr>
            <a:picLocks noChangeAspect="1"/>
          </p:cNvPicPr>
          <p:nvPr/>
        </p:nvPicPr>
        <p:blipFill>
          <a:blip r:embed="rId3"/>
          <a:stretch>
            <a:fillRect/>
          </a:stretch>
        </p:blipFill>
        <p:spPr>
          <a:xfrm>
            <a:off x="1183309" y="1051560"/>
            <a:ext cx="475488" cy="475488"/>
          </a:xfrm>
          <a:prstGeom prst="rect">
            <a:avLst/>
          </a:prstGeom>
        </p:spPr>
      </p:pic>
      <p:pic>
        <p:nvPicPr>
          <p:cNvPr id="45" name="Picture 44">
            <a:extLst>
              <a:ext uri="{FF2B5EF4-FFF2-40B4-BE49-F238E27FC236}">
                <a16:creationId xmlns:a16="http://schemas.microsoft.com/office/drawing/2014/main" id="{A6E7593C-CD1E-6331-3F91-D7C66B71923A}"/>
              </a:ext>
            </a:extLst>
          </p:cNvPr>
          <p:cNvPicPr>
            <a:picLocks noChangeAspect="1"/>
          </p:cNvPicPr>
          <p:nvPr/>
        </p:nvPicPr>
        <p:blipFill>
          <a:blip r:embed="rId4"/>
          <a:stretch>
            <a:fillRect/>
          </a:stretch>
        </p:blipFill>
        <p:spPr>
          <a:xfrm>
            <a:off x="1052512" y="2124464"/>
            <a:ext cx="10086975" cy="3486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RESULTS &amp; VISUALIZATIONS</a:t>
            </a:r>
            <a:r>
              <a:rPr lang="en-GB" sz="1200" b="1" kern="0" spc="200" dirty="0">
                <a:solidFill>
                  <a:srgbClr val="D7263D"/>
                </a:solidFill>
                <a:latin typeface="Calibri" pitchFamily="34" charset="0"/>
                <a:ea typeface="Calibri" pitchFamily="34" charset="-122"/>
                <a:cs typeface="Calibri" pitchFamily="34" charset="-120"/>
              </a:rPr>
              <a:t> in SPARK</a:t>
            </a:r>
          </a:p>
        </p:txBody>
      </p:sp>
      <p:sp>
        <p:nvSpPr>
          <p:cNvPr id="3" name="Text 1"/>
          <p:cNvSpPr/>
          <p:nvPr/>
        </p:nvSpPr>
        <p:spPr>
          <a:xfrm>
            <a:off x="548640" y="749808"/>
            <a:ext cx="10881360" cy="548640"/>
          </a:xfrm>
          <a:prstGeom prst="rect">
            <a:avLst/>
          </a:prstGeom>
          <a:noFill/>
          <a:ln/>
        </p:spPr>
        <p:txBody>
          <a:bodyPr wrap="square" rtlCol="0" anchor="ctr"/>
          <a:lstStyle/>
          <a:p>
            <a:pPr marL="0" indent="0">
              <a:buNone/>
            </a:pPr>
            <a:r>
              <a:rPr lang="en-US" sz="2800" b="1" dirty="0">
                <a:solidFill>
                  <a:srgbClr val="141414"/>
                </a:solidFill>
                <a:latin typeface="Bookman Old Style" pitchFamily="34" charset="0"/>
                <a:ea typeface="Bookman Old Style" pitchFamily="34" charset="-122"/>
                <a:cs typeface="Bookman Old Style" pitchFamily="34" charset="-120"/>
              </a:rPr>
              <a:t>Revenue &amp; payment patterns</a:t>
            </a:r>
            <a:endParaRPr lang="en-US" sz="2800" dirty="0"/>
          </a:p>
        </p:txBody>
      </p:sp>
      <p:sp>
        <p:nvSpPr>
          <p:cNvPr id="4" name="Text 2"/>
          <p:cNvSpPr/>
          <p:nvPr/>
        </p:nvSpPr>
        <p:spPr>
          <a:xfrm>
            <a:off x="548640" y="1298448"/>
            <a:ext cx="10881360" cy="320040"/>
          </a:xfrm>
          <a:prstGeom prst="rect">
            <a:avLst/>
          </a:prstGeom>
          <a:noFill/>
          <a:ln/>
        </p:spPr>
        <p:txBody>
          <a:bodyPr wrap="square" rtlCol="0" anchor="ctr"/>
          <a:lstStyle/>
          <a:p>
            <a:pPr marL="0" indent="0">
              <a:buNone/>
            </a:pPr>
            <a:r>
              <a:rPr lang="en-US" sz="1150" i="1" dirty="0">
                <a:solidFill>
                  <a:srgbClr val="6B6B6B"/>
                </a:solidFill>
                <a:latin typeface="Calibri" pitchFamily="34" charset="0"/>
                <a:ea typeface="Calibri" pitchFamily="34" charset="-122"/>
                <a:cs typeface="Calibri" pitchFamily="34" charset="-120"/>
              </a:rPr>
              <a:t>Computed directly from the 35+ Million trips — Full Year 2025.</a:t>
            </a:r>
            <a:endParaRPr lang="en-US" sz="1150" dirty="0"/>
          </a:p>
        </p:txBody>
      </p:sp>
      <p:sp>
        <p:nvSpPr>
          <p:cNvPr id="5" name="Shape 3"/>
          <p:cNvSpPr/>
          <p:nvPr/>
        </p:nvSpPr>
        <p:spPr>
          <a:xfrm>
            <a:off x="548640" y="1783080"/>
            <a:ext cx="6355080" cy="3246120"/>
          </a:xfrm>
          <a:prstGeom prst="roundRect">
            <a:avLst>
              <a:gd name="adj" fmla="val 2254"/>
            </a:avLst>
          </a:prstGeom>
          <a:solidFill>
            <a:srgbClr val="FFFFFF"/>
          </a:solidFill>
          <a:ln w="12700">
            <a:solidFill>
              <a:srgbClr val="E2E2E2"/>
            </a:solidFill>
            <a:prstDash val="solid"/>
          </a:ln>
        </p:spPr>
        <p:txBody>
          <a:bodyPr/>
          <a:lstStyle/>
          <a:p>
            <a:endParaRPr/>
          </a:p>
        </p:txBody>
      </p:sp>
      <p:sp>
        <p:nvSpPr>
          <p:cNvPr id="6" name="Text 4"/>
          <p:cNvSpPr/>
          <p:nvPr/>
        </p:nvSpPr>
        <p:spPr>
          <a:xfrm>
            <a:off x="777240" y="1947672"/>
            <a:ext cx="5897880" cy="292608"/>
          </a:xfrm>
          <a:prstGeom prst="rect">
            <a:avLst/>
          </a:prstGeom>
          <a:noFill/>
          <a:ln/>
        </p:spPr>
        <p:txBody>
          <a:bodyPr wrap="square" rtlCol="0" anchor="ctr"/>
          <a:lstStyle/>
          <a:p>
            <a:pPr marL="0" indent="0">
              <a:buNone/>
            </a:pPr>
            <a:r>
              <a:rPr lang="en-US" sz="1300" b="1" dirty="0">
                <a:solidFill>
                  <a:srgbClr val="141414"/>
                </a:solidFill>
                <a:latin typeface="Calibri" pitchFamily="34" charset="0"/>
                <a:ea typeface="Calibri" pitchFamily="34" charset="-122"/>
                <a:cs typeface="Calibri" pitchFamily="34" charset="-120"/>
              </a:rPr>
              <a:t>Total revenue by day of week</a:t>
            </a:r>
            <a:endParaRPr lang="en-US" sz="1300" dirty="0"/>
          </a:p>
        </p:txBody>
      </p:sp>
      <p:graphicFrame>
        <p:nvGraphicFramePr>
          <p:cNvPr id="7" name="Chart 0"/>
          <p:cNvGraphicFramePr/>
          <p:nvPr/>
        </p:nvGraphicFramePr>
        <p:xfrm>
          <a:off x="731520" y="2286000"/>
          <a:ext cx="598932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114032" y="1783080"/>
            <a:ext cx="4526280" cy="3246120"/>
          </a:xfrm>
          <a:prstGeom prst="roundRect">
            <a:avLst>
              <a:gd name="adj" fmla="val 2254"/>
            </a:avLst>
          </a:prstGeom>
          <a:solidFill>
            <a:srgbClr val="141414"/>
          </a:solidFill>
          <a:ln/>
        </p:spPr>
        <p:txBody>
          <a:bodyPr/>
          <a:lstStyle/>
          <a:p>
            <a:endParaRPr/>
          </a:p>
        </p:txBody>
      </p:sp>
      <p:sp>
        <p:nvSpPr>
          <p:cNvPr id="9" name="Text 6"/>
          <p:cNvSpPr/>
          <p:nvPr/>
        </p:nvSpPr>
        <p:spPr>
          <a:xfrm>
            <a:off x="7342632" y="1947672"/>
            <a:ext cx="406908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Payment method mix</a:t>
            </a:r>
            <a:endParaRPr lang="en-US" sz="1300" dirty="0"/>
          </a:p>
        </p:txBody>
      </p:sp>
      <p:graphicFrame>
        <p:nvGraphicFramePr>
          <p:cNvPr id="10" name="Chart 1"/>
          <p:cNvGraphicFramePr/>
          <p:nvPr/>
        </p:nvGraphicFramePr>
        <p:xfrm>
          <a:off x="7342632" y="2313432"/>
          <a:ext cx="233172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9857232" y="2459736"/>
            <a:ext cx="146304" cy="146304"/>
          </a:xfrm>
          <a:prstGeom prst="roundRect">
            <a:avLst>
              <a:gd name="adj" fmla="val 18750"/>
            </a:avLst>
          </a:prstGeom>
          <a:solidFill>
            <a:srgbClr val="D7263D"/>
          </a:solidFill>
          <a:ln/>
        </p:spPr>
        <p:txBody>
          <a:bodyPr/>
          <a:lstStyle/>
          <a:p>
            <a:endParaRPr/>
          </a:p>
        </p:txBody>
      </p:sp>
      <p:sp>
        <p:nvSpPr>
          <p:cNvPr id="12" name="Text 8"/>
          <p:cNvSpPr/>
          <p:nvPr/>
        </p:nvSpPr>
        <p:spPr>
          <a:xfrm>
            <a:off x="10085832" y="2395728"/>
            <a:ext cx="1234440" cy="274320"/>
          </a:xfrm>
          <a:prstGeom prst="rect">
            <a:avLst/>
          </a:prstGeom>
          <a:noFill/>
          <a:ln/>
        </p:spPr>
        <p:txBody>
          <a:bodyPr wrap="square" rtlCol="0" anchor="ctr"/>
          <a:lstStyle/>
          <a:p>
            <a:pPr marL="0" indent="0">
              <a:buNone/>
            </a:pPr>
            <a:r>
              <a:rPr lang="en-US" sz="1000" dirty="0">
                <a:solidFill>
                  <a:srgbClr val="E6E6E6"/>
                </a:solidFill>
                <a:latin typeface="Calibri" pitchFamily="34" charset="0"/>
                <a:ea typeface="Calibri" pitchFamily="34" charset="-122"/>
                <a:cs typeface="Calibri" pitchFamily="34" charset="-120"/>
              </a:rPr>
              <a:t>Credit card</a:t>
            </a:r>
            <a:endParaRPr lang="en-US" sz="1000" dirty="0"/>
          </a:p>
        </p:txBody>
      </p:sp>
      <p:sp>
        <p:nvSpPr>
          <p:cNvPr id="13" name="Text 9"/>
          <p:cNvSpPr/>
          <p:nvPr/>
        </p:nvSpPr>
        <p:spPr>
          <a:xfrm>
            <a:off x="11045952" y="2395728"/>
            <a:ext cx="457200" cy="274320"/>
          </a:xfrm>
          <a:prstGeom prst="rect">
            <a:avLst/>
          </a:prstGeom>
          <a:noFill/>
          <a:ln/>
        </p:spPr>
        <p:txBody>
          <a:bodyPr wrap="square" rtlCol="0" anchor="ctr"/>
          <a:lstStyle/>
          <a:p>
            <a:pPr marL="0" indent="0" algn="r">
              <a:buNone/>
            </a:pPr>
            <a:r>
              <a:rPr lang="en-US" sz="1000" b="1" dirty="0">
                <a:solidFill>
                  <a:srgbClr val="D7263D"/>
                </a:solidFill>
                <a:latin typeface="Calibri" pitchFamily="34" charset="0"/>
                <a:ea typeface="Calibri" pitchFamily="34" charset="-122"/>
                <a:cs typeface="Calibri" pitchFamily="34" charset="-120"/>
              </a:rPr>
              <a:t>70%</a:t>
            </a:r>
            <a:endParaRPr lang="en-US" sz="1000" dirty="0"/>
          </a:p>
        </p:txBody>
      </p:sp>
      <p:sp>
        <p:nvSpPr>
          <p:cNvPr id="14" name="Shape 10"/>
          <p:cNvSpPr/>
          <p:nvPr/>
        </p:nvSpPr>
        <p:spPr>
          <a:xfrm>
            <a:off x="9857232" y="2843784"/>
            <a:ext cx="146304" cy="146304"/>
          </a:xfrm>
          <a:prstGeom prst="roundRect">
            <a:avLst>
              <a:gd name="adj" fmla="val 18750"/>
            </a:avLst>
          </a:prstGeom>
          <a:solidFill>
            <a:srgbClr val="6B0F1A"/>
          </a:solidFill>
          <a:ln/>
        </p:spPr>
        <p:txBody>
          <a:bodyPr/>
          <a:lstStyle/>
          <a:p>
            <a:endParaRPr/>
          </a:p>
        </p:txBody>
      </p:sp>
      <p:sp>
        <p:nvSpPr>
          <p:cNvPr id="15" name="Text 11"/>
          <p:cNvSpPr/>
          <p:nvPr/>
        </p:nvSpPr>
        <p:spPr>
          <a:xfrm>
            <a:off x="10085832" y="2779776"/>
            <a:ext cx="1234440" cy="274320"/>
          </a:xfrm>
          <a:prstGeom prst="rect">
            <a:avLst/>
          </a:prstGeom>
          <a:noFill/>
          <a:ln/>
        </p:spPr>
        <p:txBody>
          <a:bodyPr wrap="square" rtlCol="0" anchor="ctr"/>
          <a:lstStyle/>
          <a:p>
            <a:pPr marL="0" indent="0">
              <a:buNone/>
            </a:pPr>
            <a:r>
              <a:rPr lang="en-US" sz="1000" dirty="0">
                <a:solidFill>
                  <a:srgbClr val="E6E6E6"/>
                </a:solidFill>
                <a:latin typeface="Calibri" pitchFamily="34" charset="0"/>
                <a:ea typeface="Calibri" pitchFamily="34" charset="-122"/>
                <a:cs typeface="Calibri" pitchFamily="34" charset="-120"/>
              </a:rPr>
              <a:t>Unspecified</a:t>
            </a:r>
            <a:endParaRPr lang="en-US" sz="1000" dirty="0"/>
          </a:p>
        </p:txBody>
      </p:sp>
      <p:sp>
        <p:nvSpPr>
          <p:cNvPr id="16" name="Text 12"/>
          <p:cNvSpPr/>
          <p:nvPr/>
        </p:nvSpPr>
        <p:spPr>
          <a:xfrm>
            <a:off x="11045952" y="2779776"/>
            <a:ext cx="457200" cy="274320"/>
          </a:xfrm>
          <a:prstGeom prst="rect">
            <a:avLst/>
          </a:prstGeom>
          <a:noFill/>
          <a:ln/>
        </p:spPr>
        <p:txBody>
          <a:bodyPr wrap="square" rtlCol="0" anchor="ctr"/>
          <a:lstStyle/>
          <a:p>
            <a:pPr marL="0" indent="0" algn="r">
              <a:buNone/>
            </a:pPr>
            <a:r>
              <a:rPr lang="en-US" sz="1000" b="1" dirty="0">
                <a:solidFill>
                  <a:srgbClr val="D7263D"/>
                </a:solidFill>
                <a:latin typeface="Calibri" pitchFamily="34" charset="0"/>
                <a:ea typeface="Calibri" pitchFamily="34" charset="-122"/>
                <a:cs typeface="Calibri" pitchFamily="34" charset="-120"/>
              </a:rPr>
              <a:t>16%</a:t>
            </a:r>
            <a:endParaRPr lang="en-US" sz="1000" dirty="0"/>
          </a:p>
        </p:txBody>
      </p:sp>
      <p:sp>
        <p:nvSpPr>
          <p:cNvPr id="17" name="Shape 13"/>
          <p:cNvSpPr/>
          <p:nvPr/>
        </p:nvSpPr>
        <p:spPr>
          <a:xfrm>
            <a:off x="9857232" y="3227832"/>
            <a:ext cx="146304" cy="146304"/>
          </a:xfrm>
          <a:prstGeom prst="roundRect">
            <a:avLst>
              <a:gd name="adj" fmla="val 18750"/>
            </a:avLst>
          </a:prstGeom>
          <a:solidFill>
            <a:srgbClr val="8A8A8A"/>
          </a:solidFill>
          <a:ln/>
        </p:spPr>
        <p:txBody>
          <a:bodyPr/>
          <a:lstStyle/>
          <a:p>
            <a:endParaRPr/>
          </a:p>
        </p:txBody>
      </p:sp>
      <p:sp>
        <p:nvSpPr>
          <p:cNvPr id="18" name="Text 14"/>
          <p:cNvSpPr/>
          <p:nvPr/>
        </p:nvSpPr>
        <p:spPr>
          <a:xfrm>
            <a:off x="10085832" y="3163824"/>
            <a:ext cx="1234440" cy="274320"/>
          </a:xfrm>
          <a:prstGeom prst="rect">
            <a:avLst/>
          </a:prstGeom>
          <a:noFill/>
          <a:ln/>
        </p:spPr>
        <p:txBody>
          <a:bodyPr wrap="square" rtlCol="0" anchor="ctr"/>
          <a:lstStyle/>
          <a:p>
            <a:pPr marL="0" indent="0">
              <a:buNone/>
            </a:pPr>
            <a:r>
              <a:rPr lang="en-US" sz="1000" dirty="0">
                <a:solidFill>
                  <a:srgbClr val="E6E6E6"/>
                </a:solidFill>
                <a:latin typeface="Calibri" pitchFamily="34" charset="0"/>
                <a:ea typeface="Calibri" pitchFamily="34" charset="-122"/>
                <a:cs typeface="Calibri" pitchFamily="34" charset="-120"/>
              </a:rPr>
              <a:t>Cash</a:t>
            </a:r>
            <a:endParaRPr lang="en-US" sz="1000" dirty="0"/>
          </a:p>
        </p:txBody>
      </p:sp>
      <p:sp>
        <p:nvSpPr>
          <p:cNvPr id="19" name="Text 15"/>
          <p:cNvSpPr/>
          <p:nvPr/>
        </p:nvSpPr>
        <p:spPr>
          <a:xfrm>
            <a:off x="11045952" y="3163824"/>
            <a:ext cx="457200" cy="274320"/>
          </a:xfrm>
          <a:prstGeom prst="rect">
            <a:avLst/>
          </a:prstGeom>
          <a:noFill/>
          <a:ln/>
        </p:spPr>
        <p:txBody>
          <a:bodyPr wrap="square" rtlCol="0" anchor="ctr"/>
          <a:lstStyle/>
          <a:p>
            <a:pPr marL="0" indent="0" algn="r">
              <a:buNone/>
            </a:pPr>
            <a:r>
              <a:rPr lang="en-US" sz="1000" b="1" dirty="0">
                <a:solidFill>
                  <a:srgbClr val="D7263D"/>
                </a:solidFill>
                <a:latin typeface="Calibri" pitchFamily="34" charset="0"/>
                <a:ea typeface="Calibri" pitchFamily="34" charset="-122"/>
                <a:cs typeface="Calibri" pitchFamily="34" charset="-120"/>
              </a:rPr>
              <a:t>11%</a:t>
            </a:r>
            <a:endParaRPr lang="en-US" sz="1000" dirty="0"/>
          </a:p>
        </p:txBody>
      </p:sp>
      <p:sp>
        <p:nvSpPr>
          <p:cNvPr id="20" name="Shape 16"/>
          <p:cNvSpPr/>
          <p:nvPr/>
        </p:nvSpPr>
        <p:spPr>
          <a:xfrm>
            <a:off x="9857232" y="3611880"/>
            <a:ext cx="146304" cy="146304"/>
          </a:xfrm>
          <a:prstGeom prst="roundRect">
            <a:avLst>
              <a:gd name="adj" fmla="val 18750"/>
            </a:avLst>
          </a:prstGeom>
          <a:solidFill>
            <a:srgbClr val="3A3A3A"/>
          </a:solidFill>
          <a:ln/>
        </p:spPr>
        <p:txBody>
          <a:bodyPr/>
          <a:lstStyle/>
          <a:p>
            <a:endParaRPr/>
          </a:p>
        </p:txBody>
      </p:sp>
      <p:sp>
        <p:nvSpPr>
          <p:cNvPr id="21" name="Text 17"/>
          <p:cNvSpPr/>
          <p:nvPr/>
        </p:nvSpPr>
        <p:spPr>
          <a:xfrm>
            <a:off x="10085832" y="3547872"/>
            <a:ext cx="1234440" cy="274320"/>
          </a:xfrm>
          <a:prstGeom prst="rect">
            <a:avLst/>
          </a:prstGeom>
          <a:noFill/>
          <a:ln/>
        </p:spPr>
        <p:txBody>
          <a:bodyPr wrap="square" rtlCol="0" anchor="ctr"/>
          <a:lstStyle/>
          <a:p>
            <a:pPr marL="0" indent="0">
              <a:buNone/>
            </a:pPr>
            <a:r>
              <a:rPr lang="en-US" sz="1000" dirty="0">
                <a:solidFill>
                  <a:srgbClr val="E6E6E6"/>
                </a:solidFill>
                <a:latin typeface="Calibri" pitchFamily="34" charset="0"/>
                <a:ea typeface="Calibri" pitchFamily="34" charset="-122"/>
                <a:cs typeface="Calibri" pitchFamily="34" charset="-120"/>
              </a:rPr>
              <a:t>Dispute</a:t>
            </a:r>
            <a:endParaRPr lang="en-US" sz="1000" dirty="0"/>
          </a:p>
        </p:txBody>
      </p:sp>
      <p:sp>
        <p:nvSpPr>
          <p:cNvPr id="22" name="Text 18"/>
          <p:cNvSpPr/>
          <p:nvPr/>
        </p:nvSpPr>
        <p:spPr>
          <a:xfrm>
            <a:off x="11045952" y="3547872"/>
            <a:ext cx="457200" cy="274320"/>
          </a:xfrm>
          <a:prstGeom prst="rect">
            <a:avLst/>
          </a:prstGeom>
          <a:noFill/>
          <a:ln/>
        </p:spPr>
        <p:txBody>
          <a:bodyPr wrap="square" rtlCol="0" anchor="ctr"/>
          <a:lstStyle/>
          <a:p>
            <a:pPr marL="0" indent="0" algn="r">
              <a:buNone/>
            </a:pPr>
            <a:r>
              <a:rPr lang="en-US" sz="1000" b="1" dirty="0">
                <a:solidFill>
                  <a:srgbClr val="D7263D"/>
                </a:solidFill>
                <a:latin typeface="Calibri" pitchFamily="34" charset="0"/>
                <a:ea typeface="Calibri" pitchFamily="34" charset="-122"/>
                <a:cs typeface="Calibri" pitchFamily="34" charset="-120"/>
              </a:rPr>
              <a:t>2%</a:t>
            </a:r>
            <a:endParaRPr lang="en-US" sz="1000" dirty="0"/>
          </a:p>
        </p:txBody>
      </p:sp>
      <p:sp>
        <p:nvSpPr>
          <p:cNvPr id="23" name="Shape 19"/>
          <p:cNvSpPr/>
          <p:nvPr/>
        </p:nvSpPr>
        <p:spPr>
          <a:xfrm>
            <a:off x="9857232" y="3995928"/>
            <a:ext cx="146304" cy="146304"/>
          </a:xfrm>
          <a:prstGeom prst="roundRect">
            <a:avLst>
              <a:gd name="adj" fmla="val 18750"/>
            </a:avLst>
          </a:prstGeom>
          <a:solidFill>
            <a:srgbClr val="C9C9C9"/>
          </a:solidFill>
          <a:ln/>
        </p:spPr>
        <p:txBody>
          <a:bodyPr/>
          <a:lstStyle/>
          <a:p>
            <a:endParaRPr/>
          </a:p>
        </p:txBody>
      </p:sp>
      <p:sp>
        <p:nvSpPr>
          <p:cNvPr id="24" name="Text 20"/>
          <p:cNvSpPr/>
          <p:nvPr/>
        </p:nvSpPr>
        <p:spPr>
          <a:xfrm>
            <a:off x="10085832" y="3931920"/>
            <a:ext cx="1234440" cy="274320"/>
          </a:xfrm>
          <a:prstGeom prst="rect">
            <a:avLst/>
          </a:prstGeom>
          <a:noFill/>
          <a:ln/>
        </p:spPr>
        <p:txBody>
          <a:bodyPr wrap="square" rtlCol="0" anchor="ctr"/>
          <a:lstStyle/>
          <a:p>
            <a:pPr marL="0" indent="0">
              <a:buNone/>
            </a:pPr>
            <a:r>
              <a:rPr lang="en-US" sz="1000" dirty="0">
                <a:solidFill>
                  <a:srgbClr val="E6E6E6"/>
                </a:solidFill>
                <a:latin typeface="Calibri" pitchFamily="34" charset="0"/>
                <a:ea typeface="Calibri" pitchFamily="34" charset="-122"/>
                <a:cs typeface="Calibri" pitchFamily="34" charset="-120"/>
              </a:rPr>
              <a:t>No charge</a:t>
            </a:r>
            <a:endParaRPr lang="en-US" sz="1000" dirty="0"/>
          </a:p>
        </p:txBody>
      </p:sp>
      <p:sp>
        <p:nvSpPr>
          <p:cNvPr id="25" name="Text 21"/>
          <p:cNvSpPr/>
          <p:nvPr/>
        </p:nvSpPr>
        <p:spPr>
          <a:xfrm>
            <a:off x="11045952" y="3931920"/>
            <a:ext cx="457200" cy="274320"/>
          </a:xfrm>
          <a:prstGeom prst="rect">
            <a:avLst/>
          </a:prstGeom>
          <a:noFill/>
          <a:ln/>
        </p:spPr>
        <p:txBody>
          <a:bodyPr wrap="square" rtlCol="0" anchor="ctr"/>
          <a:lstStyle/>
          <a:p>
            <a:pPr marL="0" indent="0" algn="r">
              <a:buNone/>
            </a:pPr>
            <a:r>
              <a:rPr lang="en-US" sz="1000" b="1" dirty="0">
                <a:solidFill>
                  <a:srgbClr val="D7263D"/>
                </a:solidFill>
                <a:latin typeface="Calibri" pitchFamily="34" charset="0"/>
                <a:ea typeface="Calibri" pitchFamily="34" charset="-122"/>
                <a:cs typeface="Calibri" pitchFamily="34" charset="-120"/>
              </a:rPr>
              <a:t>1%</a:t>
            </a:r>
            <a:endParaRPr lang="en-US" sz="1000" dirty="0"/>
          </a:p>
        </p:txBody>
      </p:sp>
      <p:sp>
        <p:nvSpPr>
          <p:cNvPr id="26" name="Text 2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BUSINESS IMPACT</a:t>
            </a:r>
            <a:endParaRPr lang="en-US" sz="1200" dirty="0"/>
          </a:p>
        </p:txBody>
      </p:sp>
      <p:sp>
        <p:nvSpPr>
          <p:cNvPr id="3" name="Text 1"/>
          <p:cNvSpPr/>
          <p:nvPr/>
        </p:nvSpPr>
        <p:spPr>
          <a:xfrm>
            <a:off x="548640" y="749808"/>
            <a:ext cx="10515600" cy="548640"/>
          </a:xfrm>
          <a:prstGeom prst="rect">
            <a:avLst/>
          </a:prstGeom>
          <a:noFill/>
          <a:ln/>
        </p:spPr>
        <p:txBody>
          <a:bodyPr wrap="square" rtlCol="0" anchor="ctr"/>
          <a:lstStyle/>
          <a:p>
            <a:pPr marL="0" indent="0">
              <a:buNone/>
            </a:pPr>
            <a:r>
              <a:rPr lang="en-US" sz="2800" b="1" dirty="0">
                <a:solidFill>
                  <a:srgbClr val="141414"/>
                </a:solidFill>
                <a:latin typeface="Bookman Old Style" pitchFamily="34" charset="0"/>
                <a:ea typeface="Bookman Old Style" pitchFamily="34" charset="-122"/>
                <a:cs typeface="Bookman Old Style" pitchFamily="34" charset="-120"/>
              </a:rPr>
              <a:t>Questions the platform is built to answer</a:t>
            </a:r>
            <a:endParaRPr lang="en-US" sz="2800" dirty="0"/>
          </a:p>
        </p:txBody>
      </p:sp>
      <p:sp>
        <p:nvSpPr>
          <p:cNvPr id="4" name="Text 2"/>
          <p:cNvSpPr/>
          <p:nvPr/>
        </p:nvSpPr>
        <p:spPr>
          <a:xfrm>
            <a:off x="548640" y="1600200"/>
            <a:ext cx="5623560" cy="274320"/>
          </a:xfrm>
          <a:prstGeom prst="rect">
            <a:avLst/>
          </a:prstGeom>
          <a:noFill/>
          <a:ln/>
        </p:spPr>
        <p:txBody>
          <a:bodyPr wrap="square" rtlCol="0" anchor="ctr"/>
          <a:lstStyle/>
          <a:p>
            <a:pPr marL="0" indent="0">
              <a:buNone/>
            </a:pPr>
            <a:r>
              <a:rPr lang="en-US" sz="1100" b="1" kern="0" spc="150" dirty="0">
                <a:solidFill>
                  <a:srgbClr val="6B6B6B"/>
                </a:solidFill>
                <a:latin typeface="Calibri" pitchFamily="34" charset="0"/>
                <a:ea typeface="Calibri" pitchFamily="34" charset="-122"/>
                <a:cs typeface="Calibri" pitchFamily="34" charset="-120"/>
              </a:rPr>
              <a:t>BUSINESS QUESTIONS</a:t>
            </a:r>
            <a:endParaRPr lang="en-US" sz="1100" dirty="0"/>
          </a:p>
        </p:txBody>
      </p:sp>
      <p:sp>
        <p:nvSpPr>
          <p:cNvPr id="5" name="Shape 3"/>
          <p:cNvSpPr/>
          <p:nvPr/>
        </p:nvSpPr>
        <p:spPr>
          <a:xfrm>
            <a:off x="548640" y="1984248"/>
            <a:ext cx="5623560" cy="566928"/>
          </a:xfrm>
          <a:prstGeom prst="roundRect">
            <a:avLst>
              <a:gd name="adj" fmla="val 11290"/>
            </a:avLst>
          </a:prstGeom>
          <a:solidFill>
            <a:srgbClr val="FFFFFF"/>
          </a:solidFill>
          <a:ln w="12700">
            <a:solidFill>
              <a:srgbClr val="E2E2E2"/>
            </a:solidFill>
            <a:prstDash val="solid"/>
          </a:ln>
        </p:spPr>
        <p:txBody>
          <a:bodyPr/>
          <a:lstStyle/>
          <a:p>
            <a:endParaRPr lang="en-GB"/>
          </a:p>
        </p:txBody>
      </p:sp>
      <p:sp>
        <p:nvSpPr>
          <p:cNvPr id="6" name="Text 4"/>
          <p:cNvSpPr/>
          <p:nvPr/>
        </p:nvSpPr>
        <p:spPr>
          <a:xfrm>
            <a:off x="685800" y="1984248"/>
            <a:ext cx="457200" cy="566928"/>
          </a:xfrm>
          <a:prstGeom prst="rect">
            <a:avLst/>
          </a:prstGeom>
          <a:noFill/>
          <a:ln/>
        </p:spPr>
        <p:txBody>
          <a:bodyPr wrap="square" rtlCol="0" anchor="ctr"/>
          <a:lstStyle/>
          <a:p>
            <a:pPr marL="0" indent="0" algn="ctr">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7" name="Text 5"/>
          <p:cNvSpPr/>
          <p:nvPr/>
        </p:nvSpPr>
        <p:spPr>
          <a:xfrm>
            <a:off x="1143000" y="1984248"/>
            <a:ext cx="4892040" cy="566928"/>
          </a:xfrm>
          <a:prstGeom prst="rect">
            <a:avLst/>
          </a:prstGeom>
          <a:noFill/>
          <a:ln/>
        </p:spPr>
        <p:txBody>
          <a:bodyPr wrap="square" rtlCol="0" anchor="ctr"/>
          <a:lstStyle/>
          <a:p>
            <a:pPr marL="0" indent="0">
              <a:buNone/>
            </a:pPr>
            <a:r>
              <a:rPr lang="en-US" sz="1180" dirty="0">
                <a:solidFill>
                  <a:srgbClr val="141414"/>
                </a:solidFill>
                <a:latin typeface="Calibri" pitchFamily="34" charset="0"/>
                <a:ea typeface="Calibri" pitchFamily="34" charset="-122"/>
                <a:cs typeface="Calibri" pitchFamily="34" charset="-120"/>
              </a:rPr>
              <a:t>What are the busiest pickup &amp; drop-off zones?</a:t>
            </a:r>
            <a:endParaRPr lang="en-US" sz="1180" dirty="0"/>
          </a:p>
        </p:txBody>
      </p:sp>
      <p:sp>
        <p:nvSpPr>
          <p:cNvPr id="8" name="Shape 6"/>
          <p:cNvSpPr/>
          <p:nvPr/>
        </p:nvSpPr>
        <p:spPr>
          <a:xfrm>
            <a:off x="548640" y="2660904"/>
            <a:ext cx="5623560" cy="566928"/>
          </a:xfrm>
          <a:prstGeom prst="roundRect">
            <a:avLst>
              <a:gd name="adj" fmla="val 11290"/>
            </a:avLst>
          </a:prstGeom>
          <a:solidFill>
            <a:srgbClr val="FFFFFF"/>
          </a:solidFill>
          <a:ln w="12700">
            <a:solidFill>
              <a:srgbClr val="E2E2E2"/>
            </a:solidFill>
            <a:prstDash val="solid"/>
          </a:ln>
        </p:spPr>
        <p:txBody>
          <a:bodyPr/>
          <a:lstStyle/>
          <a:p>
            <a:endParaRPr lang="en-GB"/>
          </a:p>
        </p:txBody>
      </p:sp>
      <p:sp>
        <p:nvSpPr>
          <p:cNvPr id="9" name="Text 7"/>
          <p:cNvSpPr/>
          <p:nvPr/>
        </p:nvSpPr>
        <p:spPr>
          <a:xfrm>
            <a:off x="685800" y="2660904"/>
            <a:ext cx="457200" cy="566928"/>
          </a:xfrm>
          <a:prstGeom prst="rect">
            <a:avLst/>
          </a:prstGeom>
          <a:noFill/>
          <a:ln/>
        </p:spPr>
        <p:txBody>
          <a:bodyPr wrap="square" rtlCol="0" anchor="ctr"/>
          <a:lstStyle/>
          <a:p>
            <a:pPr marL="0" indent="0" algn="ctr">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0" name="Text 8"/>
          <p:cNvSpPr/>
          <p:nvPr/>
        </p:nvSpPr>
        <p:spPr>
          <a:xfrm>
            <a:off x="1143000" y="2660904"/>
            <a:ext cx="4892040" cy="566928"/>
          </a:xfrm>
          <a:prstGeom prst="rect">
            <a:avLst/>
          </a:prstGeom>
          <a:noFill/>
          <a:ln/>
        </p:spPr>
        <p:txBody>
          <a:bodyPr wrap="square" rtlCol="0" anchor="ctr"/>
          <a:lstStyle/>
          <a:p>
            <a:pPr marL="0" indent="0">
              <a:buNone/>
            </a:pPr>
            <a:r>
              <a:rPr lang="en-US" sz="1180" dirty="0">
                <a:solidFill>
                  <a:srgbClr val="141414"/>
                </a:solidFill>
                <a:latin typeface="Calibri" pitchFamily="34" charset="0"/>
                <a:ea typeface="Calibri" pitchFamily="34" charset="-122"/>
                <a:cs typeface="Calibri" pitchFamily="34" charset="-120"/>
              </a:rPr>
              <a:t>Which hours experience the highest demand?</a:t>
            </a:r>
            <a:endParaRPr lang="en-US" sz="1180" dirty="0"/>
          </a:p>
        </p:txBody>
      </p:sp>
      <p:sp>
        <p:nvSpPr>
          <p:cNvPr id="11" name="Shape 9"/>
          <p:cNvSpPr/>
          <p:nvPr/>
        </p:nvSpPr>
        <p:spPr>
          <a:xfrm>
            <a:off x="548640" y="3337560"/>
            <a:ext cx="5623560" cy="566928"/>
          </a:xfrm>
          <a:prstGeom prst="roundRect">
            <a:avLst>
              <a:gd name="adj" fmla="val 11290"/>
            </a:avLst>
          </a:prstGeom>
          <a:solidFill>
            <a:srgbClr val="FFFFFF"/>
          </a:solidFill>
          <a:ln w="12700">
            <a:solidFill>
              <a:srgbClr val="E2E2E2"/>
            </a:solidFill>
            <a:prstDash val="solid"/>
          </a:ln>
        </p:spPr>
        <p:txBody>
          <a:bodyPr/>
          <a:lstStyle/>
          <a:p>
            <a:endParaRPr lang="en-GB"/>
          </a:p>
        </p:txBody>
      </p:sp>
      <p:sp>
        <p:nvSpPr>
          <p:cNvPr id="12" name="Text 10"/>
          <p:cNvSpPr/>
          <p:nvPr/>
        </p:nvSpPr>
        <p:spPr>
          <a:xfrm>
            <a:off x="685800" y="3337560"/>
            <a:ext cx="457200" cy="566928"/>
          </a:xfrm>
          <a:prstGeom prst="rect">
            <a:avLst/>
          </a:prstGeom>
          <a:noFill/>
          <a:ln/>
        </p:spPr>
        <p:txBody>
          <a:bodyPr wrap="square" rtlCol="0" anchor="ctr"/>
          <a:lstStyle/>
          <a:p>
            <a:pPr marL="0" indent="0" algn="ctr">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3" name="Text 11"/>
          <p:cNvSpPr/>
          <p:nvPr/>
        </p:nvSpPr>
        <p:spPr>
          <a:xfrm>
            <a:off x="1143000" y="3337560"/>
            <a:ext cx="4892040" cy="566928"/>
          </a:xfrm>
          <a:prstGeom prst="rect">
            <a:avLst/>
          </a:prstGeom>
          <a:noFill/>
          <a:ln/>
        </p:spPr>
        <p:txBody>
          <a:bodyPr wrap="square" rtlCol="0" anchor="ctr"/>
          <a:lstStyle/>
          <a:p>
            <a:pPr marL="0" indent="0">
              <a:buNone/>
            </a:pPr>
            <a:r>
              <a:rPr lang="en-US" sz="1180" dirty="0">
                <a:solidFill>
                  <a:srgbClr val="141414"/>
                </a:solidFill>
                <a:latin typeface="Calibri" pitchFamily="34" charset="0"/>
                <a:ea typeface="Calibri" pitchFamily="34" charset="-122"/>
                <a:cs typeface="Calibri" pitchFamily="34" charset="-120"/>
              </a:rPr>
              <a:t>Which days generate the highest revenue?</a:t>
            </a:r>
            <a:endParaRPr lang="en-US" sz="1180" dirty="0"/>
          </a:p>
        </p:txBody>
      </p:sp>
      <p:sp>
        <p:nvSpPr>
          <p:cNvPr id="14" name="Shape 12"/>
          <p:cNvSpPr/>
          <p:nvPr/>
        </p:nvSpPr>
        <p:spPr>
          <a:xfrm>
            <a:off x="548640" y="4014216"/>
            <a:ext cx="5623560" cy="566928"/>
          </a:xfrm>
          <a:prstGeom prst="roundRect">
            <a:avLst>
              <a:gd name="adj" fmla="val 11290"/>
            </a:avLst>
          </a:prstGeom>
          <a:solidFill>
            <a:srgbClr val="FFFFFF"/>
          </a:solidFill>
          <a:ln w="12700">
            <a:solidFill>
              <a:srgbClr val="E2E2E2"/>
            </a:solidFill>
            <a:prstDash val="solid"/>
          </a:ln>
        </p:spPr>
        <p:txBody>
          <a:bodyPr/>
          <a:lstStyle/>
          <a:p>
            <a:endParaRPr lang="en-GB"/>
          </a:p>
        </p:txBody>
      </p:sp>
      <p:sp>
        <p:nvSpPr>
          <p:cNvPr id="15" name="Text 13"/>
          <p:cNvSpPr/>
          <p:nvPr/>
        </p:nvSpPr>
        <p:spPr>
          <a:xfrm>
            <a:off x="685800" y="4014216"/>
            <a:ext cx="457200" cy="566928"/>
          </a:xfrm>
          <a:prstGeom prst="rect">
            <a:avLst/>
          </a:prstGeom>
          <a:noFill/>
          <a:ln/>
        </p:spPr>
        <p:txBody>
          <a:bodyPr wrap="square" rtlCol="0" anchor="ctr"/>
          <a:lstStyle/>
          <a:p>
            <a:pPr marL="0" indent="0" algn="ctr">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6" name="Text 14"/>
          <p:cNvSpPr/>
          <p:nvPr/>
        </p:nvSpPr>
        <p:spPr>
          <a:xfrm>
            <a:off x="1143000" y="4014216"/>
            <a:ext cx="4892040" cy="566928"/>
          </a:xfrm>
          <a:prstGeom prst="rect">
            <a:avLst/>
          </a:prstGeom>
          <a:noFill/>
          <a:ln/>
        </p:spPr>
        <p:txBody>
          <a:bodyPr wrap="square" rtlCol="0" anchor="ctr"/>
          <a:lstStyle/>
          <a:p>
            <a:pPr marL="0" indent="0">
              <a:buNone/>
            </a:pPr>
            <a:r>
              <a:rPr lang="en-US" sz="1180" dirty="0">
                <a:solidFill>
                  <a:srgbClr val="141414"/>
                </a:solidFill>
                <a:latin typeface="Calibri" pitchFamily="34" charset="0"/>
                <a:ea typeface="Calibri" pitchFamily="34" charset="-122"/>
                <a:cs typeface="Calibri" pitchFamily="34" charset="-120"/>
              </a:rPr>
              <a:t>What are the most profitable routes?</a:t>
            </a:r>
            <a:endParaRPr lang="en-US" sz="1180" dirty="0"/>
          </a:p>
        </p:txBody>
      </p:sp>
      <p:sp>
        <p:nvSpPr>
          <p:cNvPr id="17" name="Shape 15"/>
          <p:cNvSpPr/>
          <p:nvPr/>
        </p:nvSpPr>
        <p:spPr>
          <a:xfrm>
            <a:off x="548640" y="4690872"/>
            <a:ext cx="5623560" cy="566928"/>
          </a:xfrm>
          <a:prstGeom prst="roundRect">
            <a:avLst>
              <a:gd name="adj" fmla="val 11290"/>
            </a:avLst>
          </a:prstGeom>
          <a:solidFill>
            <a:srgbClr val="FFFFFF"/>
          </a:solidFill>
          <a:ln w="12700">
            <a:solidFill>
              <a:srgbClr val="E2E2E2"/>
            </a:solidFill>
            <a:prstDash val="solid"/>
          </a:ln>
        </p:spPr>
        <p:txBody>
          <a:bodyPr/>
          <a:lstStyle/>
          <a:p>
            <a:endParaRPr lang="en-GB"/>
          </a:p>
        </p:txBody>
      </p:sp>
      <p:sp>
        <p:nvSpPr>
          <p:cNvPr id="18" name="Text 16"/>
          <p:cNvSpPr/>
          <p:nvPr/>
        </p:nvSpPr>
        <p:spPr>
          <a:xfrm>
            <a:off x="685800" y="4690872"/>
            <a:ext cx="457200" cy="566928"/>
          </a:xfrm>
          <a:prstGeom prst="rect">
            <a:avLst/>
          </a:prstGeom>
          <a:noFill/>
          <a:ln/>
        </p:spPr>
        <p:txBody>
          <a:bodyPr wrap="square" rtlCol="0" anchor="ctr"/>
          <a:lstStyle/>
          <a:p>
            <a:pPr marL="0" indent="0" algn="ctr">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19" name="Text 17"/>
          <p:cNvSpPr/>
          <p:nvPr/>
        </p:nvSpPr>
        <p:spPr>
          <a:xfrm>
            <a:off x="1143000" y="4690872"/>
            <a:ext cx="4892040" cy="566928"/>
          </a:xfrm>
          <a:prstGeom prst="rect">
            <a:avLst/>
          </a:prstGeom>
          <a:noFill/>
          <a:ln/>
        </p:spPr>
        <p:txBody>
          <a:bodyPr wrap="square" rtlCol="0" anchor="ctr"/>
          <a:lstStyle/>
          <a:p>
            <a:pPr marL="0" indent="0">
              <a:buNone/>
            </a:pPr>
            <a:r>
              <a:rPr lang="en-US" sz="1180" dirty="0">
                <a:solidFill>
                  <a:srgbClr val="141414"/>
                </a:solidFill>
                <a:latin typeface="Calibri" pitchFamily="34" charset="0"/>
                <a:ea typeface="Calibri" pitchFamily="34" charset="-122"/>
                <a:cs typeface="Calibri" pitchFamily="34" charset="-120"/>
              </a:rPr>
              <a:t>How does trip demand change over time?</a:t>
            </a:r>
            <a:endParaRPr lang="en-US" sz="1180" dirty="0"/>
          </a:p>
        </p:txBody>
      </p:sp>
      <p:sp>
        <p:nvSpPr>
          <p:cNvPr id="20" name="Shape 18"/>
          <p:cNvSpPr/>
          <p:nvPr/>
        </p:nvSpPr>
        <p:spPr>
          <a:xfrm>
            <a:off x="548640" y="5367528"/>
            <a:ext cx="5623560" cy="566928"/>
          </a:xfrm>
          <a:prstGeom prst="roundRect">
            <a:avLst>
              <a:gd name="adj" fmla="val 11290"/>
            </a:avLst>
          </a:prstGeom>
          <a:solidFill>
            <a:srgbClr val="FFFFFF"/>
          </a:solidFill>
          <a:ln w="12700">
            <a:solidFill>
              <a:srgbClr val="E2E2E2"/>
            </a:solidFill>
            <a:prstDash val="solid"/>
          </a:ln>
        </p:spPr>
        <p:txBody>
          <a:bodyPr/>
          <a:lstStyle/>
          <a:p>
            <a:endParaRPr lang="en-GB"/>
          </a:p>
        </p:txBody>
      </p:sp>
      <p:sp>
        <p:nvSpPr>
          <p:cNvPr id="21" name="Text 19"/>
          <p:cNvSpPr/>
          <p:nvPr/>
        </p:nvSpPr>
        <p:spPr>
          <a:xfrm>
            <a:off x="685800" y="5367528"/>
            <a:ext cx="457200" cy="566928"/>
          </a:xfrm>
          <a:prstGeom prst="rect">
            <a:avLst/>
          </a:prstGeom>
          <a:noFill/>
          <a:ln/>
        </p:spPr>
        <p:txBody>
          <a:bodyPr wrap="square" rtlCol="0" anchor="ctr"/>
          <a:lstStyle/>
          <a:p>
            <a:pPr marL="0" indent="0" algn="ctr">
              <a:buNone/>
            </a:pPr>
            <a:r>
              <a:rPr lang="en-US" sz="1800" b="1" dirty="0">
                <a:solidFill>
                  <a:srgbClr val="D7263D"/>
                </a:solidFill>
                <a:latin typeface="Bookman Old Style" pitchFamily="34" charset="0"/>
                <a:ea typeface="Bookman Old Style" pitchFamily="34" charset="-122"/>
                <a:cs typeface="Bookman Old Style" pitchFamily="34" charset="-120"/>
              </a:rPr>
              <a:t>?</a:t>
            </a:r>
            <a:endParaRPr lang="en-US" sz="1800" dirty="0"/>
          </a:p>
        </p:txBody>
      </p:sp>
      <p:sp>
        <p:nvSpPr>
          <p:cNvPr id="22" name="Text 20"/>
          <p:cNvSpPr/>
          <p:nvPr/>
        </p:nvSpPr>
        <p:spPr>
          <a:xfrm>
            <a:off x="1143000" y="5367528"/>
            <a:ext cx="4892040" cy="566928"/>
          </a:xfrm>
          <a:prstGeom prst="rect">
            <a:avLst/>
          </a:prstGeom>
          <a:noFill/>
          <a:ln/>
        </p:spPr>
        <p:txBody>
          <a:bodyPr wrap="square" rtlCol="0" anchor="ctr"/>
          <a:lstStyle/>
          <a:p>
            <a:pPr marL="0" indent="0">
              <a:buNone/>
            </a:pPr>
            <a:r>
              <a:rPr lang="en-US" sz="1180" dirty="0">
                <a:solidFill>
                  <a:srgbClr val="141414"/>
                </a:solidFill>
                <a:latin typeface="Calibri" pitchFamily="34" charset="0"/>
                <a:ea typeface="Calibri" pitchFamily="34" charset="-122"/>
                <a:cs typeface="Calibri" pitchFamily="34" charset="-120"/>
              </a:rPr>
              <a:t>How do passenger trends vary across locations?</a:t>
            </a:r>
            <a:endParaRPr lang="en-US" sz="1180" dirty="0"/>
          </a:p>
        </p:txBody>
      </p:sp>
      <p:sp>
        <p:nvSpPr>
          <p:cNvPr id="23" name="Shape 21"/>
          <p:cNvSpPr/>
          <p:nvPr/>
        </p:nvSpPr>
        <p:spPr>
          <a:xfrm>
            <a:off x="6446520" y="1600200"/>
            <a:ext cx="5193792" cy="4617720"/>
          </a:xfrm>
          <a:prstGeom prst="roundRect">
            <a:avLst>
              <a:gd name="adj" fmla="val 1782"/>
            </a:avLst>
          </a:prstGeom>
          <a:solidFill>
            <a:srgbClr val="141414"/>
          </a:solidFill>
          <a:ln/>
        </p:spPr>
        <p:txBody>
          <a:bodyPr/>
          <a:lstStyle/>
          <a:p>
            <a:endParaRPr lang="en-GB"/>
          </a:p>
        </p:txBody>
      </p:sp>
      <p:sp>
        <p:nvSpPr>
          <p:cNvPr id="24" name="Text 22"/>
          <p:cNvSpPr/>
          <p:nvPr/>
        </p:nvSpPr>
        <p:spPr>
          <a:xfrm>
            <a:off x="6720840" y="1856232"/>
            <a:ext cx="4645152" cy="274320"/>
          </a:xfrm>
          <a:prstGeom prst="rect">
            <a:avLst/>
          </a:prstGeom>
          <a:noFill/>
          <a:ln/>
        </p:spPr>
        <p:txBody>
          <a:bodyPr wrap="square" rtlCol="0" anchor="ctr"/>
          <a:lstStyle/>
          <a:p>
            <a:pPr marL="0" indent="0">
              <a:buNone/>
            </a:pPr>
            <a:r>
              <a:rPr lang="en-US" sz="1100" b="1" kern="0" spc="150" dirty="0">
                <a:solidFill>
                  <a:srgbClr val="D7263D"/>
                </a:solidFill>
                <a:latin typeface="Calibri" pitchFamily="34" charset="0"/>
                <a:ea typeface="Calibri" pitchFamily="34" charset="-122"/>
                <a:cs typeface="Calibri" pitchFamily="34" charset="-120"/>
              </a:rPr>
              <a:t>EXPECTED OUTCOMES</a:t>
            </a:r>
            <a:endParaRPr lang="en-US" sz="1100" dirty="0"/>
          </a:p>
        </p:txBody>
      </p:sp>
      <p:sp>
        <p:nvSpPr>
          <p:cNvPr id="25" name="Text 23"/>
          <p:cNvSpPr/>
          <p:nvPr/>
        </p:nvSpPr>
        <p:spPr>
          <a:xfrm>
            <a:off x="6720840" y="2148840"/>
            <a:ext cx="4645152"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transportation analytics teams gain</a:t>
            </a:r>
            <a:endParaRPr lang="en-US" sz="1500" dirty="0"/>
          </a:p>
        </p:txBody>
      </p:sp>
      <p:sp>
        <p:nvSpPr>
          <p:cNvPr id="26" name="Shape 24"/>
          <p:cNvSpPr/>
          <p:nvPr/>
        </p:nvSpPr>
        <p:spPr>
          <a:xfrm>
            <a:off x="6720840" y="2788920"/>
            <a:ext cx="420624" cy="420624"/>
          </a:xfrm>
          <a:prstGeom prst="ellipse">
            <a:avLst/>
          </a:prstGeom>
          <a:solidFill>
            <a:srgbClr val="2A2A2A"/>
          </a:solidFill>
          <a:ln/>
        </p:spPr>
        <p:txBody>
          <a:bodyPr/>
          <a:lstStyle/>
          <a:p>
            <a:endParaRPr lang="en-GB"/>
          </a:p>
        </p:txBody>
      </p:sp>
      <p:pic>
        <p:nvPicPr>
          <p:cNvPr id="27" name="Image 0" descr="/home/claude/assets/FiActivity_red.png"/>
          <p:cNvPicPr>
            <a:picLocks noChangeAspect="1"/>
          </p:cNvPicPr>
          <p:nvPr/>
        </p:nvPicPr>
        <p:blipFill>
          <a:blip r:embed="rId3"/>
          <a:stretch>
            <a:fillRect/>
          </a:stretch>
        </p:blipFill>
        <p:spPr>
          <a:xfrm>
            <a:off x="6812280" y="2880360"/>
            <a:ext cx="237744" cy="237744"/>
          </a:xfrm>
          <a:prstGeom prst="rect">
            <a:avLst/>
          </a:prstGeom>
        </p:spPr>
      </p:pic>
      <p:sp>
        <p:nvSpPr>
          <p:cNvPr id="28" name="Text 25"/>
          <p:cNvSpPr/>
          <p:nvPr/>
        </p:nvSpPr>
        <p:spPr>
          <a:xfrm>
            <a:off x="7269480" y="2788920"/>
            <a:ext cx="4096512" cy="420624"/>
          </a:xfrm>
          <a:prstGeom prst="rect">
            <a:avLst/>
          </a:prstGeom>
          <a:noFill/>
          <a:ln/>
        </p:spPr>
        <p:txBody>
          <a:bodyPr wrap="square" rtlCol="0" anchor="ctr"/>
          <a:lstStyle/>
          <a:p>
            <a:pPr marL="0" indent="0">
              <a:buNone/>
            </a:pPr>
            <a:r>
              <a:rPr lang="en-US" sz="1250" dirty="0">
                <a:solidFill>
                  <a:srgbClr val="E6E6E6"/>
                </a:solidFill>
                <a:latin typeface="Calibri" pitchFamily="34" charset="0"/>
                <a:ea typeface="Calibri" pitchFamily="34" charset="-122"/>
                <a:cs typeface="Calibri" pitchFamily="34" charset="-120"/>
              </a:rPr>
              <a:t>Monitor taxi demand in real time</a:t>
            </a:r>
            <a:endParaRPr lang="en-US" sz="1250" dirty="0"/>
          </a:p>
        </p:txBody>
      </p:sp>
      <p:sp>
        <p:nvSpPr>
          <p:cNvPr id="29" name="Shape 26"/>
          <p:cNvSpPr/>
          <p:nvPr/>
        </p:nvSpPr>
        <p:spPr>
          <a:xfrm>
            <a:off x="6720840" y="3364992"/>
            <a:ext cx="420624" cy="420624"/>
          </a:xfrm>
          <a:prstGeom prst="ellipse">
            <a:avLst/>
          </a:prstGeom>
          <a:solidFill>
            <a:srgbClr val="2A2A2A"/>
          </a:solidFill>
          <a:ln/>
        </p:spPr>
        <p:txBody>
          <a:bodyPr/>
          <a:lstStyle/>
          <a:p>
            <a:endParaRPr lang="en-GB"/>
          </a:p>
        </p:txBody>
      </p:sp>
      <p:pic>
        <p:nvPicPr>
          <p:cNvPr id="30" name="Image 1" descr="/home/claude/assets/FiDollarSign_red.png"/>
          <p:cNvPicPr>
            <a:picLocks noChangeAspect="1"/>
          </p:cNvPicPr>
          <p:nvPr/>
        </p:nvPicPr>
        <p:blipFill>
          <a:blip r:embed="rId4"/>
          <a:stretch>
            <a:fillRect/>
          </a:stretch>
        </p:blipFill>
        <p:spPr>
          <a:xfrm>
            <a:off x="6812280" y="3456432"/>
            <a:ext cx="237744" cy="237744"/>
          </a:xfrm>
          <a:prstGeom prst="rect">
            <a:avLst/>
          </a:prstGeom>
        </p:spPr>
      </p:pic>
      <p:sp>
        <p:nvSpPr>
          <p:cNvPr id="31" name="Text 27"/>
          <p:cNvSpPr/>
          <p:nvPr/>
        </p:nvSpPr>
        <p:spPr>
          <a:xfrm>
            <a:off x="7269480" y="3364992"/>
            <a:ext cx="4096512" cy="420624"/>
          </a:xfrm>
          <a:prstGeom prst="rect">
            <a:avLst/>
          </a:prstGeom>
          <a:noFill/>
          <a:ln/>
        </p:spPr>
        <p:txBody>
          <a:bodyPr wrap="square" rtlCol="0" anchor="ctr"/>
          <a:lstStyle/>
          <a:p>
            <a:pPr marL="0" indent="0">
              <a:buNone/>
            </a:pPr>
            <a:r>
              <a:rPr lang="en-US" sz="1250" dirty="0">
                <a:solidFill>
                  <a:srgbClr val="E6E6E6"/>
                </a:solidFill>
                <a:latin typeface="Calibri" pitchFamily="34" charset="0"/>
                <a:ea typeface="Calibri" pitchFamily="34" charset="-122"/>
                <a:cs typeface="Calibri" pitchFamily="34" charset="-120"/>
              </a:rPr>
              <a:t>Identify high-revenue zones</a:t>
            </a:r>
            <a:endParaRPr lang="en-US" sz="1250" dirty="0"/>
          </a:p>
        </p:txBody>
      </p:sp>
      <p:sp>
        <p:nvSpPr>
          <p:cNvPr id="32" name="Shape 28"/>
          <p:cNvSpPr/>
          <p:nvPr/>
        </p:nvSpPr>
        <p:spPr>
          <a:xfrm>
            <a:off x="6720840" y="3941064"/>
            <a:ext cx="420624" cy="420624"/>
          </a:xfrm>
          <a:prstGeom prst="ellipse">
            <a:avLst/>
          </a:prstGeom>
          <a:solidFill>
            <a:srgbClr val="2A2A2A"/>
          </a:solidFill>
          <a:ln/>
        </p:spPr>
        <p:txBody>
          <a:bodyPr/>
          <a:lstStyle/>
          <a:p>
            <a:endParaRPr lang="en-GB"/>
          </a:p>
        </p:txBody>
      </p:sp>
      <p:pic>
        <p:nvPicPr>
          <p:cNvPr id="33" name="Image 2" descr="/home/claude/assets/FiUsers_red.png"/>
          <p:cNvPicPr>
            <a:picLocks noChangeAspect="1"/>
          </p:cNvPicPr>
          <p:nvPr/>
        </p:nvPicPr>
        <p:blipFill>
          <a:blip r:embed="rId5"/>
          <a:stretch>
            <a:fillRect/>
          </a:stretch>
        </p:blipFill>
        <p:spPr>
          <a:xfrm>
            <a:off x="6812280" y="4032504"/>
            <a:ext cx="237744" cy="237744"/>
          </a:xfrm>
          <a:prstGeom prst="rect">
            <a:avLst/>
          </a:prstGeom>
        </p:spPr>
      </p:pic>
      <p:sp>
        <p:nvSpPr>
          <p:cNvPr id="34" name="Text 29"/>
          <p:cNvSpPr/>
          <p:nvPr/>
        </p:nvSpPr>
        <p:spPr>
          <a:xfrm>
            <a:off x="7269480" y="3941064"/>
            <a:ext cx="4096512" cy="420624"/>
          </a:xfrm>
          <a:prstGeom prst="rect">
            <a:avLst/>
          </a:prstGeom>
          <a:noFill/>
          <a:ln/>
        </p:spPr>
        <p:txBody>
          <a:bodyPr wrap="square" rtlCol="0" anchor="ctr"/>
          <a:lstStyle/>
          <a:p>
            <a:pPr marL="0" indent="0">
              <a:buNone/>
            </a:pPr>
            <a:r>
              <a:rPr lang="en-US" sz="1250" dirty="0">
                <a:solidFill>
                  <a:srgbClr val="E6E6E6"/>
                </a:solidFill>
                <a:latin typeface="Calibri" pitchFamily="34" charset="0"/>
                <a:ea typeface="Calibri" pitchFamily="34" charset="-122"/>
                <a:cs typeface="Calibri" pitchFamily="34" charset="-120"/>
              </a:rPr>
              <a:t>Understand passenger behavior</a:t>
            </a:r>
            <a:endParaRPr lang="en-US" sz="1250" dirty="0"/>
          </a:p>
        </p:txBody>
      </p:sp>
      <p:sp>
        <p:nvSpPr>
          <p:cNvPr id="35" name="Shape 30"/>
          <p:cNvSpPr/>
          <p:nvPr/>
        </p:nvSpPr>
        <p:spPr>
          <a:xfrm>
            <a:off x="6720840" y="4517136"/>
            <a:ext cx="420624" cy="420624"/>
          </a:xfrm>
          <a:prstGeom prst="ellipse">
            <a:avLst/>
          </a:prstGeom>
          <a:solidFill>
            <a:srgbClr val="2A2A2A"/>
          </a:solidFill>
          <a:ln/>
        </p:spPr>
        <p:txBody>
          <a:bodyPr/>
          <a:lstStyle/>
          <a:p>
            <a:endParaRPr lang="en-GB"/>
          </a:p>
        </p:txBody>
      </p:sp>
      <p:pic>
        <p:nvPicPr>
          <p:cNvPr id="36" name="Image 3" descr="/home/claude/assets/FiBarChart2_red.png"/>
          <p:cNvPicPr>
            <a:picLocks noChangeAspect="1"/>
          </p:cNvPicPr>
          <p:nvPr/>
        </p:nvPicPr>
        <p:blipFill>
          <a:blip r:embed="rId6"/>
          <a:stretch>
            <a:fillRect/>
          </a:stretch>
        </p:blipFill>
        <p:spPr>
          <a:xfrm>
            <a:off x="6812280" y="4608576"/>
            <a:ext cx="237744" cy="237744"/>
          </a:xfrm>
          <a:prstGeom prst="rect">
            <a:avLst/>
          </a:prstGeom>
        </p:spPr>
      </p:pic>
      <p:sp>
        <p:nvSpPr>
          <p:cNvPr id="37" name="Text 31"/>
          <p:cNvSpPr/>
          <p:nvPr/>
        </p:nvSpPr>
        <p:spPr>
          <a:xfrm>
            <a:off x="7269480" y="4517136"/>
            <a:ext cx="4096512" cy="420624"/>
          </a:xfrm>
          <a:prstGeom prst="rect">
            <a:avLst/>
          </a:prstGeom>
          <a:noFill/>
          <a:ln/>
        </p:spPr>
        <p:txBody>
          <a:bodyPr wrap="square" rtlCol="0" anchor="ctr"/>
          <a:lstStyle/>
          <a:p>
            <a:pPr marL="0" indent="0">
              <a:buNone/>
            </a:pPr>
            <a:r>
              <a:rPr lang="en-US" sz="1250" dirty="0">
                <a:solidFill>
                  <a:srgbClr val="E6E6E6"/>
                </a:solidFill>
                <a:latin typeface="Calibri" pitchFamily="34" charset="0"/>
                <a:ea typeface="Calibri" pitchFamily="34" charset="-122"/>
                <a:cs typeface="Calibri" pitchFamily="34" charset="-120"/>
              </a:rPr>
              <a:t>Track operational KPIs at a glance</a:t>
            </a:r>
            <a:endParaRPr lang="en-US" sz="1250" dirty="0"/>
          </a:p>
        </p:txBody>
      </p:sp>
      <p:sp>
        <p:nvSpPr>
          <p:cNvPr id="38" name="Shape 32"/>
          <p:cNvSpPr/>
          <p:nvPr/>
        </p:nvSpPr>
        <p:spPr>
          <a:xfrm>
            <a:off x="6720840" y="5093208"/>
            <a:ext cx="420624" cy="420624"/>
          </a:xfrm>
          <a:prstGeom prst="ellipse">
            <a:avLst/>
          </a:prstGeom>
          <a:solidFill>
            <a:srgbClr val="2A2A2A"/>
          </a:solidFill>
          <a:ln/>
        </p:spPr>
        <p:txBody>
          <a:bodyPr/>
          <a:lstStyle/>
          <a:p>
            <a:endParaRPr lang="en-GB"/>
          </a:p>
        </p:txBody>
      </p:sp>
      <p:pic>
        <p:nvPicPr>
          <p:cNvPr id="39" name="Image 4" descr="/home/claude/assets/FiTrendingUp_red.png"/>
          <p:cNvPicPr>
            <a:picLocks noChangeAspect="1"/>
          </p:cNvPicPr>
          <p:nvPr/>
        </p:nvPicPr>
        <p:blipFill>
          <a:blip r:embed="rId7"/>
          <a:stretch>
            <a:fillRect/>
          </a:stretch>
        </p:blipFill>
        <p:spPr>
          <a:xfrm>
            <a:off x="6812280" y="5184648"/>
            <a:ext cx="237744" cy="237744"/>
          </a:xfrm>
          <a:prstGeom prst="rect">
            <a:avLst/>
          </a:prstGeom>
        </p:spPr>
      </p:pic>
      <p:sp>
        <p:nvSpPr>
          <p:cNvPr id="40" name="Text 33"/>
          <p:cNvSpPr/>
          <p:nvPr/>
        </p:nvSpPr>
        <p:spPr>
          <a:xfrm>
            <a:off x="7269480" y="5093208"/>
            <a:ext cx="4096512" cy="420624"/>
          </a:xfrm>
          <a:prstGeom prst="rect">
            <a:avLst/>
          </a:prstGeom>
          <a:noFill/>
          <a:ln/>
        </p:spPr>
        <p:txBody>
          <a:bodyPr wrap="square" rtlCol="0" anchor="ctr"/>
          <a:lstStyle/>
          <a:p>
            <a:pPr marL="0" indent="0">
              <a:buNone/>
            </a:pPr>
            <a:r>
              <a:rPr lang="en-US" sz="1250" dirty="0">
                <a:solidFill>
                  <a:srgbClr val="E6E6E6"/>
                </a:solidFill>
                <a:latin typeface="Calibri" pitchFamily="34" charset="0"/>
                <a:ea typeface="Calibri" pitchFamily="34" charset="-122"/>
                <a:cs typeface="Calibri" pitchFamily="34" charset="-120"/>
              </a:rPr>
              <a:t>Spot demand trends as they emerge</a:t>
            </a:r>
            <a:endParaRPr lang="en-US" sz="1250" dirty="0"/>
          </a:p>
        </p:txBody>
      </p:sp>
      <p:sp>
        <p:nvSpPr>
          <p:cNvPr id="41" name="Shape 34"/>
          <p:cNvSpPr/>
          <p:nvPr/>
        </p:nvSpPr>
        <p:spPr>
          <a:xfrm>
            <a:off x="6720840" y="5669280"/>
            <a:ext cx="420624" cy="420624"/>
          </a:xfrm>
          <a:prstGeom prst="ellipse">
            <a:avLst/>
          </a:prstGeom>
          <a:solidFill>
            <a:srgbClr val="2A2A2A"/>
          </a:solidFill>
          <a:ln/>
        </p:spPr>
        <p:txBody>
          <a:bodyPr/>
          <a:lstStyle/>
          <a:p>
            <a:endParaRPr lang="en-GB"/>
          </a:p>
        </p:txBody>
      </p:sp>
      <p:pic>
        <p:nvPicPr>
          <p:cNvPr id="42" name="Image 5" descr="/home/claude/assets/FiCheckCircle_red.png"/>
          <p:cNvPicPr>
            <a:picLocks noChangeAspect="1"/>
          </p:cNvPicPr>
          <p:nvPr/>
        </p:nvPicPr>
        <p:blipFill>
          <a:blip r:embed="rId8"/>
          <a:stretch>
            <a:fillRect/>
          </a:stretch>
        </p:blipFill>
        <p:spPr>
          <a:xfrm>
            <a:off x="6812280" y="5760720"/>
            <a:ext cx="237744" cy="237744"/>
          </a:xfrm>
          <a:prstGeom prst="rect">
            <a:avLst/>
          </a:prstGeom>
        </p:spPr>
      </p:pic>
      <p:sp>
        <p:nvSpPr>
          <p:cNvPr id="43" name="Text 35"/>
          <p:cNvSpPr/>
          <p:nvPr/>
        </p:nvSpPr>
        <p:spPr>
          <a:xfrm>
            <a:off x="7269480" y="5669280"/>
            <a:ext cx="4096512" cy="420624"/>
          </a:xfrm>
          <a:prstGeom prst="rect">
            <a:avLst/>
          </a:prstGeom>
          <a:noFill/>
          <a:ln/>
        </p:spPr>
        <p:txBody>
          <a:bodyPr wrap="square" rtlCol="0" anchor="ctr"/>
          <a:lstStyle/>
          <a:p>
            <a:pPr marL="0" indent="0">
              <a:buNone/>
            </a:pPr>
            <a:r>
              <a:rPr lang="en-US" sz="1250" dirty="0">
                <a:solidFill>
                  <a:srgbClr val="E6E6E6"/>
                </a:solidFill>
                <a:latin typeface="Calibri" pitchFamily="34" charset="0"/>
                <a:ea typeface="Calibri" pitchFamily="34" charset="-122"/>
                <a:cs typeface="Calibri" pitchFamily="34" charset="-120"/>
              </a:rPr>
              <a:t>Support data-driven decisions</a:t>
            </a:r>
            <a:endParaRPr lang="en-US" sz="1250" dirty="0"/>
          </a:p>
        </p:txBody>
      </p:sp>
      <p:sp>
        <p:nvSpPr>
          <p:cNvPr id="44" name="Text 3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marL="0" indent="0">
              <a:buNone/>
            </a:pPr>
            <a:r>
              <a:rPr lang="en-US" sz="1200" b="1" kern="0" spc="200" dirty="0">
                <a:solidFill>
                  <a:srgbClr val="D7263D"/>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48640" y="749808"/>
            <a:ext cx="10515600" cy="548640"/>
          </a:xfrm>
          <a:prstGeom prst="rect">
            <a:avLst/>
          </a:prstGeom>
          <a:noFill/>
          <a:ln/>
        </p:spPr>
        <p:txBody>
          <a:bodyPr wrap="square" rtlCol="0" anchor="ctr"/>
          <a:lstStyle/>
          <a:p>
            <a:pPr marL="0" indent="0">
              <a:buNone/>
            </a:pPr>
            <a:r>
              <a:rPr lang="en-US" sz="2800" b="1" dirty="0">
                <a:solidFill>
                  <a:srgbClr val="141414"/>
                </a:solidFill>
                <a:latin typeface="Bookman Old Style" pitchFamily="34" charset="0"/>
                <a:ea typeface="Bookman Old Style" pitchFamily="34" charset="-122"/>
                <a:cs typeface="Bookman Old Style" pitchFamily="34" charset="-120"/>
              </a:rPr>
              <a:t>Roadmap for future enhancements</a:t>
            </a:r>
            <a:endParaRPr lang="en-US" sz="2800" dirty="0"/>
          </a:p>
        </p:txBody>
      </p:sp>
      <p:sp>
        <p:nvSpPr>
          <p:cNvPr id="4" name="Shape 2"/>
          <p:cNvSpPr/>
          <p:nvPr/>
        </p:nvSpPr>
        <p:spPr>
          <a:xfrm>
            <a:off x="548640" y="1691640"/>
            <a:ext cx="3502152" cy="1965960"/>
          </a:xfrm>
          <a:prstGeom prst="roundRect">
            <a:avLst>
              <a:gd name="adj" fmla="val 4186"/>
            </a:avLst>
          </a:prstGeom>
          <a:solidFill>
            <a:srgbClr val="FFFFFF"/>
          </a:solidFill>
          <a:ln w="12700">
            <a:solidFill>
              <a:srgbClr val="E2E2E2"/>
            </a:solidFill>
            <a:prstDash val="solid"/>
          </a:ln>
        </p:spPr>
        <p:txBody>
          <a:bodyPr/>
          <a:lstStyle/>
          <a:p>
            <a:endParaRPr/>
          </a:p>
        </p:txBody>
      </p:sp>
      <p:sp>
        <p:nvSpPr>
          <p:cNvPr id="5" name="Shape 3"/>
          <p:cNvSpPr/>
          <p:nvPr/>
        </p:nvSpPr>
        <p:spPr>
          <a:xfrm>
            <a:off x="749808" y="1892808"/>
            <a:ext cx="512064" cy="512064"/>
          </a:xfrm>
          <a:prstGeom prst="ellipse">
            <a:avLst/>
          </a:prstGeom>
          <a:solidFill>
            <a:srgbClr val="FAFAFA"/>
          </a:solidFill>
          <a:ln/>
        </p:spPr>
        <p:txBody>
          <a:bodyPr/>
          <a:lstStyle/>
          <a:p>
            <a:endParaRPr/>
          </a:p>
        </p:txBody>
      </p:sp>
      <p:pic>
        <p:nvPicPr>
          <p:cNvPr id="6" name="Image 0" descr="/home/claude/assets/FiBell_black_r.png"/>
          <p:cNvPicPr>
            <a:picLocks noChangeAspect="1"/>
          </p:cNvPicPr>
          <p:nvPr/>
        </p:nvPicPr>
        <p:blipFill>
          <a:blip r:embed="rId3"/>
          <a:stretch>
            <a:fillRect/>
          </a:stretch>
        </p:blipFill>
        <p:spPr>
          <a:xfrm>
            <a:off x="859536" y="2002536"/>
            <a:ext cx="292608" cy="292608"/>
          </a:xfrm>
          <a:prstGeom prst="rect">
            <a:avLst/>
          </a:prstGeom>
        </p:spPr>
      </p:pic>
      <p:sp>
        <p:nvSpPr>
          <p:cNvPr id="7" name="Text 4"/>
          <p:cNvSpPr/>
          <p:nvPr/>
        </p:nvSpPr>
        <p:spPr>
          <a:xfrm>
            <a:off x="749808" y="2514600"/>
            <a:ext cx="3099816" cy="502920"/>
          </a:xfrm>
          <a:prstGeom prst="rect">
            <a:avLst/>
          </a:prstGeom>
          <a:noFill/>
          <a:ln/>
        </p:spPr>
        <p:txBody>
          <a:bodyPr wrap="square" rtlCol="0" anchor="ctr"/>
          <a:lstStyle/>
          <a:p>
            <a:pPr marL="0" indent="0">
              <a:lnSpc>
                <a:spcPct val="110000"/>
              </a:lnSpc>
              <a:buNone/>
            </a:pPr>
            <a:r>
              <a:rPr lang="en-US" sz="1300" b="1" dirty="0">
                <a:solidFill>
                  <a:srgbClr val="141414"/>
                </a:solidFill>
                <a:latin typeface="Calibri" pitchFamily="34" charset="0"/>
                <a:ea typeface="Calibri" pitchFamily="34" charset="-122"/>
                <a:cs typeface="Calibri" pitchFamily="34" charset="-120"/>
              </a:rPr>
              <a:t>Real-time alerting</a:t>
            </a:r>
            <a:endParaRPr lang="en-US" sz="1300" dirty="0"/>
          </a:p>
        </p:txBody>
      </p:sp>
      <p:sp>
        <p:nvSpPr>
          <p:cNvPr id="8" name="Text 5"/>
          <p:cNvSpPr/>
          <p:nvPr/>
        </p:nvSpPr>
        <p:spPr>
          <a:xfrm>
            <a:off x="749808" y="2990088"/>
            <a:ext cx="3099816" cy="594360"/>
          </a:xfrm>
          <a:prstGeom prst="rect">
            <a:avLst/>
          </a:prstGeom>
          <a:noFill/>
          <a:ln/>
        </p:spPr>
        <p:txBody>
          <a:bodyPr wrap="square" rtlCol="0" anchor="ctr"/>
          <a:lstStyle/>
          <a:p>
            <a:pPr marL="0" indent="0">
              <a:lnSpc>
                <a:spcPct val="120000"/>
              </a:lnSpc>
              <a:buNone/>
            </a:pPr>
            <a:r>
              <a:rPr lang="en-US" sz="1000" dirty="0">
                <a:solidFill>
                  <a:srgbClr val="6B6B6B"/>
                </a:solidFill>
                <a:latin typeface="Calibri" pitchFamily="34" charset="0"/>
                <a:ea typeface="Calibri" pitchFamily="34" charset="-122"/>
                <a:cs typeface="Calibri" pitchFamily="34" charset="-120"/>
              </a:rPr>
              <a:t>Push notifications the moment demand or revenue moves unusually.</a:t>
            </a:r>
            <a:endParaRPr lang="en-US" sz="1000" dirty="0"/>
          </a:p>
        </p:txBody>
      </p:sp>
      <p:sp>
        <p:nvSpPr>
          <p:cNvPr id="9" name="Shape 6"/>
          <p:cNvSpPr/>
          <p:nvPr/>
        </p:nvSpPr>
        <p:spPr>
          <a:xfrm>
            <a:off x="4251960" y="1691640"/>
            <a:ext cx="3502152" cy="1965960"/>
          </a:xfrm>
          <a:prstGeom prst="roundRect">
            <a:avLst>
              <a:gd name="adj" fmla="val 4186"/>
            </a:avLst>
          </a:prstGeom>
          <a:solidFill>
            <a:srgbClr val="FFFFFF"/>
          </a:solidFill>
          <a:ln w="12700">
            <a:solidFill>
              <a:srgbClr val="E2E2E2"/>
            </a:solidFill>
            <a:prstDash val="solid"/>
          </a:ln>
        </p:spPr>
        <p:txBody>
          <a:bodyPr/>
          <a:lstStyle/>
          <a:p>
            <a:endParaRPr/>
          </a:p>
        </p:txBody>
      </p:sp>
      <p:sp>
        <p:nvSpPr>
          <p:cNvPr id="10" name="Shape 7"/>
          <p:cNvSpPr/>
          <p:nvPr/>
        </p:nvSpPr>
        <p:spPr>
          <a:xfrm>
            <a:off x="4453128" y="1892808"/>
            <a:ext cx="512064" cy="512064"/>
          </a:xfrm>
          <a:prstGeom prst="ellipse">
            <a:avLst/>
          </a:prstGeom>
          <a:solidFill>
            <a:srgbClr val="FAFAFA"/>
          </a:solidFill>
          <a:ln/>
        </p:spPr>
        <p:txBody>
          <a:bodyPr/>
          <a:lstStyle/>
          <a:p>
            <a:endParaRPr/>
          </a:p>
        </p:txBody>
      </p:sp>
      <p:pic>
        <p:nvPicPr>
          <p:cNvPr id="11" name="Image 1" descr="/home/claude/assets/FiTrendingUp_black_r.png"/>
          <p:cNvPicPr>
            <a:picLocks noChangeAspect="1"/>
          </p:cNvPicPr>
          <p:nvPr/>
        </p:nvPicPr>
        <p:blipFill>
          <a:blip r:embed="rId4"/>
          <a:stretch>
            <a:fillRect/>
          </a:stretch>
        </p:blipFill>
        <p:spPr>
          <a:xfrm>
            <a:off x="4562856" y="2002536"/>
            <a:ext cx="292608" cy="292608"/>
          </a:xfrm>
          <a:prstGeom prst="rect">
            <a:avLst/>
          </a:prstGeom>
        </p:spPr>
      </p:pic>
      <p:sp>
        <p:nvSpPr>
          <p:cNvPr id="12" name="Text 8"/>
          <p:cNvSpPr/>
          <p:nvPr/>
        </p:nvSpPr>
        <p:spPr>
          <a:xfrm>
            <a:off x="4453128" y="2514600"/>
            <a:ext cx="3099816" cy="502920"/>
          </a:xfrm>
          <a:prstGeom prst="rect">
            <a:avLst/>
          </a:prstGeom>
          <a:noFill/>
          <a:ln/>
        </p:spPr>
        <p:txBody>
          <a:bodyPr wrap="square" rtlCol="0" anchor="ctr"/>
          <a:lstStyle/>
          <a:p>
            <a:pPr marL="0" indent="0">
              <a:lnSpc>
                <a:spcPct val="110000"/>
              </a:lnSpc>
              <a:buNone/>
            </a:pPr>
            <a:r>
              <a:rPr lang="en-US" sz="1300" b="1" dirty="0">
                <a:solidFill>
                  <a:srgbClr val="141414"/>
                </a:solidFill>
                <a:latin typeface="Calibri" pitchFamily="34" charset="0"/>
                <a:ea typeface="Calibri" pitchFamily="34" charset="-122"/>
                <a:cs typeface="Calibri" pitchFamily="34" charset="-120"/>
              </a:rPr>
              <a:t>Predictive demand forecasting</a:t>
            </a:r>
            <a:endParaRPr lang="en-US" sz="1300" dirty="0"/>
          </a:p>
        </p:txBody>
      </p:sp>
      <p:sp>
        <p:nvSpPr>
          <p:cNvPr id="13" name="Text 9"/>
          <p:cNvSpPr/>
          <p:nvPr/>
        </p:nvSpPr>
        <p:spPr>
          <a:xfrm>
            <a:off x="4453128" y="2990088"/>
            <a:ext cx="3099816" cy="594360"/>
          </a:xfrm>
          <a:prstGeom prst="rect">
            <a:avLst/>
          </a:prstGeom>
          <a:noFill/>
          <a:ln/>
        </p:spPr>
        <p:txBody>
          <a:bodyPr wrap="square" rtlCol="0" anchor="ctr"/>
          <a:lstStyle/>
          <a:p>
            <a:pPr marL="0" indent="0">
              <a:lnSpc>
                <a:spcPct val="120000"/>
              </a:lnSpc>
              <a:buNone/>
            </a:pPr>
            <a:r>
              <a:rPr lang="en-US" sz="1000" dirty="0">
                <a:solidFill>
                  <a:srgbClr val="6B6B6B"/>
                </a:solidFill>
                <a:latin typeface="Calibri" pitchFamily="34" charset="0"/>
                <a:ea typeface="Calibri" pitchFamily="34" charset="-122"/>
                <a:cs typeface="Calibri" pitchFamily="34" charset="-120"/>
              </a:rPr>
              <a:t>Model historical patterns to anticipate next-week demand.</a:t>
            </a:r>
            <a:endParaRPr lang="en-US" sz="1000" dirty="0"/>
          </a:p>
        </p:txBody>
      </p:sp>
      <p:sp>
        <p:nvSpPr>
          <p:cNvPr id="14" name="Shape 10"/>
          <p:cNvSpPr/>
          <p:nvPr/>
        </p:nvSpPr>
        <p:spPr>
          <a:xfrm>
            <a:off x="7955280" y="1691640"/>
            <a:ext cx="3502152" cy="1965960"/>
          </a:xfrm>
          <a:prstGeom prst="roundRect">
            <a:avLst>
              <a:gd name="adj" fmla="val 4186"/>
            </a:avLst>
          </a:prstGeom>
          <a:solidFill>
            <a:srgbClr val="FFFFFF"/>
          </a:solidFill>
          <a:ln w="12700">
            <a:solidFill>
              <a:srgbClr val="E2E2E2"/>
            </a:solidFill>
            <a:prstDash val="solid"/>
          </a:ln>
        </p:spPr>
        <p:txBody>
          <a:bodyPr/>
          <a:lstStyle/>
          <a:p>
            <a:endParaRPr/>
          </a:p>
        </p:txBody>
      </p:sp>
      <p:sp>
        <p:nvSpPr>
          <p:cNvPr id="15" name="Shape 11"/>
          <p:cNvSpPr/>
          <p:nvPr/>
        </p:nvSpPr>
        <p:spPr>
          <a:xfrm>
            <a:off x="8156448" y="1892808"/>
            <a:ext cx="512064" cy="512064"/>
          </a:xfrm>
          <a:prstGeom prst="ellipse">
            <a:avLst/>
          </a:prstGeom>
          <a:solidFill>
            <a:srgbClr val="FAFAFA"/>
          </a:solidFill>
          <a:ln/>
        </p:spPr>
        <p:txBody>
          <a:bodyPr/>
          <a:lstStyle/>
          <a:p>
            <a:endParaRPr/>
          </a:p>
        </p:txBody>
      </p:sp>
      <p:pic>
        <p:nvPicPr>
          <p:cNvPr id="16" name="Image 2" descr="/home/claude/assets/FiCloud_black_r.png"/>
          <p:cNvPicPr>
            <a:picLocks noChangeAspect="1"/>
          </p:cNvPicPr>
          <p:nvPr/>
        </p:nvPicPr>
        <p:blipFill>
          <a:blip r:embed="rId5"/>
          <a:stretch>
            <a:fillRect/>
          </a:stretch>
        </p:blipFill>
        <p:spPr>
          <a:xfrm>
            <a:off x="8266176" y="2002536"/>
            <a:ext cx="292608" cy="292608"/>
          </a:xfrm>
          <a:prstGeom prst="rect">
            <a:avLst/>
          </a:prstGeom>
        </p:spPr>
      </p:pic>
      <p:sp>
        <p:nvSpPr>
          <p:cNvPr id="17" name="Text 12"/>
          <p:cNvSpPr/>
          <p:nvPr/>
        </p:nvSpPr>
        <p:spPr>
          <a:xfrm>
            <a:off x="8156448" y="2514600"/>
            <a:ext cx="3099816" cy="502920"/>
          </a:xfrm>
          <a:prstGeom prst="rect">
            <a:avLst/>
          </a:prstGeom>
          <a:noFill/>
          <a:ln/>
        </p:spPr>
        <p:txBody>
          <a:bodyPr wrap="square" rtlCol="0" anchor="ctr"/>
          <a:lstStyle/>
          <a:p>
            <a:pPr marL="0" indent="0">
              <a:lnSpc>
                <a:spcPct val="110000"/>
              </a:lnSpc>
              <a:buNone/>
            </a:pPr>
            <a:r>
              <a:rPr lang="en-US" sz="1300" b="1" dirty="0">
                <a:solidFill>
                  <a:srgbClr val="141414"/>
                </a:solidFill>
                <a:latin typeface="Calibri" pitchFamily="34" charset="0"/>
                <a:ea typeface="Calibri" pitchFamily="34" charset="-122"/>
                <a:cs typeface="Calibri" pitchFamily="34" charset="-120"/>
              </a:rPr>
              <a:t>Cloud deployment</a:t>
            </a:r>
            <a:endParaRPr lang="en-US" sz="1300" dirty="0"/>
          </a:p>
        </p:txBody>
      </p:sp>
      <p:sp>
        <p:nvSpPr>
          <p:cNvPr id="18" name="Text 13"/>
          <p:cNvSpPr/>
          <p:nvPr/>
        </p:nvSpPr>
        <p:spPr>
          <a:xfrm>
            <a:off x="8156448" y="2990088"/>
            <a:ext cx="3099816" cy="594360"/>
          </a:xfrm>
          <a:prstGeom prst="rect">
            <a:avLst/>
          </a:prstGeom>
          <a:noFill/>
          <a:ln/>
        </p:spPr>
        <p:txBody>
          <a:bodyPr wrap="square" rtlCol="0" anchor="ctr"/>
          <a:lstStyle/>
          <a:p>
            <a:pPr marL="0" indent="0">
              <a:lnSpc>
                <a:spcPct val="120000"/>
              </a:lnSpc>
              <a:buNone/>
            </a:pPr>
            <a:r>
              <a:rPr lang="en-US" sz="1000" dirty="0">
                <a:solidFill>
                  <a:srgbClr val="6B6B6B"/>
                </a:solidFill>
                <a:latin typeface="Calibri" pitchFamily="34" charset="0"/>
                <a:ea typeface="Calibri" pitchFamily="34" charset="-122"/>
                <a:cs typeface="Calibri" pitchFamily="34" charset="-120"/>
              </a:rPr>
              <a:t>Migrate the stack to AWS / Azure for elastic scale.</a:t>
            </a:r>
            <a:endParaRPr lang="en-US" sz="1000" dirty="0"/>
          </a:p>
        </p:txBody>
      </p:sp>
      <p:sp>
        <p:nvSpPr>
          <p:cNvPr id="19" name="Shape 14"/>
          <p:cNvSpPr/>
          <p:nvPr/>
        </p:nvSpPr>
        <p:spPr>
          <a:xfrm>
            <a:off x="548640" y="3858768"/>
            <a:ext cx="3502152" cy="1965960"/>
          </a:xfrm>
          <a:prstGeom prst="roundRect">
            <a:avLst>
              <a:gd name="adj" fmla="val 4186"/>
            </a:avLst>
          </a:prstGeom>
          <a:solidFill>
            <a:srgbClr val="FFFFFF"/>
          </a:solidFill>
          <a:ln w="12700">
            <a:solidFill>
              <a:srgbClr val="E2E2E2"/>
            </a:solidFill>
            <a:prstDash val="solid"/>
          </a:ln>
        </p:spPr>
        <p:txBody>
          <a:bodyPr/>
          <a:lstStyle/>
          <a:p>
            <a:endParaRPr/>
          </a:p>
        </p:txBody>
      </p:sp>
      <p:sp>
        <p:nvSpPr>
          <p:cNvPr id="20" name="Shape 15"/>
          <p:cNvSpPr/>
          <p:nvPr/>
        </p:nvSpPr>
        <p:spPr>
          <a:xfrm>
            <a:off x="749808" y="4059936"/>
            <a:ext cx="512064" cy="512064"/>
          </a:xfrm>
          <a:prstGeom prst="ellipse">
            <a:avLst/>
          </a:prstGeom>
          <a:solidFill>
            <a:srgbClr val="FAFAFA"/>
          </a:solidFill>
          <a:ln/>
        </p:spPr>
        <p:txBody>
          <a:bodyPr/>
          <a:lstStyle/>
          <a:p>
            <a:endParaRPr/>
          </a:p>
        </p:txBody>
      </p:sp>
      <p:pic>
        <p:nvPicPr>
          <p:cNvPr id="21" name="Image 3" descr="/home/claude/assets/FiRefreshCw_black_r.png"/>
          <p:cNvPicPr>
            <a:picLocks noChangeAspect="1"/>
          </p:cNvPicPr>
          <p:nvPr/>
        </p:nvPicPr>
        <p:blipFill>
          <a:blip r:embed="rId6"/>
          <a:stretch>
            <a:fillRect/>
          </a:stretch>
        </p:blipFill>
        <p:spPr>
          <a:xfrm>
            <a:off x="859536" y="4169664"/>
            <a:ext cx="292608" cy="292608"/>
          </a:xfrm>
          <a:prstGeom prst="rect">
            <a:avLst/>
          </a:prstGeom>
        </p:spPr>
      </p:pic>
      <p:sp>
        <p:nvSpPr>
          <p:cNvPr id="22" name="Text 16"/>
          <p:cNvSpPr/>
          <p:nvPr/>
        </p:nvSpPr>
        <p:spPr>
          <a:xfrm>
            <a:off x="749808" y="4681728"/>
            <a:ext cx="3099816" cy="502920"/>
          </a:xfrm>
          <a:prstGeom prst="rect">
            <a:avLst/>
          </a:prstGeom>
          <a:noFill/>
          <a:ln/>
        </p:spPr>
        <p:txBody>
          <a:bodyPr wrap="square" rtlCol="0" anchor="ctr"/>
          <a:lstStyle/>
          <a:p>
            <a:pPr marL="0" indent="0">
              <a:lnSpc>
                <a:spcPct val="110000"/>
              </a:lnSpc>
              <a:buNone/>
            </a:pPr>
            <a:r>
              <a:rPr lang="en-US" sz="1300" b="1" dirty="0">
                <a:solidFill>
                  <a:srgbClr val="141414"/>
                </a:solidFill>
                <a:latin typeface="Calibri" pitchFamily="34" charset="0"/>
                <a:ea typeface="Calibri" pitchFamily="34" charset="-122"/>
                <a:cs typeface="Calibri" pitchFamily="34" charset="-120"/>
              </a:rPr>
              <a:t>CI/CD integration</a:t>
            </a:r>
            <a:endParaRPr lang="en-US" sz="1300" dirty="0"/>
          </a:p>
        </p:txBody>
      </p:sp>
      <p:sp>
        <p:nvSpPr>
          <p:cNvPr id="23" name="Text 17"/>
          <p:cNvSpPr/>
          <p:nvPr/>
        </p:nvSpPr>
        <p:spPr>
          <a:xfrm>
            <a:off x="749808" y="5157216"/>
            <a:ext cx="3099816" cy="594360"/>
          </a:xfrm>
          <a:prstGeom prst="rect">
            <a:avLst/>
          </a:prstGeom>
          <a:noFill/>
          <a:ln/>
        </p:spPr>
        <p:txBody>
          <a:bodyPr wrap="square" rtlCol="0" anchor="ctr"/>
          <a:lstStyle/>
          <a:p>
            <a:pPr marL="0" indent="0">
              <a:lnSpc>
                <a:spcPct val="120000"/>
              </a:lnSpc>
              <a:buNone/>
            </a:pPr>
            <a:r>
              <a:rPr lang="en-US" sz="1000" dirty="0">
                <a:solidFill>
                  <a:srgbClr val="6B6B6B"/>
                </a:solidFill>
                <a:latin typeface="Calibri" pitchFamily="34" charset="0"/>
                <a:ea typeface="Calibri" pitchFamily="34" charset="-122"/>
                <a:cs typeface="Calibri" pitchFamily="34" charset="-120"/>
              </a:rPr>
              <a:t>Automated testing and deployment for every pipeline change.</a:t>
            </a:r>
            <a:endParaRPr lang="en-US" sz="1000" dirty="0"/>
          </a:p>
        </p:txBody>
      </p:sp>
      <p:sp>
        <p:nvSpPr>
          <p:cNvPr id="24" name="Shape 18"/>
          <p:cNvSpPr/>
          <p:nvPr/>
        </p:nvSpPr>
        <p:spPr>
          <a:xfrm>
            <a:off x="4251960" y="3858768"/>
            <a:ext cx="3502152" cy="1965960"/>
          </a:xfrm>
          <a:prstGeom prst="roundRect">
            <a:avLst>
              <a:gd name="adj" fmla="val 4186"/>
            </a:avLst>
          </a:prstGeom>
          <a:solidFill>
            <a:srgbClr val="FFFFFF"/>
          </a:solidFill>
          <a:ln w="12700">
            <a:solidFill>
              <a:srgbClr val="E2E2E2"/>
            </a:solidFill>
            <a:prstDash val="solid"/>
          </a:ln>
        </p:spPr>
        <p:txBody>
          <a:bodyPr/>
          <a:lstStyle/>
          <a:p>
            <a:endParaRPr/>
          </a:p>
        </p:txBody>
      </p:sp>
      <p:sp>
        <p:nvSpPr>
          <p:cNvPr id="25" name="Shape 19"/>
          <p:cNvSpPr/>
          <p:nvPr/>
        </p:nvSpPr>
        <p:spPr>
          <a:xfrm>
            <a:off x="4453128" y="4059936"/>
            <a:ext cx="512064" cy="512064"/>
          </a:xfrm>
          <a:prstGeom prst="ellipse">
            <a:avLst/>
          </a:prstGeom>
          <a:solidFill>
            <a:srgbClr val="FAFAFA"/>
          </a:solidFill>
          <a:ln/>
        </p:spPr>
        <p:txBody>
          <a:bodyPr/>
          <a:lstStyle/>
          <a:p>
            <a:endParaRPr/>
          </a:p>
        </p:txBody>
      </p:sp>
      <p:pic>
        <p:nvPicPr>
          <p:cNvPr id="26" name="Image 4" descr="/home/claude/assets/FiFileText_black_r.png"/>
          <p:cNvPicPr>
            <a:picLocks noChangeAspect="1"/>
          </p:cNvPicPr>
          <p:nvPr/>
        </p:nvPicPr>
        <p:blipFill>
          <a:blip r:embed="rId7"/>
          <a:stretch>
            <a:fillRect/>
          </a:stretch>
        </p:blipFill>
        <p:spPr>
          <a:xfrm>
            <a:off x="4562856" y="4169664"/>
            <a:ext cx="292608" cy="292608"/>
          </a:xfrm>
          <a:prstGeom prst="rect">
            <a:avLst/>
          </a:prstGeom>
        </p:spPr>
      </p:pic>
      <p:sp>
        <p:nvSpPr>
          <p:cNvPr id="27" name="Text 20"/>
          <p:cNvSpPr/>
          <p:nvPr/>
        </p:nvSpPr>
        <p:spPr>
          <a:xfrm>
            <a:off x="4453128" y="4681728"/>
            <a:ext cx="3099816" cy="502920"/>
          </a:xfrm>
          <a:prstGeom prst="rect">
            <a:avLst/>
          </a:prstGeom>
          <a:noFill/>
          <a:ln/>
        </p:spPr>
        <p:txBody>
          <a:bodyPr wrap="square" rtlCol="0" anchor="ctr"/>
          <a:lstStyle/>
          <a:p>
            <a:pPr marL="0" indent="0">
              <a:lnSpc>
                <a:spcPct val="110000"/>
              </a:lnSpc>
              <a:buNone/>
            </a:pPr>
            <a:r>
              <a:rPr lang="en-US" sz="1300" b="1" dirty="0">
                <a:solidFill>
                  <a:srgbClr val="141414"/>
                </a:solidFill>
                <a:latin typeface="Calibri" pitchFamily="34" charset="0"/>
                <a:ea typeface="Calibri" pitchFamily="34" charset="-122"/>
                <a:cs typeface="Calibri" pitchFamily="34" charset="-120"/>
              </a:rPr>
              <a:t>Automated reporting</a:t>
            </a:r>
            <a:endParaRPr lang="en-US" sz="1300" dirty="0"/>
          </a:p>
        </p:txBody>
      </p:sp>
      <p:sp>
        <p:nvSpPr>
          <p:cNvPr id="28" name="Text 21"/>
          <p:cNvSpPr/>
          <p:nvPr/>
        </p:nvSpPr>
        <p:spPr>
          <a:xfrm>
            <a:off x="4453128" y="5157216"/>
            <a:ext cx="3099816" cy="594360"/>
          </a:xfrm>
          <a:prstGeom prst="rect">
            <a:avLst/>
          </a:prstGeom>
          <a:noFill/>
          <a:ln/>
        </p:spPr>
        <p:txBody>
          <a:bodyPr wrap="square" rtlCol="0" anchor="ctr"/>
          <a:lstStyle/>
          <a:p>
            <a:pPr marL="0" indent="0">
              <a:lnSpc>
                <a:spcPct val="120000"/>
              </a:lnSpc>
              <a:buNone/>
            </a:pPr>
            <a:r>
              <a:rPr lang="en-US" sz="1000" dirty="0">
                <a:solidFill>
                  <a:srgbClr val="6B6B6B"/>
                </a:solidFill>
                <a:latin typeface="Calibri" pitchFamily="34" charset="0"/>
                <a:ea typeface="Calibri" pitchFamily="34" charset="-122"/>
                <a:cs typeface="Calibri" pitchFamily="34" charset="-120"/>
              </a:rPr>
              <a:t>Scheduled summaries delivered straight to stakeholders.</a:t>
            </a:r>
            <a:endParaRPr lang="en-US" sz="1000" dirty="0"/>
          </a:p>
        </p:txBody>
      </p:sp>
      <p:sp>
        <p:nvSpPr>
          <p:cNvPr id="29" name="Shape 22"/>
          <p:cNvSpPr/>
          <p:nvPr/>
        </p:nvSpPr>
        <p:spPr>
          <a:xfrm>
            <a:off x="7955280" y="3858768"/>
            <a:ext cx="3502152" cy="1965960"/>
          </a:xfrm>
          <a:prstGeom prst="roundRect">
            <a:avLst>
              <a:gd name="adj" fmla="val 4186"/>
            </a:avLst>
          </a:prstGeom>
          <a:solidFill>
            <a:srgbClr val="FFFFFF"/>
          </a:solidFill>
          <a:ln w="12700">
            <a:solidFill>
              <a:srgbClr val="E2E2E2"/>
            </a:solidFill>
            <a:prstDash val="solid"/>
          </a:ln>
        </p:spPr>
        <p:txBody>
          <a:bodyPr/>
          <a:lstStyle/>
          <a:p>
            <a:endParaRPr/>
          </a:p>
        </p:txBody>
      </p:sp>
      <p:sp>
        <p:nvSpPr>
          <p:cNvPr id="30" name="Shape 23"/>
          <p:cNvSpPr/>
          <p:nvPr/>
        </p:nvSpPr>
        <p:spPr>
          <a:xfrm>
            <a:off x="8156448" y="4059936"/>
            <a:ext cx="512064" cy="512064"/>
          </a:xfrm>
          <a:prstGeom prst="ellipse">
            <a:avLst/>
          </a:prstGeom>
          <a:solidFill>
            <a:srgbClr val="FAFAFA"/>
          </a:solidFill>
          <a:ln/>
        </p:spPr>
        <p:txBody>
          <a:bodyPr/>
          <a:lstStyle/>
          <a:p>
            <a:endParaRPr/>
          </a:p>
        </p:txBody>
      </p:sp>
      <p:pic>
        <p:nvPicPr>
          <p:cNvPr id="31" name="Image 5" descr="/home/claude/assets/FiCalendar_black_r.png"/>
          <p:cNvPicPr>
            <a:picLocks noChangeAspect="1"/>
          </p:cNvPicPr>
          <p:nvPr/>
        </p:nvPicPr>
        <p:blipFill>
          <a:blip r:embed="rId8"/>
          <a:stretch>
            <a:fillRect/>
          </a:stretch>
        </p:blipFill>
        <p:spPr>
          <a:xfrm>
            <a:off x="8266176" y="4169664"/>
            <a:ext cx="292608" cy="292608"/>
          </a:xfrm>
          <a:prstGeom prst="rect">
            <a:avLst/>
          </a:prstGeom>
        </p:spPr>
      </p:pic>
      <p:sp>
        <p:nvSpPr>
          <p:cNvPr id="32" name="Text 24"/>
          <p:cNvSpPr/>
          <p:nvPr/>
        </p:nvSpPr>
        <p:spPr>
          <a:xfrm>
            <a:off x="8156448" y="4681728"/>
            <a:ext cx="3099816" cy="502920"/>
          </a:xfrm>
          <a:prstGeom prst="rect">
            <a:avLst/>
          </a:prstGeom>
          <a:noFill/>
          <a:ln/>
        </p:spPr>
        <p:txBody>
          <a:bodyPr wrap="square" rtlCol="0" anchor="ctr"/>
          <a:lstStyle/>
          <a:p>
            <a:pPr marL="0" indent="0">
              <a:lnSpc>
                <a:spcPct val="110000"/>
              </a:lnSpc>
              <a:buNone/>
            </a:pPr>
            <a:r>
              <a:rPr lang="en-US" sz="1300" b="1" dirty="0">
                <a:solidFill>
                  <a:srgbClr val="141414"/>
                </a:solidFill>
                <a:latin typeface="Calibri" pitchFamily="34" charset="0"/>
                <a:ea typeface="Calibri" pitchFamily="34" charset="-122"/>
                <a:cs typeface="Calibri" pitchFamily="34" charset="-120"/>
              </a:rPr>
              <a:t>Advanced Multi-Agent System</a:t>
            </a:r>
            <a:endParaRPr lang="en-US" sz="1300" dirty="0"/>
          </a:p>
        </p:txBody>
      </p:sp>
      <p:sp>
        <p:nvSpPr>
          <p:cNvPr id="33" name="Text 25"/>
          <p:cNvSpPr/>
          <p:nvPr/>
        </p:nvSpPr>
        <p:spPr>
          <a:xfrm>
            <a:off x="8156448" y="5157216"/>
            <a:ext cx="3099816" cy="594360"/>
          </a:xfrm>
          <a:prstGeom prst="rect">
            <a:avLst/>
          </a:prstGeom>
          <a:noFill/>
          <a:ln/>
        </p:spPr>
        <p:txBody>
          <a:bodyPr wrap="square" rtlCol="0" anchor="ctr"/>
          <a:lstStyle/>
          <a:p>
            <a:pPr marL="0" indent="0">
              <a:lnSpc>
                <a:spcPct val="120000"/>
              </a:lnSpc>
              <a:buNone/>
            </a:pPr>
            <a:r>
              <a:rPr lang="en-US" sz="1000" dirty="0">
                <a:solidFill>
                  <a:srgbClr val="6B6B6B"/>
                </a:solidFill>
                <a:latin typeface="Calibri" pitchFamily="34" charset="0"/>
                <a:ea typeface="Calibri" pitchFamily="34" charset="-122"/>
                <a:cs typeface="Calibri" pitchFamily="34" charset="-120"/>
              </a:rPr>
              <a:t>Implement conversational memory for the AI Agent.</a:t>
            </a:r>
            <a:endParaRPr lang="en-US" sz="1000" dirty="0"/>
          </a:p>
        </p:txBody>
      </p:sp>
      <p:sp>
        <p:nvSpPr>
          <p:cNvPr id="34" name="Text 2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A6A6A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41414"/>
        </a:solidFill>
        <a:effectLst/>
      </p:bgPr>
    </p:bg>
    <p:spTree>
      <p:nvGrpSpPr>
        <p:cNvPr id="1" name=""/>
        <p:cNvGrpSpPr/>
        <p:nvPr/>
      </p:nvGrpSpPr>
      <p:grpSpPr>
        <a:xfrm>
          <a:off x="0" y="0"/>
          <a:ext cx="0" cy="0"/>
          <a:chOff x="0" y="0"/>
          <a:chExt cx="0" cy="0"/>
        </a:xfrm>
      </p:grpSpPr>
      <p:sp>
        <p:nvSpPr>
          <p:cNvPr id="2" name="Shape 0"/>
          <p:cNvSpPr/>
          <p:nvPr/>
        </p:nvSpPr>
        <p:spPr>
          <a:xfrm>
            <a:off x="-2286000" y="3840480"/>
            <a:ext cx="5943600" cy="5943600"/>
          </a:xfrm>
          <a:prstGeom prst="ellipse">
            <a:avLst/>
          </a:prstGeom>
          <a:solidFill>
            <a:srgbClr val="1B1B1B"/>
          </a:solidFill>
          <a:ln/>
        </p:spPr>
        <p:txBody>
          <a:bodyPr/>
          <a:lstStyle/>
          <a:p>
            <a:endParaRPr/>
          </a:p>
        </p:txBody>
      </p:sp>
      <p:sp>
        <p:nvSpPr>
          <p:cNvPr id="3" name="Shape 1"/>
          <p:cNvSpPr/>
          <p:nvPr/>
        </p:nvSpPr>
        <p:spPr>
          <a:xfrm>
            <a:off x="-822960" y="5120640"/>
            <a:ext cx="3108960" cy="3108960"/>
          </a:xfrm>
          <a:prstGeom prst="ellipse">
            <a:avLst/>
          </a:prstGeom>
          <a:solidFill>
            <a:srgbClr val="D7263D"/>
          </a:solidFill>
          <a:ln/>
        </p:spPr>
        <p:txBody>
          <a:bodyPr/>
          <a:lstStyle/>
          <a:p>
            <a:endParaRPr/>
          </a:p>
        </p:txBody>
      </p:sp>
      <p:sp>
        <p:nvSpPr>
          <p:cNvPr id="4" name="Text 2"/>
          <p:cNvSpPr/>
          <p:nvPr/>
        </p:nvSpPr>
        <p:spPr>
          <a:xfrm>
            <a:off x="731520" y="2286000"/>
            <a:ext cx="8229600" cy="1005840"/>
          </a:xfrm>
          <a:prstGeom prst="rect">
            <a:avLst/>
          </a:prstGeom>
          <a:noFill/>
          <a:ln/>
        </p:spPr>
        <p:txBody>
          <a:bodyPr wrap="square"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Thank You</a:t>
            </a:r>
            <a:endParaRPr lang="en-US" sz="4600" dirty="0"/>
          </a:p>
        </p:txBody>
      </p:sp>
      <p:sp>
        <p:nvSpPr>
          <p:cNvPr id="5" name="Text 3"/>
          <p:cNvSpPr/>
          <p:nvPr/>
        </p:nvSpPr>
        <p:spPr>
          <a:xfrm>
            <a:off x="731520" y="3246120"/>
            <a:ext cx="8229600" cy="457200"/>
          </a:xfrm>
          <a:prstGeom prst="rect">
            <a:avLst/>
          </a:prstGeom>
          <a:noFill/>
          <a:ln/>
        </p:spPr>
        <p:txBody>
          <a:bodyPr wrap="square" rtlCol="0" anchor="ctr"/>
          <a:lstStyle/>
          <a:p>
            <a:pPr marL="0" indent="0">
              <a:buNone/>
            </a:pPr>
            <a:r>
              <a:rPr lang="en-US" sz="1600" b="1" dirty="0">
                <a:solidFill>
                  <a:srgbClr val="D7263D"/>
                </a:solidFill>
                <a:latin typeface="Calibri" pitchFamily="34" charset="0"/>
                <a:ea typeface="Calibri" pitchFamily="34" charset="-122"/>
                <a:cs typeface="Calibri" pitchFamily="34" charset="-120"/>
              </a:rPr>
              <a:t>NYC Taxi Real-Time Analytics Platform</a:t>
            </a:r>
            <a:endParaRPr lang="en-US" sz="1600" dirty="0"/>
          </a:p>
        </p:txBody>
      </p:sp>
      <p:sp>
        <p:nvSpPr>
          <p:cNvPr id="6" name="Text 4"/>
          <p:cNvSpPr/>
          <p:nvPr/>
        </p:nvSpPr>
        <p:spPr>
          <a:xfrm>
            <a:off x="731520" y="3749040"/>
            <a:ext cx="8686800" cy="365760"/>
          </a:xfrm>
          <a:prstGeom prst="rect">
            <a:avLst/>
          </a:prstGeom>
          <a:noFill/>
          <a:ln/>
        </p:spPr>
        <p:txBody>
          <a:bodyPr wrap="square" rtlCol="0" anchor="ctr"/>
          <a:lstStyle/>
          <a:p>
            <a:pPr marL="0" indent="0">
              <a:buNone/>
            </a:pPr>
            <a:r>
              <a:rPr lang="en-US" sz="1200" dirty="0">
                <a:solidFill>
                  <a:srgbClr val="9A9A9A"/>
                </a:solidFill>
                <a:latin typeface="Calibri" pitchFamily="34" charset="0"/>
                <a:ea typeface="Calibri" pitchFamily="34" charset="-122"/>
                <a:cs typeface="Calibri" pitchFamily="34" charset="-120"/>
              </a:rPr>
              <a:t>Kafka · Spark · ClickHouse · Airflow · Superset · AI Agent · Docker</a:t>
            </a:r>
            <a:endParaRPr lang="en-US" sz="1200" dirty="0"/>
          </a:p>
        </p:txBody>
      </p:sp>
      <p:sp>
        <p:nvSpPr>
          <p:cNvPr id="7" name="Shape 5"/>
          <p:cNvSpPr/>
          <p:nvPr/>
        </p:nvSpPr>
        <p:spPr>
          <a:xfrm>
            <a:off x="731520" y="4434840"/>
            <a:ext cx="1828800" cy="0"/>
          </a:xfrm>
          <a:prstGeom prst="line">
            <a:avLst/>
          </a:prstGeom>
          <a:noFill/>
          <a:ln w="12700">
            <a:solidFill>
              <a:srgbClr val="3A3A3A"/>
            </a:solidFill>
            <a:prstDash val="solid"/>
          </a:ln>
        </p:spPr>
        <p:txBody>
          <a:bodyPr/>
          <a:lstStyle/>
          <a:p>
            <a:endParaRPr/>
          </a:p>
        </p:txBody>
      </p:sp>
      <p:sp>
        <p:nvSpPr>
          <p:cNvPr id="8" name="Text 6"/>
          <p:cNvSpPr/>
          <p:nvPr/>
        </p:nvSpPr>
        <p:spPr>
          <a:xfrm>
            <a:off x="731520" y="4617720"/>
            <a:ext cx="7315200" cy="320040"/>
          </a:xfrm>
          <a:prstGeom prst="rect">
            <a:avLst/>
          </a:prstGeom>
          <a:noFill/>
          <a:ln/>
        </p:spPr>
        <p:txBody>
          <a:bodyPr wrap="square" rtlCol="0" anchor="ctr"/>
          <a:lstStyle/>
          <a:p>
            <a:pPr marL="0" indent="0">
              <a:buNone/>
            </a:pPr>
            <a:r>
              <a:rPr lang="en-US" sz="1150" dirty="0">
                <a:solidFill>
                  <a:srgbClr val="C9C9C9"/>
                </a:solidFill>
                <a:latin typeface="Calibri" pitchFamily="34" charset="0"/>
                <a:ea typeface="Calibri" pitchFamily="34" charset="-122"/>
                <a:cs typeface="Calibri" pitchFamily="34" charset="-120"/>
              </a:rPr>
              <a:t>github.com/Sarahhh005/nyc-taxi-real-time-pipeline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1190</Words>
  <Application>Microsoft Office PowerPoint</Application>
  <PresentationFormat>Widescreen</PresentationFormat>
  <Paragraphs>261</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sara mahmoud</cp:lastModifiedBy>
  <cp:revision>3</cp:revision>
  <dcterms:created xsi:type="dcterms:W3CDTF">2026-08-20T15:31:23Z</dcterms:created>
  <dcterms:modified xsi:type="dcterms:W3CDTF">2026-08-21T16:04:22Z</dcterms:modified>
</cp:coreProperties>
</file>