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Trips</c:v>
                </c:pt>
              </c:strCache>
            </c:strRef>
          </c:tx>
          <c:spPr>
            <a:solidFill>
              <a:srgbClr val="D726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262</c:v>
                </c:pt>
                <c:pt idx="1">
                  <c:v>177</c:v>
                </c:pt>
                <c:pt idx="2">
                  <c:v>133</c:v>
                </c:pt>
                <c:pt idx="3">
                  <c:v>74</c:v>
                </c:pt>
                <c:pt idx="4">
                  <c:v>64</c:v>
                </c:pt>
                <c:pt idx="5">
                  <c:v>60</c:v>
                </c:pt>
                <c:pt idx="6">
                  <c:v>123</c:v>
                </c:pt>
                <c:pt idx="7">
                  <c:v>316</c:v>
                </c:pt>
                <c:pt idx="8">
                  <c:v>425</c:v>
                </c:pt>
                <c:pt idx="9">
                  <c:v>401</c:v>
                </c:pt>
                <c:pt idx="10">
                  <c:v>391</c:v>
                </c:pt>
                <c:pt idx="11">
                  <c:v>492</c:v>
                </c:pt>
                <c:pt idx="12">
                  <c:v>486</c:v>
                </c:pt>
                <c:pt idx="13">
                  <c:v>564</c:v>
                </c:pt>
                <c:pt idx="14">
                  <c:v>583</c:v>
                </c:pt>
                <c:pt idx="15">
                  <c:v>600</c:v>
                </c:pt>
                <c:pt idx="16">
                  <c:v>620</c:v>
                </c:pt>
                <c:pt idx="17">
                  <c:v>697</c:v>
                </c:pt>
                <c:pt idx="18">
                  <c:v>796</c:v>
                </c:pt>
                <c:pt idx="19">
                  <c:v>616</c:v>
                </c:pt>
                <c:pt idx="20">
                  <c:v>572</c:v>
                </c:pt>
                <c:pt idx="21">
                  <c:v>595</c:v>
                </c:pt>
                <c:pt idx="22">
                  <c:v>508</c:v>
                </c:pt>
                <c:pt idx="23">
                  <c:v>445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FEFEF"/>
              </a:solidFill>
              <a:prstDash val="solid"/>
              <a:round/>
            </a:ln>
          </c:spPr>
        </c:majorGridlines>
        <c:numFmt formatCode="#,##0" sourceLinked="0"/>
        <c:majorTickMark val="out"/>
        <c:minorTickMark val="none"/>
        <c:tickLblPos val="nextTo"/>
        <c:spPr>
          <a:ln w="12700" cap="flat">
            <a:noFill/>
            <a:prstDash val="solid"/>
            <a:round/>
          </a:ln>
        </c:spPr>
        <c:txPr>
          <a:bodyPr/>
          <a:lstStyle/>
          <a:p>
            <a:pPr>
              <a:defRPr sz="8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c:v>
                </c:pt>
              </c:strCache>
            </c:strRef>
          </c:tx>
          <c:spPr>
            <a:solidFill>
              <a:srgbClr val="D7263D"/>
            </a:solidFill>
            <a:effectLst/>
          </c:spPr>
          <c:invertIfNegative val="0"/>
          <c:dLbls>
            <c:numFmt formatCode="$#,##0" sourceLinked="0"/>
            <c:txPr>
              <a:bodyPr/>
              <a:lstStyle/>
              <a:p>
                <a:pPr>
                  <a:defRPr b="0" i="0" strike="noStrike" sz="800" u="none">
                    <a:solidFill>
                      <a:srgbClr val="6B6B6B"/>
                    </a:solidFill>
                    <a:latin typeface="Arial"/>
                  </a:defRPr>
                </a:pPr>
              </a:p>
            </c:txPr>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27441</c:v>
                </c:pt>
                <c:pt idx="1">
                  <c:v>33835</c:v>
                </c:pt>
                <c:pt idx="2">
                  <c:v>43178</c:v>
                </c:pt>
                <c:pt idx="3">
                  <c:v>44408</c:v>
                </c:pt>
                <c:pt idx="4">
                  <c:v>44669</c:v>
                </c:pt>
                <c:pt idx="5">
                  <c:v>33358</c:v>
                </c:pt>
                <c:pt idx="6">
                  <c:v>28618</c:v>
                </c:pt>
              </c:numCache>
            </c:numRef>
          </c:val>
        </c:ser>
        <c:dLbls>
          <c:numFmt formatCode="$#,##0" sourceLinked="0"/>
          <c:txPr>
            <a:bodyPr/>
            <a:lstStyle/>
            <a:p>
              <a:pPr>
                <a:defRPr b="0" i="0" strike="noStrike" sz="800" u="none">
                  <a:solidFill>
                    <a:srgbClr val="6B6B6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FEFEF"/>
              </a:solidFill>
              <a:prstDash val="solid"/>
              <a:round/>
            </a:ln>
          </c:spPr>
        </c:majorGridlines>
        <c:numFmt formatCode="$#,##0" sourceLinked="0"/>
        <c:majorTickMark val="out"/>
        <c:minorTickMark val="none"/>
        <c:tickLblPos val="nextTo"/>
        <c:spPr>
          <a:ln w="12700" cap="flat">
            <a:noFill/>
            <a:prstDash val="solid"/>
            <a:round/>
          </a:ln>
        </c:spPr>
        <c:txPr>
          <a:bodyPr/>
          <a:lstStyle/>
          <a:p>
            <a:pPr>
              <a:defRPr sz="8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Trips</c:v>
                </c:pt>
              </c:strCache>
            </c:strRef>
          </c:tx>
          <c:spPr>
            <a:solidFill>
              <a:schemeClr val="accent1"/>
            </a:solidFill>
            <a:ln w="9525" cap="flat">
              <a:solidFill>
                <a:srgbClr val="F9F9F9"/>
              </a:solidFill>
              <a:prstDash val="solid"/>
              <a:round/>
            </a:ln>
            <a:effectLst/>
          </c:spPr>
          <c:dPt>
            <c:idx val="0"/>
            <c:bubble3D val="0"/>
            <c:spPr>
              <a:solidFill>
                <a:srgbClr val="D7263D"/>
              </a:solidFill>
              <a:ln w="25400" cap="flat">
                <a:solidFill>
                  <a:srgbClr val="141414"/>
                </a:solidFill>
                <a:prstDash val="solid"/>
                <a:round/>
              </a:ln>
              <a:effectLst/>
            </c:spPr>
          </c:dPt>
          <c:dPt>
            <c:idx val="1"/>
            <c:bubble3D val="0"/>
            <c:spPr>
              <a:solidFill>
                <a:srgbClr val="6B0F1A"/>
              </a:solidFill>
              <a:ln w="25400" cap="flat">
                <a:solidFill>
                  <a:srgbClr val="141414"/>
                </a:solidFill>
                <a:prstDash val="solid"/>
                <a:round/>
              </a:ln>
              <a:effectLst/>
            </c:spPr>
          </c:dPt>
          <c:dPt>
            <c:idx val="2"/>
            <c:bubble3D val="0"/>
            <c:spPr>
              <a:solidFill>
                <a:srgbClr val="8A8A8A"/>
              </a:solidFill>
              <a:ln w="25400" cap="flat">
                <a:solidFill>
                  <a:srgbClr val="141414"/>
                </a:solidFill>
                <a:prstDash val="solid"/>
                <a:round/>
              </a:ln>
              <a:effectLst/>
            </c:spPr>
          </c:dPt>
          <c:dPt>
            <c:idx val="3"/>
            <c:bubble3D val="0"/>
            <c:spPr>
              <a:solidFill>
                <a:srgbClr val="3A3A3A"/>
              </a:solidFill>
              <a:ln w="25400" cap="flat">
                <a:solidFill>
                  <a:srgbClr val="141414"/>
                </a:solidFill>
                <a:prstDash val="solid"/>
                <a:round/>
              </a:ln>
              <a:effectLst/>
            </c:spPr>
          </c:dPt>
          <c:dPt>
            <c:idx val="4"/>
            <c:bubble3D val="0"/>
            <c:spPr>
              <a:solidFill>
                <a:srgbClr val="C9C9C9"/>
              </a:solidFill>
              <a:ln w="25400" cap="flat">
                <a:solidFill>
                  <a:srgbClr val="141414"/>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Credit card</c:v>
                </c:pt>
                <c:pt idx="1">
                  <c:v>Unspecified</c:v>
                </c:pt>
                <c:pt idx="2">
                  <c:v>Cash</c:v>
                </c:pt>
                <c:pt idx="3">
                  <c:v>Dispute</c:v>
                </c:pt>
                <c:pt idx="4">
                  <c:v>No charge</c:v>
                </c:pt>
              </c:strCache>
            </c:strRef>
          </c:cat>
          <c:val>
            <c:numRef>
              <c:f>Sheet1!$B$2:$B$6</c:f>
              <c:numCache>
                <c:ptCount val="5"/>
                <c:pt idx="0">
                  <c:v>7040</c:v>
                </c:pt>
                <c:pt idx="1">
                  <c:v>1568</c:v>
                </c:pt>
                <c:pt idx="2">
                  <c:v>1106</c:v>
                </c:pt>
                <c:pt idx="3">
                  <c:v>233</c:v>
                </c:pt>
                <c:pt idx="4">
                  <c:v>53</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1B1B1B"/>
          </a:solidFill>
          <a:ln/>
        </p:spPr>
        <p:txBody>
          <a:bodyPr/>
          <a:p/>
        </p:txBody>
      </p:sp>
      <p:sp>
        <p:nvSpPr>
          <p:cNvPr id="3" name="Shape 1"/>
          <p:cNvSpPr/>
          <p:nvPr/>
        </p:nvSpPr>
        <p:spPr>
          <a:xfrm>
            <a:off x="10332720" y="-822960"/>
            <a:ext cx="3840480" cy="3840480"/>
          </a:xfrm>
          <a:prstGeom prst="ellipse">
            <a:avLst/>
          </a:prstGeom>
          <a:solidFill>
            <a:srgbClr val="D7263D"/>
          </a:solidFill>
          <a:ln/>
        </p:spPr>
        <p:txBody>
          <a:bodyPr/>
          <a:p/>
        </p:txBody>
      </p:sp>
      <p:sp>
        <p:nvSpPr>
          <p:cNvPr id="4" name="Text 2"/>
          <p:cNvSpPr/>
          <p:nvPr/>
        </p:nvSpPr>
        <p:spPr>
          <a:xfrm>
            <a:off x="731520" y="1417320"/>
            <a:ext cx="9144000" cy="365760"/>
          </a:xfrm>
          <a:prstGeom prst="rect">
            <a:avLst/>
          </a:prstGeom>
          <a:noFill/>
          <a:ln/>
        </p:spPr>
        <p:txBody>
          <a:bodyPr wrap="square" rtlCol="0" anchor="ctr"/>
          <a:lstStyle/>
          <a:p>
            <a:pPr indent="0" marL="0">
              <a:buNone/>
            </a:pPr>
            <a:r>
              <a:rPr lang="en-US" sz="1300" b="1" spc="250" kern="0" dirty="0">
                <a:solidFill>
                  <a:srgbClr val="D7263D"/>
                </a:solidFill>
                <a:latin typeface="Calibri" pitchFamily="34" charset="0"/>
                <a:ea typeface="Calibri" pitchFamily="34" charset="-122"/>
                <a:cs typeface="Calibri" pitchFamily="34" charset="-120"/>
              </a:rPr>
              <a:t>REAL-TIME BIG DATA ANALYTICS PLATFORM</a:t>
            </a:r>
            <a:endParaRPr lang="en-US" sz="1300" dirty="0"/>
          </a:p>
        </p:txBody>
      </p:sp>
      <p:sp>
        <p:nvSpPr>
          <p:cNvPr id="5" name="Text 3"/>
          <p:cNvSpPr/>
          <p:nvPr/>
        </p:nvSpPr>
        <p:spPr>
          <a:xfrm>
            <a:off x="685800" y="1874520"/>
            <a:ext cx="9875520" cy="2194560"/>
          </a:xfrm>
          <a:prstGeom prst="rect">
            <a:avLst/>
          </a:prstGeom>
          <a:noFill/>
          <a:ln/>
        </p:spPr>
        <p:txBody>
          <a:bodyPr wrap="square" rtlCol="0" anchor="ctr"/>
          <a:lstStyle/>
          <a:p>
            <a:pPr indent="0" marL="0">
              <a:lnSpc>
                <a:spcPct val="102000"/>
              </a:lnSpc>
              <a:buNone/>
            </a:pPr>
            <a:r>
              <a:rPr lang="en-US" sz="5000" b="1" dirty="0">
                <a:solidFill>
                  <a:srgbClr val="FFFFFF"/>
                </a:solidFill>
                <a:latin typeface="Bookman Old Style" pitchFamily="34" charset="0"/>
                <a:ea typeface="Bookman Old Style" pitchFamily="34" charset="-122"/>
                <a:cs typeface="Bookman Old Style" pitchFamily="34" charset="-120"/>
              </a:rPr>
              <a:t>NYC Taxi </a:t>
            </a:r>
            <a:pPr indent="0" marL="0">
              <a:lnSpc>
                <a:spcPct val="102000"/>
              </a:lnSpc>
              <a:buNone/>
            </a:pPr>
            <a:r>
              <a:rPr lang="en-US" sz="5000" b="1" dirty="0">
                <a:solidFill>
                  <a:srgbClr val="D7263D"/>
                </a:solidFill>
                <a:latin typeface="Bookman Old Style" pitchFamily="34" charset="0"/>
                <a:ea typeface="Bookman Old Style" pitchFamily="34" charset="-122"/>
                <a:cs typeface="Bookman Old Style" pitchFamily="34" charset="-120"/>
              </a:rPr>
              <a:t>Real-Time</a:t>
            </a:r>
            <a:endParaRPr lang="en-US" sz="5000" dirty="0"/>
          </a:p>
          <a:p>
            <a:pPr indent="0" marL="0">
              <a:lnSpc>
                <a:spcPct val="102000"/>
              </a:lnSpc>
              <a:buNone/>
            </a:pPr>
            <a:r>
              <a:rPr lang="en-US" sz="5000" b="1" dirty="0">
                <a:solidFill>
                  <a:srgbClr val="D7263D"/>
                </a:solidFill>
                <a:latin typeface="Bookman Old Style" pitchFamily="34" charset="0"/>
                <a:ea typeface="Bookman Old Style" pitchFamily="34" charset="-122"/>
                <a:cs typeface="Bookman Old Style" pitchFamily="34" charset="-120"/>
              </a:rPr>
              <a:t>Analytics Platform</a:t>
            </a:r>
            <a:endParaRPr lang="en-US" sz="5000" dirty="0"/>
          </a:p>
        </p:txBody>
      </p:sp>
      <p:sp>
        <p:nvSpPr>
          <p:cNvPr id="6" name="Text 4"/>
          <p:cNvSpPr/>
          <p:nvPr/>
        </p:nvSpPr>
        <p:spPr>
          <a:xfrm>
            <a:off x="731520" y="4160520"/>
            <a:ext cx="7863840" cy="822960"/>
          </a:xfrm>
          <a:prstGeom prst="rect">
            <a:avLst/>
          </a:prstGeom>
          <a:noFill/>
          <a:ln/>
        </p:spPr>
        <p:txBody>
          <a:bodyPr wrap="square" rtlCol="0" anchor="ctr"/>
          <a:lstStyle/>
          <a:p>
            <a:pPr indent="0" marL="0">
              <a:lnSpc>
                <a:spcPct val="125000"/>
              </a:lnSpc>
              <a:buNone/>
            </a:pPr>
            <a:r>
              <a:rPr lang="en-US" sz="1500" dirty="0">
                <a:solidFill>
                  <a:srgbClr val="C9C9C9"/>
                </a:solidFill>
                <a:latin typeface="Calibri" pitchFamily="34" charset="0"/>
                <a:ea typeface="Calibri" pitchFamily="34" charset="-122"/>
                <a:cs typeface="Calibri" pitchFamily="34" charset="-120"/>
              </a:rPr>
              <a:t>Streaming NYC Yellow Taxi trips from Kafka through Spark into ClickHouse — orchestrated end to end with Airflow and visualized in Superset &amp; queried via AI Agent.</a:t>
            </a:r>
            <a:endParaRPr lang="en-US" sz="1500" dirty="0"/>
          </a:p>
        </p:txBody>
      </p:sp>
      <p:sp>
        <p:nvSpPr>
          <p:cNvPr id="7" name="Shape 5"/>
          <p:cNvSpPr/>
          <p:nvPr/>
        </p:nvSpPr>
        <p:spPr>
          <a:xfrm>
            <a:off x="731520" y="5806440"/>
            <a:ext cx="909828" cy="384048"/>
          </a:xfrm>
          <a:prstGeom prst="roundRect">
            <a:avLst>
              <a:gd name="adj" fmla="val 19048"/>
            </a:avLst>
          </a:prstGeom>
          <a:solidFill>
            <a:srgbClr val="232323"/>
          </a:solidFill>
          <a:ln w="9525">
            <a:solidFill>
              <a:srgbClr val="3A3A3A"/>
            </a:solidFill>
            <a:prstDash val="solid"/>
          </a:ln>
        </p:spPr>
        <p:txBody>
          <a:bodyPr/>
          <a:p/>
        </p:txBody>
      </p:sp>
      <p:sp>
        <p:nvSpPr>
          <p:cNvPr id="8" name="Text 6"/>
          <p:cNvSpPr/>
          <p:nvPr/>
        </p:nvSpPr>
        <p:spPr>
          <a:xfrm>
            <a:off x="731520" y="5806440"/>
            <a:ext cx="909828"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Kafka</a:t>
            </a:r>
            <a:endParaRPr lang="en-US" sz="1150" dirty="0"/>
          </a:p>
        </p:txBody>
      </p:sp>
      <p:sp>
        <p:nvSpPr>
          <p:cNvPr id="9" name="Shape 7"/>
          <p:cNvSpPr/>
          <p:nvPr/>
        </p:nvSpPr>
        <p:spPr>
          <a:xfrm>
            <a:off x="1805940" y="5806440"/>
            <a:ext cx="909828" cy="384048"/>
          </a:xfrm>
          <a:prstGeom prst="roundRect">
            <a:avLst>
              <a:gd name="adj" fmla="val 19048"/>
            </a:avLst>
          </a:prstGeom>
          <a:solidFill>
            <a:srgbClr val="232323"/>
          </a:solidFill>
          <a:ln w="9525">
            <a:solidFill>
              <a:srgbClr val="3A3A3A"/>
            </a:solidFill>
            <a:prstDash val="solid"/>
          </a:ln>
        </p:spPr>
        <p:txBody>
          <a:bodyPr/>
          <a:p/>
        </p:txBody>
      </p:sp>
      <p:sp>
        <p:nvSpPr>
          <p:cNvPr id="10" name="Text 8"/>
          <p:cNvSpPr/>
          <p:nvPr/>
        </p:nvSpPr>
        <p:spPr>
          <a:xfrm>
            <a:off x="1805940" y="5806440"/>
            <a:ext cx="909828"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Spark</a:t>
            </a:r>
            <a:endParaRPr lang="en-US" sz="1150" dirty="0"/>
          </a:p>
        </p:txBody>
      </p:sp>
      <p:sp>
        <p:nvSpPr>
          <p:cNvPr id="11" name="Shape 9"/>
          <p:cNvSpPr/>
          <p:nvPr/>
        </p:nvSpPr>
        <p:spPr>
          <a:xfrm>
            <a:off x="2880360" y="5806440"/>
            <a:ext cx="1435608" cy="384048"/>
          </a:xfrm>
          <a:prstGeom prst="roundRect">
            <a:avLst>
              <a:gd name="adj" fmla="val 19048"/>
            </a:avLst>
          </a:prstGeom>
          <a:solidFill>
            <a:srgbClr val="232323"/>
          </a:solidFill>
          <a:ln w="9525">
            <a:solidFill>
              <a:srgbClr val="3A3A3A"/>
            </a:solidFill>
            <a:prstDash val="solid"/>
          </a:ln>
        </p:spPr>
        <p:txBody>
          <a:bodyPr/>
          <a:p/>
        </p:txBody>
      </p:sp>
      <p:sp>
        <p:nvSpPr>
          <p:cNvPr id="12" name="Text 10"/>
          <p:cNvSpPr/>
          <p:nvPr/>
        </p:nvSpPr>
        <p:spPr>
          <a:xfrm>
            <a:off x="2880360" y="5806440"/>
            <a:ext cx="1435608"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ClickHouse</a:t>
            </a:r>
            <a:endParaRPr lang="en-US" sz="1150" dirty="0"/>
          </a:p>
        </p:txBody>
      </p:sp>
      <p:sp>
        <p:nvSpPr>
          <p:cNvPr id="13" name="Shape 11"/>
          <p:cNvSpPr/>
          <p:nvPr/>
        </p:nvSpPr>
        <p:spPr>
          <a:xfrm>
            <a:off x="4480560" y="5806440"/>
            <a:ext cx="1120140" cy="384048"/>
          </a:xfrm>
          <a:prstGeom prst="roundRect">
            <a:avLst>
              <a:gd name="adj" fmla="val 19048"/>
            </a:avLst>
          </a:prstGeom>
          <a:solidFill>
            <a:srgbClr val="232323"/>
          </a:solidFill>
          <a:ln w="9525">
            <a:solidFill>
              <a:srgbClr val="3A3A3A"/>
            </a:solidFill>
            <a:prstDash val="solid"/>
          </a:ln>
        </p:spPr>
        <p:txBody>
          <a:bodyPr/>
          <a:p/>
        </p:txBody>
      </p:sp>
      <p:sp>
        <p:nvSpPr>
          <p:cNvPr id="14" name="Text 12"/>
          <p:cNvSpPr/>
          <p:nvPr/>
        </p:nvSpPr>
        <p:spPr>
          <a:xfrm>
            <a:off x="4480560" y="5806440"/>
            <a:ext cx="112014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Airflow</a:t>
            </a:r>
            <a:endParaRPr lang="en-US" sz="1150" dirty="0"/>
          </a:p>
        </p:txBody>
      </p:sp>
      <p:sp>
        <p:nvSpPr>
          <p:cNvPr id="15" name="Shape 13"/>
          <p:cNvSpPr/>
          <p:nvPr/>
        </p:nvSpPr>
        <p:spPr>
          <a:xfrm>
            <a:off x="5765292" y="5806440"/>
            <a:ext cx="1225296" cy="384048"/>
          </a:xfrm>
          <a:prstGeom prst="roundRect">
            <a:avLst>
              <a:gd name="adj" fmla="val 19048"/>
            </a:avLst>
          </a:prstGeom>
          <a:solidFill>
            <a:srgbClr val="232323"/>
          </a:solidFill>
          <a:ln w="9525">
            <a:solidFill>
              <a:srgbClr val="3A3A3A"/>
            </a:solidFill>
            <a:prstDash val="solid"/>
          </a:ln>
        </p:spPr>
        <p:txBody>
          <a:bodyPr/>
          <a:p/>
        </p:txBody>
      </p:sp>
      <p:sp>
        <p:nvSpPr>
          <p:cNvPr id="16" name="Text 14"/>
          <p:cNvSpPr/>
          <p:nvPr/>
        </p:nvSpPr>
        <p:spPr>
          <a:xfrm>
            <a:off x="5765292" y="5806440"/>
            <a:ext cx="1225296"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Superset</a:t>
            </a:r>
            <a:endParaRPr lang="en-US" sz="1150" dirty="0"/>
          </a:p>
        </p:txBody>
      </p:sp>
      <p:sp>
        <p:nvSpPr>
          <p:cNvPr id="17" name="Shape 15"/>
          <p:cNvSpPr/>
          <p:nvPr/>
        </p:nvSpPr>
        <p:spPr>
          <a:xfrm>
            <a:off x="7155180" y="5806440"/>
            <a:ext cx="1014984" cy="384048"/>
          </a:xfrm>
          <a:prstGeom prst="roundRect">
            <a:avLst>
              <a:gd name="adj" fmla="val 19048"/>
            </a:avLst>
          </a:prstGeom>
          <a:solidFill>
            <a:srgbClr val="232323"/>
          </a:solidFill>
          <a:ln w="9525">
            <a:solidFill>
              <a:srgbClr val="3A3A3A"/>
            </a:solidFill>
            <a:prstDash val="solid"/>
          </a:ln>
        </p:spPr>
        <p:txBody>
          <a:bodyPr/>
          <a:p/>
        </p:txBody>
      </p:sp>
      <p:sp>
        <p:nvSpPr>
          <p:cNvPr id="18" name="Text 16"/>
          <p:cNvSpPr/>
          <p:nvPr/>
        </p:nvSpPr>
        <p:spPr>
          <a:xfrm>
            <a:off x="7155180" y="5806440"/>
            <a:ext cx="1014984"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Docker</a:t>
            </a:r>
            <a:endParaRPr lang="en-US" sz="1150" dirty="0"/>
          </a:p>
        </p:txBody>
      </p:sp>
      <p:sp>
        <p:nvSpPr>
          <p:cNvPr id="19" name="Text 17"/>
          <p:cNvSpPr/>
          <p:nvPr/>
        </p:nvSpPr>
        <p:spPr>
          <a:xfrm>
            <a:off x="731520" y="6172200"/>
            <a:ext cx="7315200" cy="274320"/>
          </a:xfrm>
          <a:prstGeom prst="rect">
            <a:avLst/>
          </a:prstGeom>
          <a:noFill/>
          <a:ln/>
        </p:spPr>
        <p:txBody>
          <a:bodyPr wrap="square" rtlCol="0" anchor="ctr"/>
          <a:lstStyle/>
          <a:p>
            <a:pPr indent="0" marL="0">
              <a:buNone/>
            </a:pPr>
            <a:r>
              <a:rPr lang="en-US" sz="1050" spc="150" kern="0" dirty="0">
                <a:solidFill>
                  <a:srgbClr val="8A8A8A"/>
                </a:solidFill>
                <a:latin typeface="Calibri" pitchFamily="34" charset="0"/>
                <a:ea typeface="Calibri" pitchFamily="34" charset="-122"/>
                <a:cs typeface="Calibri" pitchFamily="34" charset="-120"/>
              </a:rPr>
              <a:t>NYC TLC YELLOW TAXI TRIP RECORDS ·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749808"/>
            <a:ext cx="9601200" cy="640080"/>
          </a:xfrm>
          <a:prstGeom prst="rect">
            <a:avLst/>
          </a:prstGeom>
          <a:noFill/>
          <a:ln/>
        </p:spPr>
        <p:txBody>
          <a:bodyPr wrap="square" rtlCol="0" anchor="ctr"/>
          <a:lstStyle/>
          <a:p>
            <a:pPr indent="0" marL="0">
              <a:buNone/>
            </a:pPr>
            <a:r>
              <a:rPr lang="en-US" sz="3200" b="1" dirty="0">
                <a:solidFill>
                  <a:srgbClr val="141414"/>
                </a:solidFill>
                <a:latin typeface="Bookman Old Style" pitchFamily="34" charset="0"/>
                <a:ea typeface="Bookman Old Style" pitchFamily="34" charset="-122"/>
                <a:cs typeface="Bookman Old Style" pitchFamily="34" charset="-120"/>
              </a:rPr>
              <a:t>What we built</a:t>
            </a:r>
            <a:endParaRPr lang="en-US" sz="3200" dirty="0"/>
          </a:p>
        </p:txBody>
      </p:sp>
      <p:sp>
        <p:nvSpPr>
          <p:cNvPr id="4" name="Text 2"/>
          <p:cNvSpPr/>
          <p:nvPr/>
        </p:nvSpPr>
        <p:spPr>
          <a:xfrm>
            <a:off x="548640" y="1417320"/>
            <a:ext cx="10881360" cy="777240"/>
          </a:xfrm>
          <a:prstGeom prst="rect">
            <a:avLst/>
          </a:prstGeom>
          <a:noFill/>
          <a:ln/>
        </p:spPr>
        <p:txBody>
          <a:bodyPr wrap="square" rtlCol="0" anchor="ctr"/>
          <a:lstStyle/>
          <a:p>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A Big Data platform that takes NYC Yellow Taxi trip records, streams them the way live production traffic would arrive, cleans and aggregates them in flight, and stores the result where analysts can query it in milliseconds — fully automated and containerized.</a:t>
            </a:r>
            <a:endParaRPr lang="en-US" sz="1350" dirty="0"/>
          </a:p>
        </p:txBody>
      </p:sp>
      <p:sp>
        <p:nvSpPr>
          <p:cNvPr id="5" name="Shape 3"/>
          <p:cNvSpPr/>
          <p:nvPr/>
        </p:nvSpPr>
        <p:spPr>
          <a:xfrm>
            <a:off x="548640" y="2514600"/>
            <a:ext cx="502920" cy="502920"/>
          </a:xfrm>
          <a:prstGeom prst="ellipse">
            <a:avLst/>
          </a:prstGeom>
          <a:solidFill>
            <a:srgbClr val="FFFFFF"/>
          </a:solidFill>
          <a:ln/>
        </p:spPr>
      </p:sp>
      <p:pic>
        <p:nvPicPr>
          <p:cNvPr id="6" name="Image 0" descr="/home/claude/assets/FiZap_black_r.png">    </p:cNvPr>
          <p:cNvPicPr>
            <a:picLocks noChangeAspect="1"/>
          </p:cNvPicPr>
          <p:nvPr/>
        </p:nvPicPr>
        <p:blipFill>
          <a:blip r:embed="rId1"/>
          <a:stretch>
            <a:fillRect/>
          </a:stretch>
        </p:blipFill>
        <p:spPr>
          <a:xfrm>
            <a:off x="667512" y="2633472"/>
            <a:ext cx="265176" cy="265176"/>
          </a:xfrm>
          <a:prstGeom prst="rect">
            <a:avLst/>
          </a:prstGeom>
        </p:spPr>
      </p:pic>
      <p:sp>
        <p:nvSpPr>
          <p:cNvPr id="7" name="Shape 4"/>
          <p:cNvSpPr/>
          <p:nvPr/>
        </p:nvSpPr>
        <p:spPr>
          <a:xfrm>
            <a:off x="548640" y="2514600"/>
            <a:ext cx="502920" cy="502920"/>
          </a:xfrm>
          <a:prstGeom prst="ellipse">
            <a:avLst/>
          </a:prstGeom>
          <a:ln w="12700">
            <a:solidFill>
              <a:srgbClr val="E2E2E2"/>
            </a:solidFill>
            <a:prstDash val="solid"/>
          </a:ln>
        </p:spPr>
      </p:sp>
      <p:sp>
        <p:nvSpPr>
          <p:cNvPr id="8" name="Text 5"/>
          <p:cNvSpPr/>
          <p:nvPr/>
        </p:nvSpPr>
        <p:spPr>
          <a:xfrm>
            <a:off x="1207008" y="2441448"/>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Simulate real-time streaming</a:t>
            </a:r>
            <a:endParaRPr lang="en-US" sz="1350" dirty="0"/>
          </a:p>
        </p:txBody>
      </p:sp>
      <p:sp>
        <p:nvSpPr>
          <p:cNvPr id="9" name="Text 6"/>
          <p:cNvSpPr/>
          <p:nvPr/>
        </p:nvSpPr>
        <p:spPr>
          <a:xfrm>
            <a:off x="1207008" y="2715768"/>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Publish historical trip records through Kafka as if they were live events.</a:t>
            </a:r>
            <a:endParaRPr lang="en-US" sz="1080" dirty="0"/>
          </a:p>
        </p:txBody>
      </p:sp>
      <p:sp>
        <p:nvSpPr>
          <p:cNvPr id="10" name="Shape 7"/>
          <p:cNvSpPr/>
          <p:nvPr/>
        </p:nvSpPr>
        <p:spPr>
          <a:xfrm>
            <a:off x="548640" y="3593592"/>
            <a:ext cx="502920" cy="502920"/>
          </a:xfrm>
          <a:prstGeom prst="ellipse">
            <a:avLst/>
          </a:prstGeom>
          <a:solidFill>
            <a:srgbClr val="FFFFFF"/>
          </a:solidFill>
          <a:ln/>
        </p:spPr>
      </p:sp>
      <p:pic>
        <p:nvPicPr>
          <p:cNvPr id="11" name="Image 1" descr="/home/claude/assets/FiCpu_black_r.png">    </p:cNvPr>
          <p:cNvPicPr>
            <a:picLocks noChangeAspect="1"/>
          </p:cNvPicPr>
          <p:nvPr/>
        </p:nvPicPr>
        <p:blipFill>
          <a:blip r:embed="rId2"/>
          <a:stretch>
            <a:fillRect/>
          </a:stretch>
        </p:blipFill>
        <p:spPr>
          <a:xfrm>
            <a:off x="667512" y="3712464"/>
            <a:ext cx="265176" cy="265176"/>
          </a:xfrm>
          <a:prstGeom prst="rect">
            <a:avLst/>
          </a:prstGeom>
        </p:spPr>
      </p:pic>
      <p:sp>
        <p:nvSpPr>
          <p:cNvPr id="12" name="Shape 8"/>
          <p:cNvSpPr/>
          <p:nvPr/>
        </p:nvSpPr>
        <p:spPr>
          <a:xfrm>
            <a:off x="548640" y="3593592"/>
            <a:ext cx="502920" cy="502920"/>
          </a:xfrm>
          <a:prstGeom prst="ellipse">
            <a:avLst/>
          </a:prstGeom>
          <a:ln w="12700">
            <a:solidFill>
              <a:srgbClr val="E2E2E2"/>
            </a:solidFill>
            <a:prstDash val="solid"/>
          </a:ln>
        </p:spPr>
      </p:sp>
      <p:sp>
        <p:nvSpPr>
          <p:cNvPr id="13" name="Text 9"/>
          <p:cNvSpPr/>
          <p:nvPr/>
        </p:nvSpPr>
        <p:spPr>
          <a:xfrm>
            <a:off x="1207008" y="3520440"/>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Clean &amp; transform at scale</a:t>
            </a:r>
            <a:endParaRPr lang="en-US" sz="1350" dirty="0"/>
          </a:p>
        </p:txBody>
      </p:sp>
      <p:sp>
        <p:nvSpPr>
          <p:cNvPr id="14" name="Text 10"/>
          <p:cNvSpPr/>
          <p:nvPr/>
        </p:nvSpPr>
        <p:spPr>
          <a:xfrm>
            <a:off x="1207008" y="3794760"/>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Spark Structured Streaming validates, casts and filters every trip.</a:t>
            </a:r>
            <a:endParaRPr lang="en-US" sz="1080" dirty="0"/>
          </a:p>
        </p:txBody>
      </p:sp>
      <p:sp>
        <p:nvSpPr>
          <p:cNvPr id="15" name="Shape 11"/>
          <p:cNvSpPr/>
          <p:nvPr/>
        </p:nvSpPr>
        <p:spPr>
          <a:xfrm>
            <a:off x="548640" y="4672584"/>
            <a:ext cx="502920" cy="502920"/>
          </a:xfrm>
          <a:prstGeom prst="ellipse">
            <a:avLst/>
          </a:prstGeom>
          <a:solidFill>
            <a:srgbClr val="FFFFFF"/>
          </a:solidFill>
          <a:ln/>
        </p:spPr>
      </p:sp>
      <p:pic>
        <p:nvPicPr>
          <p:cNvPr id="16" name="Image 2" descr="/home/claude/assets/FiDatabase_black_r.png">    </p:cNvPr>
          <p:cNvPicPr>
            <a:picLocks noChangeAspect="1"/>
          </p:cNvPicPr>
          <p:nvPr/>
        </p:nvPicPr>
        <p:blipFill>
          <a:blip r:embed="rId3"/>
          <a:stretch>
            <a:fillRect/>
          </a:stretch>
        </p:blipFill>
        <p:spPr>
          <a:xfrm>
            <a:off x="667512" y="4791456"/>
            <a:ext cx="265176" cy="265176"/>
          </a:xfrm>
          <a:prstGeom prst="rect">
            <a:avLst/>
          </a:prstGeom>
        </p:spPr>
      </p:pic>
      <p:sp>
        <p:nvSpPr>
          <p:cNvPr id="17" name="Shape 12"/>
          <p:cNvSpPr/>
          <p:nvPr/>
        </p:nvSpPr>
        <p:spPr>
          <a:xfrm>
            <a:off x="548640" y="4672584"/>
            <a:ext cx="502920" cy="502920"/>
          </a:xfrm>
          <a:prstGeom prst="ellipse">
            <a:avLst/>
          </a:prstGeom>
          <a:ln w="12700">
            <a:solidFill>
              <a:srgbClr val="E2E2E2"/>
            </a:solidFill>
            <a:prstDash val="solid"/>
          </a:ln>
        </p:spPr>
      </p:sp>
      <p:sp>
        <p:nvSpPr>
          <p:cNvPr id="18" name="Text 13"/>
          <p:cNvSpPr/>
          <p:nvPr/>
        </p:nvSpPr>
        <p:spPr>
          <a:xfrm>
            <a:off x="1207008" y="4599432"/>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Analytics-ready storage</a:t>
            </a:r>
            <a:endParaRPr lang="en-US" sz="1350" dirty="0"/>
          </a:p>
        </p:txBody>
      </p:sp>
      <p:sp>
        <p:nvSpPr>
          <p:cNvPr id="19" name="Text 14"/>
          <p:cNvSpPr/>
          <p:nvPr/>
        </p:nvSpPr>
        <p:spPr>
          <a:xfrm>
            <a:off x="1207008" y="4873752"/>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ClickHouse holds trip-level records for sub-second queries.</a:t>
            </a:r>
            <a:endParaRPr lang="en-US" sz="1080" dirty="0"/>
          </a:p>
        </p:txBody>
      </p:sp>
      <p:sp>
        <p:nvSpPr>
          <p:cNvPr id="20" name="Shape 15"/>
          <p:cNvSpPr/>
          <p:nvPr/>
        </p:nvSpPr>
        <p:spPr>
          <a:xfrm>
            <a:off x="6172200" y="2514600"/>
            <a:ext cx="502920" cy="502920"/>
          </a:xfrm>
          <a:prstGeom prst="ellipse">
            <a:avLst/>
          </a:prstGeom>
          <a:solidFill>
            <a:srgbClr val="FFFFFF"/>
          </a:solidFill>
          <a:ln/>
        </p:spPr>
      </p:sp>
      <p:pic>
        <p:nvPicPr>
          <p:cNvPr id="21" name="Image 3" descr="/home/claude/assets/FiGitBranch_black_r.png">    </p:cNvPr>
          <p:cNvPicPr>
            <a:picLocks noChangeAspect="1"/>
          </p:cNvPicPr>
          <p:nvPr/>
        </p:nvPicPr>
        <p:blipFill>
          <a:blip r:embed="rId4"/>
          <a:stretch>
            <a:fillRect/>
          </a:stretch>
        </p:blipFill>
        <p:spPr>
          <a:xfrm>
            <a:off x="6291072" y="2633472"/>
            <a:ext cx="265176" cy="265176"/>
          </a:xfrm>
          <a:prstGeom prst="rect">
            <a:avLst/>
          </a:prstGeom>
        </p:spPr>
      </p:pic>
      <p:sp>
        <p:nvSpPr>
          <p:cNvPr id="22" name="Shape 16"/>
          <p:cNvSpPr/>
          <p:nvPr/>
        </p:nvSpPr>
        <p:spPr>
          <a:xfrm>
            <a:off x="6172200" y="2514600"/>
            <a:ext cx="502920" cy="502920"/>
          </a:xfrm>
          <a:prstGeom prst="ellipse">
            <a:avLst/>
          </a:prstGeom>
          <a:ln w="12700">
            <a:solidFill>
              <a:srgbClr val="E2E2E2"/>
            </a:solidFill>
            <a:prstDash val="solid"/>
          </a:ln>
        </p:spPr>
      </p:sp>
      <p:sp>
        <p:nvSpPr>
          <p:cNvPr id="23" name="Text 17"/>
          <p:cNvSpPr/>
          <p:nvPr/>
        </p:nvSpPr>
        <p:spPr>
          <a:xfrm>
            <a:off x="6830568" y="2441448"/>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Automated orchestration</a:t>
            </a:r>
            <a:endParaRPr lang="en-US" sz="1350" dirty="0"/>
          </a:p>
        </p:txBody>
      </p:sp>
      <p:sp>
        <p:nvSpPr>
          <p:cNvPr id="24" name="Text 18"/>
          <p:cNvSpPr/>
          <p:nvPr/>
        </p:nvSpPr>
        <p:spPr>
          <a:xfrm>
            <a:off x="6830568" y="2715768"/>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Airflow verifies infrastructure health and triggers the stream.</a:t>
            </a:r>
            <a:endParaRPr lang="en-US" sz="1080" dirty="0"/>
          </a:p>
        </p:txBody>
      </p:sp>
      <p:sp>
        <p:nvSpPr>
          <p:cNvPr id="25" name="Shape 19"/>
          <p:cNvSpPr/>
          <p:nvPr/>
        </p:nvSpPr>
        <p:spPr>
          <a:xfrm>
            <a:off x="6172200" y="3593592"/>
            <a:ext cx="502920" cy="502920"/>
          </a:xfrm>
          <a:prstGeom prst="ellipse">
            <a:avLst/>
          </a:prstGeom>
          <a:solidFill>
            <a:srgbClr val="FFFFFF"/>
          </a:solidFill>
          <a:ln/>
        </p:spPr>
      </p:sp>
      <p:pic>
        <p:nvPicPr>
          <p:cNvPr id="26" name="Image 4" descr="/home/claude/assets/FiBarChart2_black_r.png">    </p:cNvPr>
          <p:cNvPicPr>
            <a:picLocks noChangeAspect="1"/>
          </p:cNvPicPr>
          <p:nvPr/>
        </p:nvPicPr>
        <p:blipFill>
          <a:blip r:embed="rId5"/>
          <a:stretch>
            <a:fillRect/>
          </a:stretch>
        </p:blipFill>
        <p:spPr>
          <a:xfrm>
            <a:off x="6291072" y="3712464"/>
            <a:ext cx="265176" cy="265176"/>
          </a:xfrm>
          <a:prstGeom prst="rect">
            <a:avLst/>
          </a:prstGeom>
        </p:spPr>
      </p:pic>
      <p:sp>
        <p:nvSpPr>
          <p:cNvPr id="27" name="Shape 20"/>
          <p:cNvSpPr/>
          <p:nvPr/>
        </p:nvSpPr>
        <p:spPr>
          <a:xfrm>
            <a:off x="6172200" y="3593592"/>
            <a:ext cx="502920" cy="502920"/>
          </a:xfrm>
          <a:prstGeom prst="ellipse">
            <a:avLst/>
          </a:prstGeom>
          <a:ln w="12700">
            <a:solidFill>
              <a:srgbClr val="E2E2E2"/>
            </a:solidFill>
            <a:prstDash val="solid"/>
          </a:ln>
        </p:spPr>
      </p:sp>
      <p:sp>
        <p:nvSpPr>
          <p:cNvPr id="28" name="Text 21"/>
          <p:cNvSpPr/>
          <p:nvPr/>
        </p:nvSpPr>
        <p:spPr>
          <a:xfrm>
            <a:off x="6830568" y="3520440"/>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Interactive dashboards</a:t>
            </a:r>
            <a:endParaRPr lang="en-US" sz="1350" dirty="0"/>
          </a:p>
        </p:txBody>
      </p:sp>
      <p:sp>
        <p:nvSpPr>
          <p:cNvPr id="29" name="Text 22"/>
          <p:cNvSpPr/>
          <p:nvPr/>
        </p:nvSpPr>
        <p:spPr>
          <a:xfrm>
            <a:off x="6830568" y="3794760"/>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Superset turns raw tables into KPIs, trends and zone insights.</a:t>
            </a:r>
            <a:endParaRPr lang="en-US" sz="1080" dirty="0"/>
          </a:p>
        </p:txBody>
      </p:sp>
      <p:sp>
        <p:nvSpPr>
          <p:cNvPr id="30" name="Shape 23"/>
          <p:cNvSpPr/>
          <p:nvPr/>
        </p:nvSpPr>
        <p:spPr>
          <a:xfrm>
            <a:off x="6172200" y="4672584"/>
            <a:ext cx="502920" cy="502920"/>
          </a:xfrm>
          <a:prstGeom prst="ellipse">
            <a:avLst/>
          </a:prstGeom>
          <a:solidFill>
            <a:srgbClr val="FFFFFF"/>
          </a:solidFill>
          <a:ln/>
        </p:spPr>
      </p:sp>
      <p:pic>
        <p:nvPicPr>
          <p:cNvPr id="31" name="Image 5" descr="/home/claude/assets/FiLayers_black_r.png">    </p:cNvPr>
          <p:cNvPicPr>
            <a:picLocks noChangeAspect="1"/>
          </p:cNvPicPr>
          <p:nvPr/>
        </p:nvPicPr>
        <p:blipFill>
          <a:blip r:embed="rId6"/>
          <a:stretch>
            <a:fillRect/>
          </a:stretch>
        </p:blipFill>
        <p:spPr>
          <a:xfrm>
            <a:off x="6291072" y="4791456"/>
            <a:ext cx="265176" cy="265176"/>
          </a:xfrm>
          <a:prstGeom prst="rect">
            <a:avLst/>
          </a:prstGeom>
        </p:spPr>
      </p:pic>
      <p:sp>
        <p:nvSpPr>
          <p:cNvPr id="32" name="Shape 24"/>
          <p:cNvSpPr/>
          <p:nvPr/>
        </p:nvSpPr>
        <p:spPr>
          <a:xfrm>
            <a:off x="6172200" y="4672584"/>
            <a:ext cx="502920" cy="502920"/>
          </a:xfrm>
          <a:prstGeom prst="ellipse">
            <a:avLst/>
          </a:prstGeom>
          <a:ln w="12700">
            <a:solidFill>
              <a:srgbClr val="E2E2E2"/>
            </a:solidFill>
            <a:prstDash val="solid"/>
          </a:ln>
        </p:spPr>
      </p:sp>
      <p:sp>
        <p:nvSpPr>
          <p:cNvPr id="33" name="Text 25"/>
          <p:cNvSpPr/>
          <p:nvPr/>
        </p:nvSpPr>
        <p:spPr>
          <a:xfrm>
            <a:off x="6830568" y="4599432"/>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Modern, containerized stack</a:t>
            </a:r>
            <a:endParaRPr lang="en-US" sz="1350" dirty="0"/>
          </a:p>
        </p:txBody>
      </p:sp>
      <p:sp>
        <p:nvSpPr>
          <p:cNvPr id="34" name="Text 26"/>
          <p:cNvSpPr/>
          <p:nvPr/>
        </p:nvSpPr>
        <p:spPr>
          <a:xfrm>
            <a:off x="6830568" y="4873752"/>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Every service runs isolated and reproducible via Docker Compose.</a:t>
            </a:r>
            <a:endParaRPr lang="en-US" sz="1080" dirty="0"/>
          </a:p>
        </p:txBody>
      </p:sp>
      <p:sp>
        <p:nvSpPr>
          <p:cNvPr id="35" name="Text 27"/>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548640" y="749808"/>
            <a:ext cx="10515600" cy="640080"/>
          </a:xfrm>
          <a:prstGeom prst="rect">
            <a:avLst/>
          </a:prstGeom>
          <a:noFill/>
          <a:ln/>
        </p:spPr>
        <p:txBody>
          <a:bodyPr wrap="square"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Built on proven, industry-standard tools</a:t>
            </a:r>
            <a:endParaRPr lang="en-US" sz="3000" dirty="0"/>
          </a:p>
        </p:txBody>
      </p:sp>
      <p:sp>
        <p:nvSpPr>
          <p:cNvPr id="4" name="Shape 2"/>
          <p:cNvSpPr/>
          <p:nvPr/>
        </p:nvSpPr>
        <p:spPr>
          <a:xfrm>
            <a:off x="580644" y="1737360"/>
            <a:ext cx="2606040" cy="1965960"/>
          </a:xfrm>
          <a:prstGeom prst="roundRect">
            <a:avLst>
              <a:gd name="adj" fmla="val 4186"/>
            </a:avLst>
          </a:prstGeom>
          <a:solidFill>
            <a:srgbClr val="1E1E1E"/>
          </a:solidFill>
          <a:ln w="12700">
            <a:solidFill>
              <a:srgbClr val="2C2C2C"/>
            </a:solidFill>
            <a:prstDash val="solid"/>
          </a:ln>
        </p:spPr>
        <p:txBody>
          <a:bodyPr/>
          <a:p/>
        </p:txBody>
      </p:sp>
      <p:sp>
        <p:nvSpPr>
          <p:cNvPr id="5" name="Shape 3"/>
          <p:cNvSpPr/>
          <p:nvPr/>
        </p:nvSpPr>
        <p:spPr>
          <a:xfrm>
            <a:off x="1472184" y="1993392"/>
            <a:ext cx="822960" cy="822960"/>
          </a:xfrm>
          <a:prstGeom prst="ellipse">
            <a:avLst/>
          </a:prstGeom>
          <a:solidFill>
            <a:srgbClr val="FFFFFF"/>
          </a:solidFill>
          <a:ln/>
        </p:spPr>
        <p:txBody>
          <a:bodyPr/>
          <a:p/>
        </p:txBody>
      </p:sp>
      <p:pic>
        <p:nvPicPr>
          <p:cNvPr id="6" name="Image 0" descr="/home/claude/assets/python.png">    </p:cNvPr>
          <p:cNvPicPr>
            <a:picLocks noChangeAspect="1"/>
          </p:cNvPicPr>
          <p:nvPr/>
        </p:nvPicPr>
        <p:blipFill>
          <a:blip r:embed="rId1"/>
          <a:stretch>
            <a:fillRect/>
          </a:stretch>
        </p:blipFill>
        <p:spPr>
          <a:xfrm>
            <a:off x="1645920" y="2167128"/>
            <a:ext cx="475488" cy="475488"/>
          </a:xfrm>
          <a:prstGeom prst="rect">
            <a:avLst/>
          </a:prstGeom>
        </p:spPr>
      </p:pic>
      <p:sp>
        <p:nvSpPr>
          <p:cNvPr id="7" name="Text 4"/>
          <p:cNvSpPr/>
          <p:nvPr/>
        </p:nvSpPr>
        <p:spPr>
          <a:xfrm>
            <a:off x="672084"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Python</a:t>
            </a:r>
            <a:endParaRPr lang="en-US" sz="1350" dirty="0"/>
          </a:p>
        </p:txBody>
      </p:sp>
      <p:sp>
        <p:nvSpPr>
          <p:cNvPr id="8" name="Text 5"/>
          <p:cNvSpPr/>
          <p:nvPr/>
        </p:nvSpPr>
        <p:spPr>
          <a:xfrm>
            <a:off x="672084"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Core language</a:t>
            </a:r>
            <a:endParaRPr lang="en-US" sz="1000" dirty="0"/>
          </a:p>
        </p:txBody>
      </p:sp>
      <p:sp>
        <p:nvSpPr>
          <p:cNvPr id="9" name="Shape 6"/>
          <p:cNvSpPr/>
          <p:nvPr/>
        </p:nvSpPr>
        <p:spPr>
          <a:xfrm>
            <a:off x="3387852" y="1737360"/>
            <a:ext cx="2606040" cy="1965960"/>
          </a:xfrm>
          <a:prstGeom prst="roundRect">
            <a:avLst>
              <a:gd name="adj" fmla="val 4186"/>
            </a:avLst>
          </a:prstGeom>
          <a:solidFill>
            <a:srgbClr val="1E1E1E"/>
          </a:solidFill>
          <a:ln w="12700">
            <a:solidFill>
              <a:srgbClr val="2C2C2C"/>
            </a:solidFill>
            <a:prstDash val="solid"/>
          </a:ln>
        </p:spPr>
        <p:txBody>
          <a:bodyPr/>
          <a:p/>
        </p:txBody>
      </p:sp>
      <p:sp>
        <p:nvSpPr>
          <p:cNvPr id="10" name="Shape 7"/>
          <p:cNvSpPr/>
          <p:nvPr/>
        </p:nvSpPr>
        <p:spPr>
          <a:xfrm>
            <a:off x="4279392" y="1993392"/>
            <a:ext cx="822960" cy="822960"/>
          </a:xfrm>
          <a:prstGeom prst="ellipse">
            <a:avLst/>
          </a:prstGeom>
          <a:solidFill>
            <a:srgbClr val="FFFFFF"/>
          </a:solidFill>
          <a:ln/>
        </p:spPr>
        <p:txBody>
          <a:bodyPr/>
          <a:p/>
        </p:txBody>
      </p:sp>
      <p:pic>
        <p:nvPicPr>
          <p:cNvPr id="11" name="Image 1" descr="/home/claude/assets/kafka.png">    </p:cNvPr>
          <p:cNvPicPr>
            <a:picLocks noChangeAspect="1"/>
          </p:cNvPicPr>
          <p:nvPr/>
        </p:nvPicPr>
        <p:blipFill>
          <a:blip r:embed="rId2"/>
          <a:stretch>
            <a:fillRect/>
          </a:stretch>
        </p:blipFill>
        <p:spPr>
          <a:xfrm>
            <a:off x="4453128" y="2167128"/>
            <a:ext cx="475488" cy="475488"/>
          </a:xfrm>
          <a:prstGeom prst="rect">
            <a:avLst/>
          </a:prstGeom>
        </p:spPr>
      </p:pic>
      <p:sp>
        <p:nvSpPr>
          <p:cNvPr id="12" name="Text 8"/>
          <p:cNvSpPr/>
          <p:nvPr/>
        </p:nvSpPr>
        <p:spPr>
          <a:xfrm>
            <a:off x="3479292"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Kafka</a:t>
            </a:r>
            <a:endParaRPr lang="en-US" sz="1350" dirty="0"/>
          </a:p>
        </p:txBody>
      </p:sp>
      <p:sp>
        <p:nvSpPr>
          <p:cNvPr id="13" name="Text 9"/>
          <p:cNvSpPr/>
          <p:nvPr/>
        </p:nvSpPr>
        <p:spPr>
          <a:xfrm>
            <a:off x="3479292"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Event streaming</a:t>
            </a:r>
            <a:endParaRPr lang="en-US" sz="1000" dirty="0"/>
          </a:p>
        </p:txBody>
      </p:sp>
      <p:sp>
        <p:nvSpPr>
          <p:cNvPr id="14" name="Shape 10"/>
          <p:cNvSpPr/>
          <p:nvPr/>
        </p:nvSpPr>
        <p:spPr>
          <a:xfrm>
            <a:off x="6195060" y="1737360"/>
            <a:ext cx="2606040" cy="1965960"/>
          </a:xfrm>
          <a:prstGeom prst="roundRect">
            <a:avLst>
              <a:gd name="adj" fmla="val 4186"/>
            </a:avLst>
          </a:prstGeom>
          <a:solidFill>
            <a:srgbClr val="1E1E1E"/>
          </a:solidFill>
          <a:ln w="12700">
            <a:solidFill>
              <a:srgbClr val="2C2C2C"/>
            </a:solidFill>
            <a:prstDash val="solid"/>
          </a:ln>
        </p:spPr>
        <p:txBody>
          <a:bodyPr/>
          <a:p/>
        </p:txBody>
      </p:sp>
      <p:sp>
        <p:nvSpPr>
          <p:cNvPr id="15" name="Shape 11"/>
          <p:cNvSpPr/>
          <p:nvPr/>
        </p:nvSpPr>
        <p:spPr>
          <a:xfrm>
            <a:off x="7086600" y="1993392"/>
            <a:ext cx="822960" cy="822960"/>
          </a:xfrm>
          <a:prstGeom prst="ellipse">
            <a:avLst/>
          </a:prstGeom>
          <a:solidFill>
            <a:srgbClr val="FFFFFF"/>
          </a:solidFill>
          <a:ln/>
        </p:spPr>
        <p:txBody>
          <a:bodyPr/>
          <a:p/>
        </p:txBody>
      </p:sp>
      <p:pic>
        <p:nvPicPr>
          <p:cNvPr id="16" name="Image 2" descr="/home/claude/assets/spark.png">    </p:cNvPr>
          <p:cNvPicPr>
            <a:picLocks noChangeAspect="1"/>
          </p:cNvPicPr>
          <p:nvPr/>
        </p:nvPicPr>
        <p:blipFill>
          <a:blip r:embed="rId3"/>
          <a:stretch>
            <a:fillRect/>
          </a:stretch>
        </p:blipFill>
        <p:spPr>
          <a:xfrm>
            <a:off x="7260336" y="2167128"/>
            <a:ext cx="475488" cy="475488"/>
          </a:xfrm>
          <a:prstGeom prst="rect">
            <a:avLst/>
          </a:prstGeom>
        </p:spPr>
      </p:pic>
      <p:sp>
        <p:nvSpPr>
          <p:cNvPr id="17" name="Text 12"/>
          <p:cNvSpPr/>
          <p:nvPr/>
        </p:nvSpPr>
        <p:spPr>
          <a:xfrm>
            <a:off x="6286500"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Spark</a:t>
            </a:r>
            <a:endParaRPr lang="en-US" sz="1350" dirty="0"/>
          </a:p>
        </p:txBody>
      </p:sp>
      <p:sp>
        <p:nvSpPr>
          <p:cNvPr id="18" name="Text 13"/>
          <p:cNvSpPr/>
          <p:nvPr/>
        </p:nvSpPr>
        <p:spPr>
          <a:xfrm>
            <a:off x="6286500"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Stream processing</a:t>
            </a:r>
            <a:endParaRPr lang="en-US" sz="1000" dirty="0"/>
          </a:p>
        </p:txBody>
      </p:sp>
      <p:sp>
        <p:nvSpPr>
          <p:cNvPr id="19" name="Shape 14"/>
          <p:cNvSpPr/>
          <p:nvPr/>
        </p:nvSpPr>
        <p:spPr>
          <a:xfrm>
            <a:off x="9002268" y="1737360"/>
            <a:ext cx="2606040" cy="1965960"/>
          </a:xfrm>
          <a:prstGeom prst="roundRect">
            <a:avLst>
              <a:gd name="adj" fmla="val 4186"/>
            </a:avLst>
          </a:prstGeom>
          <a:solidFill>
            <a:srgbClr val="1E1E1E"/>
          </a:solidFill>
          <a:ln w="12700">
            <a:solidFill>
              <a:srgbClr val="2C2C2C"/>
            </a:solidFill>
            <a:prstDash val="solid"/>
          </a:ln>
        </p:spPr>
        <p:txBody>
          <a:bodyPr/>
          <a:p/>
        </p:txBody>
      </p:sp>
      <p:sp>
        <p:nvSpPr>
          <p:cNvPr id="20" name="Shape 15"/>
          <p:cNvSpPr/>
          <p:nvPr/>
        </p:nvSpPr>
        <p:spPr>
          <a:xfrm>
            <a:off x="9893808" y="1993392"/>
            <a:ext cx="822960" cy="822960"/>
          </a:xfrm>
          <a:prstGeom prst="ellipse">
            <a:avLst/>
          </a:prstGeom>
          <a:solidFill>
            <a:srgbClr val="FFFFFF"/>
          </a:solidFill>
          <a:ln/>
        </p:spPr>
        <p:txBody>
          <a:bodyPr/>
          <a:p/>
        </p:txBody>
      </p:sp>
      <p:pic>
        <p:nvPicPr>
          <p:cNvPr id="21" name="Image 3" descr="/home/claude/assets/clickhouse.png">    </p:cNvPr>
          <p:cNvPicPr>
            <a:picLocks noChangeAspect="1"/>
          </p:cNvPicPr>
          <p:nvPr/>
        </p:nvPicPr>
        <p:blipFill>
          <a:blip r:embed="rId4"/>
          <a:stretch>
            <a:fillRect/>
          </a:stretch>
        </p:blipFill>
        <p:spPr>
          <a:xfrm>
            <a:off x="10067544" y="2167128"/>
            <a:ext cx="475488" cy="475488"/>
          </a:xfrm>
          <a:prstGeom prst="rect">
            <a:avLst/>
          </a:prstGeom>
        </p:spPr>
      </p:pic>
      <p:sp>
        <p:nvSpPr>
          <p:cNvPr id="22" name="Text 16"/>
          <p:cNvSpPr/>
          <p:nvPr/>
        </p:nvSpPr>
        <p:spPr>
          <a:xfrm>
            <a:off x="9093708"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ClickHouse</a:t>
            </a:r>
            <a:endParaRPr lang="en-US" sz="1350" dirty="0"/>
          </a:p>
        </p:txBody>
      </p:sp>
      <p:sp>
        <p:nvSpPr>
          <p:cNvPr id="23" name="Text 17"/>
          <p:cNvSpPr/>
          <p:nvPr/>
        </p:nvSpPr>
        <p:spPr>
          <a:xfrm>
            <a:off x="9093708"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Analytical DB</a:t>
            </a:r>
            <a:endParaRPr lang="en-US" sz="1000" dirty="0"/>
          </a:p>
        </p:txBody>
      </p:sp>
      <p:sp>
        <p:nvSpPr>
          <p:cNvPr id="24" name="Shape 18"/>
          <p:cNvSpPr/>
          <p:nvPr/>
        </p:nvSpPr>
        <p:spPr>
          <a:xfrm>
            <a:off x="580644" y="3959352"/>
            <a:ext cx="2606040" cy="1965960"/>
          </a:xfrm>
          <a:prstGeom prst="roundRect">
            <a:avLst>
              <a:gd name="adj" fmla="val 4186"/>
            </a:avLst>
          </a:prstGeom>
          <a:solidFill>
            <a:srgbClr val="1E1E1E"/>
          </a:solidFill>
          <a:ln w="12700">
            <a:solidFill>
              <a:srgbClr val="2C2C2C"/>
            </a:solidFill>
            <a:prstDash val="solid"/>
          </a:ln>
        </p:spPr>
        <p:txBody>
          <a:bodyPr/>
          <a:p/>
        </p:txBody>
      </p:sp>
      <p:sp>
        <p:nvSpPr>
          <p:cNvPr id="25" name="Shape 19"/>
          <p:cNvSpPr/>
          <p:nvPr/>
        </p:nvSpPr>
        <p:spPr>
          <a:xfrm>
            <a:off x="1472184" y="4215384"/>
            <a:ext cx="822960" cy="822960"/>
          </a:xfrm>
          <a:prstGeom prst="ellipse">
            <a:avLst/>
          </a:prstGeom>
          <a:solidFill>
            <a:srgbClr val="FFFFFF"/>
          </a:solidFill>
          <a:ln/>
        </p:spPr>
        <p:txBody>
          <a:bodyPr/>
          <a:p/>
        </p:txBody>
      </p:sp>
      <p:pic>
        <p:nvPicPr>
          <p:cNvPr id="26" name="Image 4" descr="/home/claude/assets/airflow.png">    </p:cNvPr>
          <p:cNvPicPr>
            <a:picLocks noChangeAspect="1"/>
          </p:cNvPicPr>
          <p:nvPr/>
        </p:nvPicPr>
        <p:blipFill>
          <a:blip r:embed="rId5"/>
          <a:stretch>
            <a:fillRect/>
          </a:stretch>
        </p:blipFill>
        <p:spPr>
          <a:xfrm>
            <a:off x="1645920" y="4389120"/>
            <a:ext cx="475488" cy="475488"/>
          </a:xfrm>
          <a:prstGeom prst="rect">
            <a:avLst/>
          </a:prstGeom>
        </p:spPr>
      </p:pic>
      <p:sp>
        <p:nvSpPr>
          <p:cNvPr id="27" name="Text 20"/>
          <p:cNvSpPr/>
          <p:nvPr/>
        </p:nvSpPr>
        <p:spPr>
          <a:xfrm>
            <a:off x="672084"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Airflow</a:t>
            </a:r>
            <a:endParaRPr lang="en-US" sz="1350" dirty="0"/>
          </a:p>
        </p:txBody>
      </p:sp>
      <p:sp>
        <p:nvSpPr>
          <p:cNvPr id="28" name="Text 21"/>
          <p:cNvSpPr/>
          <p:nvPr/>
        </p:nvSpPr>
        <p:spPr>
          <a:xfrm>
            <a:off x="672084"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Orchestration</a:t>
            </a:r>
            <a:endParaRPr lang="en-US" sz="1000" dirty="0"/>
          </a:p>
        </p:txBody>
      </p:sp>
      <p:sp>
        <p:nvSpPr>
          <p:cNvPr id="29" name="Shape 22"/>
          <p:cNvSpPr/>
          <p:nvPr/>
        </p:nvSpPr>
        <p:spPr>
          <a:xfrm>
            <a:off x="3387852" y="3959352"/>
            <a:ext cx="2606040" cy="1965960"/>
          </a:xfrm>
          <a:prstGeom prst="roundRect">
            <a:avLst>
              <a:gd name="adj" fmla="val 4186"/>
            </a:avLst>
          </a:prstGeom>
          <a:solidFill>
            <a:srgbClr val="1E1E1E"/>
          </a:solidFill>
          <a:ln w="12700">
            <a:solidFill>
              <a:srgbClr val="2C2C2C"/>
            </a:solidFill>
            <a:prstDash val="solid"/>
          </a:ln>
        </p:spPr>
        <p:txBody>
          <a:bodyPr/>
          <a:p/>
        </p:txBody>
      </p:sp>
      <p:sp>
        <p:nvSpPr>
          <p:cNvPr id="30" name="Shape 23"/>
          <p:cNvSpPr/>
          <p:nvPr/>
        </p:nvSpPr>
        <p:spPr>
          <a:xfrm>
            <a:off x="4279392" y="4215384"/>
            <a:ext cx="822960" cy="822960"/>
          </a:xfrm>
          <a:prstGeom prst="ellipse">
            <a:avLst/>
          </a:prstGeom>
          <a:solidFill>
            <a:srgbClr val="FFFFFF"/>
          </a:solidFill>
          <a:ln/>
        </p:spPr>
        <p:txBody>
          <a:bodyPr/>
          <a:p/>
        </p:txBody>
      </p:sp>
      <p:pic>
        <p:nvPicPr>
          <p:cNvPr id="31" name="Image 5" descr="/home/claude/assets/superset.png">    </p:cNvPr>
          <p:cNvPicPr>
            <a:picLocks noChangeAspect="1"/>
          </p:cNvPicPr>
          <p:nvPr/>
        </p:nvPicPr>
        <p:blipFill>
          <a:blip r:embed="rId6"/>
          <a:stretch>
            <a:fillRect/>
          </a:stretch>
        </p:blipFill>
        <p:spPr>
          <a:xfrm>
            <a:off x="4453128" y="4389120"/>
            <a:ext cx="475488" cy="475488"/>
          </a:xfrm>
          <a:prstGeom prst="rect">
            <a:avLst/>
          </a:prstGeom>
        </p:spPr>
      </p:pic>
      <p:sp>
        <p:nvSpPr>
          <p:cNvPr id="32" name="Text 24"/>
          <p:cNvSpPr/>
          <p:nvPr/>
        </p:nvSpPr>
        <p:spPr>
          <a:xfrm>
            <a:off x="3479292"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Superset</a:t>
            </a:r>
            <a:endParaRPr lang="en-US" sz="1350" dirty="0"/>
          </a:p>
        </p:txBody>
      </p:sp>
      <p:sp>
        <p:nvSpPr>
          <p:cNvPr id="33" name="Text 25"/>
          <p:cNvSpPr/>
          <p:nvPr/>
        </p:nvSpPr>
        <p:spPr>
          <a:xfrm>
            <a:off x="3479292"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Visualization</a:t>
            </a:r>
            <a:endParaRPr lang="en-US" sz="1000" dirty="0"/>
          </a:p>
        </p:txBody>
      </p:sp>
      <p:sp>
        <p:nvSpPr>
          <p:cNvPr id="34" name="Shape 26"/>
          <p:cNvSpPr/>
          <p:nvPr/>
        </p:nvSpPr>
        <p:spPr>
          <a:xfrm>
            <a:off x="6195060" y="3959352"/>
            <a:ext cx="2606040" cy="1965960"/>
          </a:xfrm>
          <a:prstGeom prst="roundRect">
            <a:avLst>
              <a:gd name="adj" fmla="val 4186"/>
            </a:avLst>
          </a:prstGeom>
          <a:solidFill>
            <a:srgbClr val="1E1E1E"/>
          </a:solidFill>
          <a:ln w="12700">
            <a:solidFill>
              <a:srgbClr val="2C2C2C"/>
            </a:solidFill>
            <a:prstDash val="solid"/>
          </a:ln>
        </p:spPr>
        <p:txBody>
          <a:bodyPr/>
          <a:p/>
        </p:txBody>
      </p:sp>
      <p:sp>
        <p:nvSpPr>
          <p:cNvPr id="35" name="Shape 27"/>
          <p:cNvSpPr/>
          <p:nvPr/>
        </p:nvSpPr>
        <p:spPr>
          <a:xfrm>
            <a:off x="7086600" y="4215384"/>
            <a:ext cx="822960" cy="822960"/>
          </a:xfrm>
          <a:prstGeom prst="ellipse">
            <a:avLst/>
          </a:prstGeom>
          <a:solidFill>
            <a:srgbClr val="FFFFFF"/>
          </a:solidFill>
          <a:ln/>
        </p:spPr>
        <p:txBody>
          <a:bodyPr/>
          <a:p/>
        </p:txBody>
      </p:sp>
      <p:pic>
        <p:nvPicPr>
          <p:cNvPr id="36" name="Image 6" descr="/home/claude/assets/docker.png">    </p:cNvPr>
          <p:cNvPicPr>
            <a:picLocks noChangeAspect="1"/>
          </p:cNvPicPr>
          <p:nvPr/>
        </p:nvPicPr>
        <p:blipFill>
          <a:blip r:embed="rId7"/>
          <a:stretch>
            <a:fillRect/>
          </a:stretch>
        </p:blipFill>
        <p:spPr>
          <a:xfrm>
            <a:off x="7260336" y="4389120"/>
            <a:ext cx="475488" cy="475488"/>
          </a:xfrm>
          <a:prstGeom prst="rect">
            <a:avLst/>
          </a:prstGeom>
        </p:spPr>
      </p:pic>
      <p:sp>
        <p:nvSpPr>
          <p:cNvPr id="37" name="Text 28"/>
          <p:cNvSpPr/>
          <p:nvPr/>
        </p:nvSpPr>
        <p:spPr>
          <a:xfrm>
            <a:off x="6286500"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Docker Compose</a:t>
            </a:r>
            <a:endParaRPr lang="en-US" sz="1350" dirty="0"/>
          </a:p>
        </p:txBody>
      </p:sp>
      <p:sp>
        <p:nvSpPr>
          <p:cNvPr id="38" name="Text 29"/>
          <p:cNvSpPr/>
          <p:nvPr/>
        </p:nvSpPr>
        <p:spPr>
          <a:xfrm>
            <a:off x="6286500"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Containerization</a:t>
            </a:r>
            <a:endParaRPr lang="en-US" sz="1000" dirty="0"/>
          </a:p>
        </p:txBody>
      </p:sp>
      <p:sp>
        <p:nvSpPr>
          <p:cNvPr id="39" name="Shape 30"/>
          <p:cNvSpPr/>
          <p:nvPr/>
        </p:nvSpPr>
        <p:spPr>
          <a:xfrm>
            <a:off x="9002268" y="3959352"/>
            <a:ext cx="2606040" cy="1965960"/>
          </a:xfrm>
          <a:prstGeom prst="roundRect">
            <a:avLst>
              <a:gd name="adj" fmla="val 4186"/>
            </a:avLst>
          </a:prstGeom>
          <a:solidFill>
            <a:srgbClr val="1E1E1E"/>
          </a:solidFill>
          <a:ln w="12700">
            <a:solidFill>
              <a:srgbClr val="2C2C2C"/>
            </a:solidFill>
            <a:prstDash val="solid"/>
          </a:ln>
        </p:spPr>
        <p:txBody>
          <a:bodyPr/>
          <a:p/>
        </p:txBody>
      </p:sp>
      <p:sp>
        <p:nvSpPr>
          <p:cNvPr id="40" name="Shape 31"/>
          <p:cNvSpPr/>
          <p:nvPr/>
        </p:nvSpPr>
        <p:spPr>
          <a:xfrm>
            <a:off x="9893808" y="4215384"/>
            <a:ext cx="822960" cy="822960"/>
          </a:xfrm>
          <a:prstGeom prst="ellipse">
            <a:avLst/>
          </a:prstGeom>
          <a:solidFill>
            <a:srgbClr val="FFFFFF"/>
          </a:solidFill>
          <a:ln/>
        </p:spPr>
        <p:txBody>
          <a:bodyPr/>
          <a:p/>
        </p:txBody>
      </p:sp>
      <p:pic>
        <p:nvPicPr>
          <p:cNvPr id="41" name="Image 7" descr="/home/claude/assets/pandas.png">    </p:cNvPr>
          <p:cNvPicPr>
            <a:picLocks noChangeAspect="1"/>
          </p:cNvPicPr>
          <p:nvPr/>
        </p:nvPicPr>
        <p:blipFill>
          <a:blip r:embed="rId8"/>
          <a:stretch>
            <a:fillRect/>
          </a:stretch>
        </p:blipFill>
        <p:spPr>
          <a:xfrm>
            <a:off x="10067544" y="4389120"/>
            <a:ext cx="475488" cy="475488"/>
          </a:xfrm>
          <a:prstGeom prst="rect">
            <a:avLst/>
          </a:prstGeom>
        </p:spPr>
      </p:pic>
      <p:sp>
        <p:nvSpPr>
          <p:cNvPr id="42" name="Text 32"/>
          <p:cNvSpPr/>
          <p:nvPr/>
        </p:nvSpPr>
        <p:spPr>
          <a:xfrm>
            <a:off x="9093708"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FastAPI &amp; LangChain
AI Agent API</a:t>
            </a:r>
            <a:endParaRPr lang="en-US" sz="1350" dirty="0"/>
          </a:p>
        </p:txBody>
      </p:sp>
      <p:sp>
        <p:nvSpPr>
          <p:cNvPr id="43" name="Text 33"/>
          <p:cNvSpPr/>
          <p:nvPr/>
        </p:nvSpPr>
        <p:spPr>
          <a:xfrm>
            <a:off x="9093708"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Data wrangling</a:t>
            </a:r>
            <a:endParaRPr lang="en-US" sz="1000" dirty="0"/>
          </a:p>
        </p:txBody>
      </p:sp>
      <p:sp>
        <p:nvSpPr>
          <p:cNvPr id="44" name="Text 3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49808"/>
            <a:ext cx="10881360" cy="502920"/>
          </a:xfrm>
          <a:prstGeom prst="rect">
            <a:avLst/>
          </a:prstGeom>
          <a:noFill/>
          <a:ln/>
        </p:spPr>
        <p:txBody>
          <a:bodyPr wrap="square" rtlCol="0" anchor="ctr"/>
          <a:lstStyle/>
          <a:p>
            <a:pPr indent="0" marL="0">
              <a:buNone/>
            </a:pPr>
            <a:r>
              <a:rPr lang="en-US" sz="2700" b="1" dirty="0">
                <a:solidFill>
                  <a:srgbClr val="141414"/>
                </a:solidFill>
                <a:latin typeface="Bookman Old Style" pitchFamily="34" charset="0"/>
                <a:ea typeface="Bookman Old Style" pitchFamily="34" charset="-122"/>
                <a:cs typeface="Bookman Old Style" pitchFamily="34" charset="-120"/>
              </a:rPr>
              <a:t>One trip, five hand-offs</a:t>
            </a:r>
            <a:endParaRPr lang="en-US" sz="2700" dirty="0"/>
          </a:p>
        </p:txBody>
      </p:sp>
      <p:sp>
        <p:nvSpPr>
          <p:cNvPr id="4" name="Shape 2"/>
          <p:cNvSpPr/>
          <p:nvPr/>
        </p:nvSpPr>
        <p:spPr>
          <a:xfrm>
            <a:off x="4041648" y="1371600"/>
            <a:ext cx="4114800" cy="548640"/>
          </a:xfrm>
          <a:prstGeom prst="roundRect">
            <a:avLst>
              <a:gd name="adj" fmla="val 13333"/>
            </a:avLst>
          </a:prstGeom>
          <a:solidFill>
            <a:srgbClr val="FFFFFF"/>
          </a:solidFill>
          <a:ln w="15875">
            <a:solidFill>
              <a:srgbClr val="D7263D"/>
            </a:solidFill>
            <a:prstDash val="solid"/>
          </a:ln>
        </p:spPr>
        <p:txBody>
          <a:bodyPr/>
          <a:p/>
        </p:txBody>
      </p:sp>
      <p:sp>
        <p:nvSpPr>
          <p:cNvPr id="5" name="Shape 3"/>
          <p:cNvSpPr/>
          <p:nvPr/>
        </p:nvSpPr>
        <p:spPr>
          <a:xfrm>
            <a:off x="4169664" y="1435608"/>
            <a:ext cx="420624" cy="420624"/>
          </a:xfrm>
          <a:prstGeom prst="ellipse">
            <a:avLst/>
          </a:prstGeom>
          <a:solidFill>
            <a:srgbClr val="FAFAFA"/>
          </a:solidFill>
          <a:ln/>
        </p:spPr>
        <p:txBody>
          <a:bodyPr/>
          <a:p/>
        </p:txBody>
      </p:sp>
      <p:pic>
        <p:nvPicPr>
          <p:cNvPr id="6" name="Image 0" descr="/home/claude/assets/airflow.png">    </p:cNvPr>
          <p:cNvPicPr>
            <a:picLocks noChangeAspect="1"/>
          </p:cNvPicPr>
          <p:nvPr/>
        </p:nvPicPr>
        <p:blipFill>
          <a:blip r:embed="rId1"/>
          <a:stretch>
            <a:fillRect/>
          </a:stretch>
        </p:blipFill>
        <p:spPr>
          <a:xfrm>
            <a:off x="4251960" y="1517904"/>
            <a:ext cx="256032" cy="256032"/>
          </a:xfrm>
          <a:prstGeom prst="rect">
            <a:avLst/>
          </a:prstGeom>
        </p:spPr>
      </p:pic>
      <p:sp>
        <p:nvSpPr>
          <p:cNvPr id="7" name="Text 4"/>
          <p:cNvSpPr/>
          <p:nvPr/>
        </p:nvSpPr>
        <p:spPr>
          <a:xfrm>
            <a:off x="4663440" y="1371600"/>
            <a:ext cx="3401568" cy="548640"/>
          </a:xfrm>
          <a:prstGeom prst="rect">
            <a:avLst/>
          </a:prstGeom>
          <a:noFill/>
          <a:ln/>
        </p:spPr>
        <p:txBody>
          <a:bodyPr wrap="square" rtlCol="0" anchor="ctr"/>
          <a:lstStyle/>
          <a:p>
            <a:pPr indent="0" marL="0">
              <a:buNone/>
            </a:pPr>
            <a:r>
              <a:rPr lang="en-US" sz="1080" b="1" dirty="0">
                <a:solidFill>
                  <a:srgbClr val="141414"/>
                </a:solidFill>
                <a:latin typeface="Calibri" pitchFamily="34" charset="0"/>
                <a:ea typeface="Calibri" pitchFamily="34" charset="-122"/>
                <a:cs typeface="Calibri" pitchFamily="34" charset="-120"/>
              </a:rPr>
              <a:t>Apache Airflow — orchestrates every stage</a:t>
            </a:r>
            <a:endParaRPr lang="en-US" sz="1080" dirty="0"/>
          </a:p>
        </p:txBody>
      </p:sp>
      <p:sp>
        <p:nvSpPr>
          <p:cNvPr id="8" name="Shape 5"/>
          <p:cNvSpPr/>
          <p:nvPr/>
        </p:nvSpPr>
        <p:spPr>
          <a:xfrm>
            <a:off x="548640" y="2331720"/>
            <a:ext cx="2331720" cy="1280160"/>
          </a:xfrm>
          <a:prstGeom prst="roundRect">
            <a:avLst>
              <a:gd name="adj" fmla="val 6429"/>
            </a:avLst>
          </a:prstGeom>
          <a:solidFill>
            <a:srgbClr val="141414"/>
          </a:solidFill>
          <a:ln/>
        </p:spPr>
        <p:txBody>
          <a:bodyPr/>
          <a:p/>
        </p:txBody>
      </p:sp>
      <p:sp>
        <p:nvSpPr>
          <p:cNvPr id="9" name="Shape 6"/>
          <p:cNvSpPr/>
          <p:nvPr/>
        </p:nvSpPr>
        <p:spPr>
          <a:xfrm>
            <a:off x="1449324" y="2478024"/>
            <a:ext cx="530352" cy="530352"/>
          </a:xfrm>
          <a:prstGeom prst="ellipse">
            <a:avLst/>
          </a:prstGeom>
          <a:solidFill>
            <a:srgbClr val="D7263D"/>
          </a:solidFill>
          <a:ln/>
        </p:spPr>
        <p:txBody>
          <a:bodyPr/>
          <a:p/>
        </p:txBody>
      </p:sp>
      <p:pic>
        <p:nvPicPr>
          <p:cNvPr id="10" name="Image 1" descr="/home/claude/assets/FiFileText_black_r.png">    </p:cNvPr>
          <p:cNvPicPr>
            <a:picLocks noChangeAspect="1"/>
          </p:cNvPicPr>
          <p:nvPr/>
        </p:nvPicPr>
        <p:blipFill>
          <a:blip r:embed="rId2"/>
          <a:stretch>
            <a:fillRect/>
          </a:stretch>
        </p:blipFill>
        <p:spPr>
          <a:xfrm>
            <a:off x="1568196" y="2596896"/>
            <a:ext cx="292608" cy="292608"/>
          </a:xfrm>
          <a:prstGeom prst="rect">
            <a:avLst/>
          </a:prstGeom>
        </p:spPr>
      </p:pic>
      <p:sp>
        <p:nvSpPr>
          <p:cNvPr id="11" name="Text 7"/>
          <p:cNvSpPr/>
          <p:nvPr/>
        </p:nvSpPr>
        <p:spPr>
          <a:xfrm>
            <a:off x="64008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Parquet Files</a:t>
            </a:r>
            <a:endParaRPr lang="en-US" sz="1250" dirty="0"/>
          </a:p>
        </p:txBody>
      </p:sp>
      <p:sp>
        <p:nvSpPr>
          <p:cNvPr id="12" name="Text 8"/>
          <p:cNvSpPr/>
          <p:nvPr/>
        </p:nvSpPr>
        <p:spPr>
          <a:xfrm>
            <a:off x="64008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Raw NYC TLC trip data</a:t>
            </a:r>
            <a:endParaRPr lang="en-US" sz="900" dirty="0"/>
          </a:p>
        </p:txBody>
      </p:sp>
      <p:sp>
        <p:nvSpPr>
          <p:cNvPr id="13" name="Shape 9"/>
          <p:cNvSpPr/>
          <p:nvPr/>
        </p:nvSpPr>
        <p:spPr>
          <a:xfrm>
            <a:off x="2880360" y="2971800"/>
            <a:ext cx="518160" cy="0"/>
          </a:xfrm>
          <a:prstGeom prst="line">
            <a:avLst/>
          </a:prstGeom>
          <a:noFill/>
          <a:ln w="28575">
            <a:solidFill>
              <a:srgbClr val="D7263D"/>
            </a:solidFill>
            <a:prstDash val="solid"/>
            <a:tailEnd type="triangle"/>
          </a:ln>
        </p:spPr>
        <p:txBody>
          <a:bodyPr/>
          <a:p/>
        </p:txBody>
      </p:sp>
      <p:sp>
        <p:nvSpPr>
          <p:cNvPr id="14" name="Shape 10"/>
          <p:cNvSpPr/>
          <p:nvPr/>
        </p:nvSpPr>
        <p:spPr>
          <a:xfrm>
            <a:off x="3398520" y="2331720"/>
            <a:ext cx="2331720" cy="1280160"/>
          </a:xfrm>
          <a:prstGeom prst="roundRect">
            <a:avLst>
              <a:gd name="adj" fmla="val 6429"/>
            </a:avLst>
          </a:prstGeom>
          <a:solidFill>
            <a:srgbClr val="141414"/>
          </a:solidFill>
          <a:ln/>
        </p:spPr>
        <p:txBody>
          <a:bodyPr/>
          <a:p/>
        </p:txBody>
      </p:sp>
      <p:sp>
        <p:nvSpPr>
          <p:cNvPr id="15" name="Shape 11"/>
          <p:cNvSpPr/>
          <p:nvPr/>
        </p:nvSpPr>
        <p:spPr>
          <a:xfrm>
            <a:off x="4299204" y="2478024"/>
            <a:ext cx="530352" cy="530352"/>
          </a:xfrm>
          <a:prstGeom prst="ellipse">
            <a:avLst/>
          </a:prstGeom>
          <a:solidFill>
            <a:srgbClr val="D7263D"/>
          </a:solidFill>
          <a:ln/>
        </p:spPr>
        <p:txBody>
          <a:bodyPr/>
          <a:p/>
        </p:txBody>
      </p:sp>
      <p:pic>
        <p:nvPicPr>
          <p:cNvPr id="16" name="Image 2" descr="/home/claude/assets/FiZap_black_r.png">    </p:cNvPr>
          <p:cNvPicPr>
            <a:picLocks noChangeAspect="1"/>
          </p:cNvPicPr>
          <p:nvPr/>
        </p:nvPicPr>
        <p:blipFill>
          <a:blip r:embed="rId3"/>
          <a:stretch>
            <a:fillRect/>
          </a:stretch>
        </p:blipFill>
        <p:spPr>
          <a:xfrm>
            <a:off x="4418076" y="2596896"/>
            <a:ext cx="292608" cy="292608"/>
          </a:xfrm>
          <a:prstGeom prst="rect">
            <a:avLst/>
          </a:prstGeom>
        </p:spPr>
      </p:pic>
      <p:sp>
        <p:nvSpPr>
          <p:cNvPr id="17" name="Text 12"/>
          <p:cNvSpPr/>
          <p:nvPr/>
        </p:nvSpPr>
        <p:spPr>
          <a:xfrm>
            <a:off x="348996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Kafka</a:t>
            </a:r>
            <a:endParaRPr lang="en-US" sz="1250" dirty="0"/>
          </a:p>
        </p:txBody>
      </p:sp>
      <p:sp>
        <p:nvSpPr>
          <p:cNvPr id="18" name="Text 13"/>
          <p:cNvSpPr/>
          <p:nvPr/>
        </p:nvSpPr>
        <p:spPr>
          <a:xfrm>
            <a:off x="348996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taxi-trips topic</a:t>
            </a:r>
            <a:endParaRPr lang="en-US" sz="900" dirty="0"/>
          </a:p>
        </p:txBody>
      </p:sp>
      <p:sp>
        <p:nvSpPr>
          <p:cNvPr id="19" name="Shape 14"/>
          <p:cNvSpPr/>
          <p:nvPr/>
        </p:nvSpPr>
        <p:spPr>
          <a:xfrm>
            <a:off x="5730240" y="2971800"/>
            <a:ext cx="518160" cy="0"/>
          </a:xfrm>
          <a:prstGeom prst="line">
            <a:avLst/>
          </a:prstGeom>
          <a:noFill/>
          <a:ln w="28575">
            <a:solidFill>
              <a:srgbClr val="D7263D"/>
            </a:solidFill>
            <a:prstDash val="solid"/>
            <a:tailEnd type="triangle"/>
          </a:ln>
        </p:spPr>
        <p:txBody>
          <a:bodyPr/>
          <a:p/>
        </p:txBody>
      </p:sp>
      <p:sp>
        <p:nvSpPr>
          <p:cNvPr id="20" name="Shape 15"/>
          <p:cNvSpPr/>
          <p:nvPr/>
        </p:nvSpPr>
        <p:spPr>
          <a:xfrm>
            <a:off x="6248400" y="2331720"/>
            <a:ext cx="2331720" cy="1280160"/>
          </a:xfrm>
          <a:prstGeom prst="roundRect">
            <a:avLst>
              <a:gd name="adj" fmla="val 6429"/>
            </a:avLst>
          </a:prstGeom>
          <a:solidFill>
            <a:srgbClr val="141414"/>
          </a:solidFill>
          <a:ln/>
        </p:spPr>
        <p:txBody>
          <a:bodyPr/>
          <a:p/>
        </p:txBody>
      </p:sp>
      <p:sp>
        <p:nvSpPr>
          <p:cNvPr id="21" name="Shape 16"/>
          <p:cNvSpPr/>
          <p:nvPr/>
        </p:nvSpPr>
        <p:spPr>
          <a:xfrm>
            <a:off x="7149084" y="2478024"/>
            <a:ext cx="530352" cy="530352"/>
          </a:xfrm>
          <a:prstGeom prst="ellipse">
            <a:avLst/>
          </a:prstGeom>
          <a:solidFill>
            <a:srgbClr val="D7263D"/>
          </a:solidFill>
          <a:ln/>
        </p:spPr>
        <p:txBody>
          <a:bodyPr/>
          <a:p/>
        </p:txBody>
      </p:sp>
      <p:pic>
        <p:nvPicPr>
          <p:cNvPr id="22" name="Image 3" descr="/home/claude/assets/FiCpu_black_r.png">    </p:cNvPr>
          <p:cNvPicPr>
            <a:picLocks noChangeAspect="1"/>
          </p:cNvPicPr>
          <p:nvPr/>
        </p:nvPicPr>
        <p:blipFill>
          <a:blip r:embed="rId4"/>
          <a:stretch>
            <a:fillRect/>
          </a:stretch>
        </p:blipFill>
        <p:spPr>
          <a:xfrm>
            <a:off x="7267956" y="2596896"/>
            <a:ext cx="292608" cy="292608"/>
          </a:xfrm>
          <a:prstGeom prst="rect">
            <a:avLst/>
          </a:prstGeom>
        </p:spPr>
      </p:pic>
      <p:sp>
        <p:nvSpPr>
          <p:cNvPr id="23" name="Text 17"/>
          <p:cNvSpPr/>
          <p:nvPr/>
        </p:nvSpPr>
        <p:spPr>
          <a:xfrm>
            <a:off x="633984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Spark</a:t>
            </a:r>
            <a:endParaRPr lang="en-US" sz="1250" dirty="0"/>
          </a:p>
        </p:txBody>
      </p:sp>
      <p:sp>
        <p:nvSpPr>
          <p:cNvPr id="24" name="Text 18"/>
          <p:cNvSpPr/>
          <p:nvPr/>
        </p:nvSpPr>
        <p:spPr>
          <a:xfrm>
            <a:off x="633984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Clean · validate · aggregate</a:t>
            </a:r>
            <a:endParaRPr lang="en-US" sz="900" dirty="0"/>
          </a:p>
        </p:txBody>
      </p:sp>
      <p:sp>
        <p:nvSpPr>
          <p:cNvPr id="25" name="Shape 19"/>
          <p:cNvSpPr/>
          <p:nvPr/>
        </p:nvSpPr>
        <p:spPr>
          <a:xfrm>
            <a:off x="8580120" y="2971800"/>
            <a:ext cx="518160" cy="0"/>
          </a:xfrm>
          <a:prstGeom prst="line">
            <a:avLst/>
          </a:prstGeom>
          <a:noFill/>
          <a:ln w="28575">
            <a:solidFill>
              <a:srgbClr val="D7263D"/>
            </a:solidFill>
            <a:prstDash val="solid"/>
            <a:tailEnd type="triangle"/>
          </a:ln>
        </p:spPr>
        <p:txBody>
          <a:bodyPr/>
          <a:p/>
        </p:txBody>
      </p:sp>
      <p:sp>
        <p:nvSpPr>
          <p:cNvPr id="26" name="Shape 20"/>
          <p:cNvSpPr/>
          <p:nvPr/>
        </p:nvSpPr>
        <p:spPr>
          <a:xfrm>
            <a:off x="9098280" y="2331720"/>
            <a:ext cx="2331720" cy="1280160"/>
          </a:xfrm>
          <a:prstGeom prst="roundRect">
            <a:avLst>
              <a:gd name="adj" fmla="val 6429"/>
            </a:avLst>
          </a:prstGeom>
          <a:solidFill>
            <a:srgbClr val="141414"/>
          </a:solidFill>
          <a:ln/>
        </p:spPr>
        <p:txBody>
          <a:bodyPr/>
          <a:p/>
        </p:txBody>
      </p:sp>
      <p:sp>
        <p:nvSpPr>
          <p:cNvPr id="27" name="Shape 21"/>
          <p:cNvSpPr/>
          <p:nvPr/>
        </p:nvSpPr>
        <p:spPr>
          <a:xfrm>
            <a:off x="9998964" y="2478024"/>
            <a:ext cx="530352" cy="530352"/>
          </a:xfrm>
          <a:prstGeom prst="ellipse">
            <a:avLst/>
          </a:prstGeom>
          <a:solidFill>
            <a:srgbClr val="D7263D"/>
          </a:solidFill>
          <a:ln/>
        </p:spPr>
        <p:txBody>
          <a:bodyPr/>
          <a:p/>
        </p:txBody>
      </p:sp>
      <p:pic>
        <p:nvPicPr>
          <p:cNvPr id="28" name="Image 4" descr="/home/claude/assets/FiDatabase_black_r.png">    </p:cNvPr>
          <p:cNvPicPr>
            <a:picLocks noChangeAspect="1"/>
          </p:cNvPicPr>
          <p:nvPr/>
        </p:nvPicPr>
        <p:blipFill>
          <a:blip r:embed="rId5"/>
          <a:stretch>
            <a:fillRect/>
          </a:stretch>
        </p:blipFill>
        <p:spPr>
          <a:xfrm>
            <a:off x="10117836" y="2596896"/>
            <a:ext cx="292608" cy="292608"/>
          </a:xfrm>
          <a:prstGeom prst="rect">
            <a:avLst/>
          </a:prstGeom>
        </p:spPr>
      </p:pic>
      <p:sp>
        <p:nvSpPr>
          <p:cNvPr id="29" name="Text 22"/>
          <p:cNvSpPr/>
          <p:nvPr/>
        </p:nvSpPr>
        <p:spPr>
          <a:xfrm>
            <a:off x="918972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ClickHouse</a:t>
            </a:r>
            <a:endParaRPr lang="en-US" sz="1250" dirty="0"/>
          </a:p>
        </p:txBody>
      </p:sp>
      <p:sp>
        <p:nvSpPr>
          <p:cNvPr id="30" name="Text 23"/>
          <p:cNvSpPr/>
          <p:nvPr/>
        </p:nvSpPr>
        <p:spPr>
          <a:xfrm>
            <a:off x="918972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Trips table</a:t>
            </a:r>
            <a:endParaRPr lang="en-US" sz="900" dirty="0"/>
          </a:p>
        </p:txBody>
      </p:sp>
      <p:sp>
        <p:nvSpPr>
          <p:cNvPr id="31" name="Shape 24"/>
          <p:cNvSpPr/>
          <p:nvPr/>
        </p:nvSpPr>
        <p:spPr>
          <a:xfrm>
            <a:off x="5989320" y="1920240"/>
            <a:ext cx="0" cy="411480"/>
          </a:xfrm>
          <a:prstGeom prst="line">
            <a:avLst/>
          </a:prstGeom>
          <a:noFill/>
          <a:ln w="19050">
            <a:solidFill>
              <a:srgbClr val="D7263D"/>
            </a:solidFill>
            <a:prstDash val="dash"/>
          </a:ln>
        </p:spPr>
        <p:txBody>
          <a:bodyPr/>
          <a:p/>
        </p:txBody>
      </p:sp>
      <p:sp>
        <p:nvSpPr>
          <p:cNvPr id="32" name="Shape 25"/>
          <p:cNvSpPr/>
          <p:nvPr/>
        </p:nvSpPr>
        <p:spPr>
          <a:xfrm>
            <a:off x="10264140" y="3611880"/>
            <a:ext cx="0" cy="320040"/>
          </a:xfrm>
          <a:prstGeom prst="line">
            <a:avLst/>
          </a:prstGeom>
          <a:noFill/>
          <a:ln w="22225">
            <a:solidFill>
              <a:srgbClr val="6B6B6B"/>
            </a:solidFill>
            <a:prstDash val="solid"/>
            <a:tailEnd type="triangle"/>
          </a:ln>
        </p:spPr>
        <p:txBody>
          <a:bodyPr/>
          <a:p/>
        </p:txBody>
      </p:sp>
      <p:sp>
        <p:nvSpPr>
          <p:cNvPr id="33" name="Shape 26"/>
          <p:cNvSpPr/>
          <p:nvPr/>
        </p:nvSpPr>
        <p:spPr>
          <a:xfrm>
            <a:off x="7799832" y="3931920"/>
            <a:ext cx="3840480" cy="960120"/>
          </a:xfrm>
          <a:prstGeom prst="roundRect">
            <a:avLst>
              <a:gd name="adj" fmla="val 8571"/>
            </a:avLst>
          </a:prstGeom>
          <a:solidFill>
            <a:srgbClr val="FFFFFF"/>
          </a:solidFill>
          <a:ln w="12700">
            <a:solidFill>
              <a:srgbClr val="E2E2E2"/>
            </a:solidFill>
            <a:prstDash val="solid"/>
          </a:ln>
        </p:spPr>
        <p:txBody>
          <a:bodyPr/>
          <a:p/>
        </p:txBody>
      </p:sp>
      <p:sp>
        <p:nvSpPr>
          <p:cNvPr id="34" name="Shape 27"/>
          <p:cNvSpPr/>
          <p:nvPr/>
        </p:nvSpPr>
        <p:spPr>
          <a:xfrm>
            <a:off x="7964424" y="4114800"/>
            <a:ext cx="566928" cy="566928"/>
          </a:xfrm>
          <a:prstGeom prst="ellipse">
            <a:avLst/>
          </a:prstGeom>
          <a:solidFill>
            <a:srgbClr val="FAFAFA"/>
          </a:solidFill>
          <a:ln/>
        </p:spPr>
        <p:txBody>
          <a:bodyPr/>
          <a:p/>
        </p:txBody>
      </p:sp>
      <p:pic>
        <p:nvPicPr>
          <p:cNvPr id="35" name="Image 5" descr="/home/claude/assets/superset.png">    </p:cNvPr>
          <p:cNvPicPr>
            <a:picLocks noChangeAspect="1"/>
          </p:cNvPicPr>
          <p:nvPr/>
        </p:nvPicPr>
        <p:blipFill>
          <a:blip r:embed="rId6"/>
          <a:stretch>
            <a:fillRect/>
          </a:stretch>
        </p:blipFill>
        <p:spPr>
          <a:xfrm>
            <a:off x="8083296" y="4233672"/>
            <a:ext cx="329184" cy="329184"/>
          </a:xfrm>
          <a:prstGeom prst="rect">
            <a:avLst/>
          </a:prstGeom>
        </p:spPr>
      </p:pic>
      <p:sp>
        <p:nvSpPr>
          <p:cNvPr id="36" name="Text 28"/>
          <p:cNvSpPr/>
          <p:nvPr/>
        </p:nvSpPr>
        <p:spPr>
          <a:xfrm>
            <a:off x="8695944" y="4059936"/>
            <a:ext cx="278892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Apache Superset &amp; AI Agent</a:t>
            </a:r>
            <a:endParaRPr lang="en-US" sz="1300" dirty="0"/>
          </a:p>
        </p:txBody>
      </p:sp>
      <p:sp>
        <p:nvSpPr>
          <p:cNvPr id="37" name="Text 29"/>
          <p:cNvSpPr/>
          <p:nvPr/>
        </p:nvSpPr>
        <p:spPr>
          <a:xfrm>
            <a:off x="8695944" y="4370832"/>
            <a:ext cx="2788920" cy="457200"/>
          </a:xfrm>
          <a:prstGeom prst="rect">
            <a:avLst/>
          </a:prstGeom>
          <a:noFill/>
          <a:ln/>
        </p:spPr>
        <p:txBody>
          <a:bodyPr wrap="square"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Dashboards, KPIs &amp; zone insights</a:t>
            </a:r>
            <a:endParaRPr lang="en-US" sz="1000" dirty="0"/>
          </a:p>
        </p:txBody>
      </p:sp>
      <p:sp>
        <p:nvSpPr>
          <p:cNvPr id="38" name="Text 30"/>
          <p:cNvSpPr/>
          <p:nvPr/>
        </p:nvSpPr>
        <p:spPr>
          <a:xfrm>
            <a:off x="548640" y="5212080"/>
            <a:ext cx="10881360" cy="36576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Seven stages — walked through one by one, next.</a:t>
            </a:r>
            <a:endParaRPr lang="en-US" sz="1200" dirty="0"/>
          </a:p>
        </p:txBody>
      </p:sp>
      <p:sp>
        <p:nvSpPr>
          <p:cNvPr id="39" name="Text 31"/>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STEP 1 OF 6  —  SOURCE DATA</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indent="0" marL="0">
              <a:buNone/>
            </a:pPr>
            <a:r>
              <a:rPr lang="en-US" sz="3000" b="1" dirty="0">
                <a:solidFill>
                  <a:srgbClr val="141414"/>
                </a:solidFill>
                <a:latin typeface="Bookman Old Style" pitchFamily="34" charset="0"/>
                <a:ea typeface="Bookman Old Style" pitchFamily="34" charset="-122"/>
                <a:cs typeface="Bookman Old Style" pitchFamily="34" charset="-120"/>
              </a:rPr>
              <a:t>NYC TLC Yellow Taxi trip records</a:t>
            </a:r>
            <a:endParaRPr lang="en-US" sz="3000" dirty="0"/>
          </a:p>
        </p:txBody>
      </p:sp>
      <p:sp>
        <p:nvSpPr>
          <p:cNvPr id="4" name="Shape 2"/>
          <p:cNvSpPr/>
          <p:nvPr/>
        </p:nvSpPr>
        <p:spPr>
          <a:xfrm>
            <a:off x="9226296" y="530352"/>
            <a:ext cx="310896" cy="82296"/>
          </a:xfrm>
          <a:prstGeom prst="roundRect">
            <a:avLst>
              <a:gd name="adj" fmla="val 50000"/>
            </a:avLst>
          </a:prstGeom>
          <a:solidFill>
            <a:srgbClr val="D7263D"/>
          </a:solidFill>
          <a:ln/>
        </p:spPr>
        <p:txBody>
          <a:bodyPr/>
          <a:p/>
        </p:txBody>
      </p:sp>
      <p:sp>
        <p:nvSpPr>
          <p:cNvPr id="5" name="Shape 3"/>
          <p:cNvSpPr/>
          <p:nvPr/>
        </p:nvSpPr>
        <p:spPr>
          <a:xfrm>
            <a:off x="9646920" y="530352"/>
            <a:ext cx="310896" cy="82296"/>
          </a:xfrm>
          <a:prstGeom prst="roundRect">
            <a:avLst>
              <a:gd name="adj" fmla="val 50000"/>
            </a:avLst>
          </a:prstGeom>
          <a:solidFill>
            <a:srgbClr val="E2E2E2"/>
          </a:solidFill>
          <a:ln/>
        </p:spPr>
        <p:txBody>
          <a:bodyPr/>
          <a:p/>
        </p:txBody>
      </p:sp>
      <p:sp>
        <p:nvSpPr>
          <p:cNvPr id="6" name="Shape 4"/>
          <p:cNvSpPr/>
          <p:nvPr/>
        </p:nvSpPr>
        <p:spPr>
          <a:xfrm>
            <a:off x="10067544" y="530352"/>
            <a:ext cx="310896" cy="82296"/>
          </a:xfrm>
          <a:prstGeom prst="roundRect">
            <a:avLst>
              <a:gd name="adj" fmla="val 50000"/>
            </a:avLst>
          </a:prstGeom>
          <a:solidFill>
            <a:srgbClr val="E2E2E2"/>
          </a:solidFill>
          <a:ln/>
        </p:spPr>
        <p:txBody>
          <a:bodyPr/>
          <a:p/>
        </p:txBody>
      </p:sp>
      <p:sp>
        <p:nvSpPr>
          <p:cNvPr id="7" name="Shape 5"/>
          <p:cNvSpPr/>
          <p:nvPr/>
        </p:nvSpPr>
        <p:spPr>
          <a:xfrm>
            <a:off x="10488168" y="530352"/>
            <a:ext cx="310896" cy="82296"/>
          </a:xfrm>
          <a:prstGeom prst="roundRect">
            <a:avLst>
              <a:gd name="adj" fmla="val 50000"/>
            </a:avLst>
          </a:prstGeom>
          <a:solidFill>
            <a:srgbClr val="E2E2E2"/>
          </a:solidFill>
          <a:ln/>
        </p:spPr>
        <p:txBody>
          <a:bodyPr/>
          <a:p/>
        </p:txBody>
      </p:sp>
      <p:sp>
        <p:nvSpPr>
          <p:cNvPr id="8" name="Shape 6"/>
          <p:cNvSpPr/>
          <p:nvPr/>
        </p:nvSpPr>
        <p:spPr>
          <a:xfrm>
            <a:off x="10908792" y="530352"/>
            <a:ext cx="310896" cy="82296"/>
          </a:xfrm>
          <a:prstGeom prst="roundRect">
            <a:avLst>
              <a:gd name="adj" fmla="val 50000"/>
            </a:avLst>
          </a:prstGeom>
          <a:solidFill>
            <a:srgbClr val="E2E2E2"/>
          </a:solidFill>
          <a:ln/>
        </p:spPr>
        <p:txBody>
          <a:bodyPr/>
          <a:p/>
        </p:txBody>
      </p:sp>
      <p:sp>
        <p:nvSpPr>
          <p:cNvPr id="9" name="Shape 7"/>
          <p:cNvSpPr/>
          <p:nvPr/>
        </p:nvSpPr>
        <p:spPr>
          <a:xfrm>
            <a:off x="11329416" y="530352"/>
            <a:ext cx="310896" cy="82296"/>
          </a:xfrm>
          <a:prstGeom prst="roundRect">
            <a:avLst>
              <a:gd name="adj" fmla="val 50000"/>
            </a:avLst>
          </a:prstGeom>
          <a:solidFill>
            <a:srgbClr val="E2E2E2"/>
          </a:solidFill>
          <a:ln/>
        </p:spPr>
        <p:txBody>
          <a:bodyPr/>
          <a:p/>
        </p:txBody>
      </p:sp>
      <p:sp>
        <p:nvSpPr>
          <p:cNvPr id="10" name="Text 8"/>
          <p:cNvSpPr/>
          <p:nvPr/>
        </p:nvSpPr>
        <p:spPr>
          <a:xfrm>
            <a:off x="548640" y="1417320"/>
            <a:ext cx="10881360" cy="640080"/>
          </a:xfrm>
          <a:prstGeom prst="rect">
            <a:avLst/>
          </a:prstGeom>
          <a:noFill/>
          <a:ln/>
        </p:spPr>
        <p:txBody>
          <a:bodyPr wrap="square" rtlCol="0" anchor="ctr"/>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Sourced from the official NYC Taxi &amp; Limousine Commission archive (nyc.gov/tlc) — monthly Parquet files covering every yellow-cab trip in 2025, streamed sequentially to simulate a live production feed.</a:t>
            </a:r>
            <a:endParaRPr lang="en-US" sz="1300" dirty="0"/>
          </a:p>
        </p:txBody>
      </p:sp>
      <p:sp>
        <p:nvSpPr>
          <p:cNvPr id="11" name="Shape 9"/>
          <p:cNvSpPr/>
          <p:nvPr/>
        </p:nvSpPr>
        <p:spPr>
          <a:xfrm>
            <a:off x="548640" y="2331720"/>
            <a:ext cx="2514600" cy="1417320"/>
          </a:xfrm>
          <a:prstGeom prst="roundRect">
            <a:avLst>
              <a:gd name="adj" fmla="val 5161"/>
            </a:avLst>
          </a:prstGeom>
          <a:solidFill>
            <a:srgbClr val="141414"/>
          </a:solidFill>
          <a:ln/>
        </p:spPr>
        <p:txBody>
          <a:bodyPr/>
          <a:p/>
        </p:txBody>
      </p:sp>
      <p:sp>
        <p:nvSpPr>
          <p:cNvPr id="12" name="Text 10"/>
          <p:cNvSpPr/>
          <p:nvPr/>
        </p:nvSpPr>
        <p:spPr>
          <a:xfrm>
            <a:off x="713232" y="2496312"/>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35+ MILLION</a:t>
            </a:r>
            <a:endParaRPr lang="en-US" sz="3000" dirty="0"/>
          </a:p>
        </p:txBody>
      </p:sp>
      <p:sp>
        <p:nvSpPr>
          <p:cNvPr id="13" name="Text 11"/>
          <p:cNvSpPr/>
          <p:nvPr/>
        </p:nvSpPr>
        <p:spPr>
          <a:xfrm>
            <a:off x="713232" y="3200400"/>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TRIP RECORDS (FULL 2025)</a:t>
            </a:r>
            <a:endParaRPr lang="en-US" sz="1000" dirty="0"/>
          </a:p>
        </p:txBody>
      </p:sp>
      <p:sp>
        <p:nvSpPr>
          <p:cNvPr id="14" name="Shape 12"/>
          <p:cNvSpPr/>
          <p:nvPr/>
        </p:nvSpPr>
        <p:spPr>
          <a:xfrm>
            <a:off x="3264408" y="2331720"/>
            <a:ext cx="2514600" cy="1417320"/>
          </a:xfrm>
          <a:prstGeom prst="roundRect">
            <a:avLst>
              <a:gd name="adj" fmla="val 5161"/>
            </a:avLst>
          </a:prstGeom>
          <a:solidFill>
            <a:srgbClr val="141414"/>
          </a:solidFill>
          <a:ln/>
        </p:spPr>
        <p:txBody>
          <a:bodyPr/>
          <a:p/>
        </p:txBody>
      </p:sp>
      <p:sp>
        <p:nvSpPr>
          <p:cNvPr id="15" name="Text 13"/>
          <p:cNvSpPr/>
          <p:nvPr/>
        </p:nvSpPr>
        <p:spPr>
          <a:xfrm>
            <a:off x="3429000" y="2496312"/>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20</a:t>
            </a:r>
            <a:endParaRPr lang="en-US" sz="3000" dirty="0"/>
          </a:p>
        </p:txBody>
      </p:sp>
      <p:sp>
        <p:nvSpPr>
          <p:cNvPr id="16" name="Text 14"/>
          <p:cNvSpPr/>
          <p:nvPr/>
        </p:nvSpPr>
        <p:spPr>
          <a:xfrm>
            <a:off x="3429000" y="3200400"/>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RAW SOURCE FIELDS</a:t>
            </a:r>
            <a:endParaRPr lang="en-US" sz="1000" dirty="0"/>
          </a:p>
        </p:txBody>
      </p:sp>
      <p:sp>
        <p:nvSpPr>
          <p:cNvPr id="17" name="Shape 15"/>
          <p:cNvSpPr/>
          <p:nvPr/>
        </p:nvSpPr>
        <p:spPr>
          <a:xfrm>
            <a:off x="548640" y="3950208"/>
            <a:ext cx="2514600" cy="1417320"/>
          </a:xfrm>
          <a:prstGeom prst="roundRect">
            <a:avLst>
              <a:gd name="adj" fmla="val 5161"/>
            </a:avLst>
          </a:prstGeom>
          <a:solidFill>
            <a:srgbClr val="141414"/>
          </a:solidFill>
          <a:ln/>
        </p:spPr>
        <p:txBody>
          <a:bodyPr/>
          <a:p/>
        </p:txBody>
      </p:sp>
      <p:sp>
        <p:nvSpPr>
          <p:cNvPr id="18" name="Text 16"/>
          <p:cNvSpPr/>
          <p:nvPr/>
        </p:nvSpPr>
        <p:spPr>
          <a:xfrm>
            <a:off x="713232" y="4114800"/>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172</a:t>
            </a:r>
            <a:endParaRPr lang="en-US" sz="3000" dirty="0"/>
          </a:p>
        </p:txBody>
      </p:sp>
      <p:sp>
        <p:nvSpPr>
          <p:cNvPr id="19" name="Text 17"/>
          <p:cNvSpPr/>
          <p:nvPr/>
        </p:nvSpPr>
        <p:spPr>
          <a:xfrm>
            <a:off x="713232" y="4818888"/>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DISTINCT PICKUP ZONES</a:t>
            </a:r>
            <a:endParaRPr lang="en-US" sz="1000" dirty="0"/>
          </a:p>
        </p:txBody>
      </p:sp>
      <p:sp>
        <p:nvSpPr>
          <p:cNvPr id="20" name="Shape 18"/>
          <p:cNvSpPr/>
          <p:nvPr/>
        </p:nvSpPr>
        <p:spPr>
          <a:xfrm>
            <a:off x="3264408" y="3950208"/>
            <a:ext cx="2514600" cy="1417320"/>
          </a:xfrm>
          <a:prstGeom prst="roundRect">
            <a:avLst>
              <a:gd name="adj" fmla="val 5161"/>
            </a:avLst>
          </a:prstGeom>
          <a:solidFill>
            <a:srgbClr val="141414"/>
          </a:solidFill>
          <a:ln/>
        </p:spPr>
        <p:txBody>
          <a:bodyPr/>
          <a:p/>
        </p:txBody>
      </p:sp>
      <p:sp>
        <p:nvSpPr>
          <p:cNvPr id="21" name="Text 19"/>
          <p:cNvSpPr/>
          <p:nvPr/>
        </p:nvSpPr>
        <p:spPr>
          <a:xfrm>
            <a:off x="3429000" y="4114800"/>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3.1 mi</a:t>
            </a:r>
            <a:endParaRPr lang="en-US" sz="3000" dirty="0"/>
          </a:p>
        </p:txBody>
      </p:sp>
      <p:sp>
        <p:nvSpPr>
          <p:cNvPr id="22" name="Text 20"/>
          <p:cNvSpPr/>
          <p:nvPr/>
        </p:nvSpPr>
        <p:spPr>
          <a:xfrm>
            <a:off x="3429000" y="4818888"/>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AVERAGE TRIP DISTANCE</a:t>
            </a:r>
            <a:endParaRPr lang="en-US" sz="1000" dirty="0"/>
          </a:p>
        </p:txBody>
      </p:sp>
      <p:sp>
        <p:nvSpPr>
          <p:cNvPr id="23" name="Shape 21"/>
          <p:cNvSpPr/>
          <p:nvPr/>
        </p:nvSpPr>
        <p:spPr>
          <a:xfrm>
            <a:off x="6355080" y="2331720"/>
            <a:ext cx="5285232" cy="3246120"/>
          </a:xfrm>
          <a:prstGeom prst="roundRect">
            <a:avLst>
              <a:gd name="adj" fmla="val 2254"/>
            </a:avLst>
          </a:prstGeom>
          <a:solidFill>
            <a:srgbClr val="FFFFFF"/>
          </a:solidFill>
          <a:ln w="12700">
            <a:solidFill>
              <a:srgbClr val="E2E2E2"/>
            </a:solidFill>
            <a:prstDash val="solid"/>
          </a:ln>
        </p:spPr>
        <p:txBody>
          <a:bodyPr/>
          <a:p/>
        </p:txBody>
      </p:sp>
      <p:sp>
        <p:nvSpPr>
          <p:cNvPr id="24" name="Text 22"/>
          <p:cNvSpPr/>
          <p:nvPr/>
        </p:nvSpPr>
        <p:spPr>
          <a:xfrm>
            <a:off x="6583680" y="2514600"/>
            <a:ext cx="4828032" cy="32004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ClickHouse target schema — taxi_trips</a:t>
            </a:r>
            <a:endParaRPr lang="en-US" sz="1300" dirty="0"/>
          </a:p>
        </p:txBody>
      </p:sp>
      <p:sp>
        <p:nvSpPr>
          <p:cNvPr id="25" name="Text 23"/>
          <p:cNvSpPr/>
          <p:nvPr/>
        </p:nvSpPr>
        <p:spPr>
          <a:xfrm>
            <a:off x="6583680" y="2990088"/>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pickup_datetime</a:t>
            </a:r>
            <a:endParaRPr lang="en-US" sz="1100" dirty="0"/>
          </a:p>
        </p:txBody>
      </p:sp>
      <p:sp>
        <p:nvSpPr>
          <p:cNvPr id="26" name="Text 24"/>
          <p:cNvSpPr/>
          <p:nvPr/>
        </p:nvSpPr>
        <p:spPr>
          <a:xfrm>
            <a:off x="9811512" y="2990088"/>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DateTime</a:t>
            </a:r>
            <a:endParaRPr lang="en-US" sz="1100" dirty="0"/>
          </a:p>
        </p:txBody>
      </p:sp>
      <p:sp>
        <p:nvSpPr>
          <p:cNvPr id="27" name="Shape 25"/>
          <p:cNvSpPr/>
          <p:nvPr/>
        </p:nvSpPr>
        <p:spPr>
          <a:xfrm>
            <a:off x="6583680" y="3244291"/>
            <a:ext cx="4828032" cy="0"/>
          </a:xfrm>
          <a:prstGeom prst="line">
            <a:avLst/>
          </a:prstGeom>
          <a:noFill/>
          <a:ln w="12700">
            <a:solidFill>
              <a:srgbClr val="EFEFEF"/>
            </a:solidFill>
            <a:prstDash val="solid"/>
          </a:ln>
        </p:spPr>
        <p:txBody>
          <a:bodyPr/>
          <a:p/>
        </p:txBody>
      </p:sp>
      <p:sp>
        <p:nvSpPr>
          <p:cNvPr id="28" name="Text 26"/>
          <p:cNvSpPr/>
          <p:nvPr/>
        </p:nvSpPr>
        <p:spPr>
          <a:xfrm>
            <a:off x="6583680" y="3280867"/>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dropoff_datetime</a:t>
            </a:r>
            <a:endParaRPr lang="en-US" sz="1100" dirty="0"/>
          </a:p>
        </p:txBody>
      </p:sp>
      <p:sp>
        <p:nvSpPr>
          <p:cNvPr id="29" name="Text 27"/>
          <p:cNvSpPr/>
          <p:nvPr/>
        </p:nvSpPr>
        <p:spPr>
          <a:xfrm>
            <a:off x="9811512" y="3280867"/>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DateTime</a:t>
            </a:r>
            <a:endParaRPr lang="en-US" sz="1100" dirty="0"/>
          </a:p>
        </p:txBody>
      </p:sp>
      <p:sp>
        <p:nvSpPr>
          <p:cNvPr id="30" name="Shape 28"/>
          <p:cNvSpPr/>
          <p:nvPr/>
        </p:nvSpPr>
        <p:spPr>
          <a:xfrm>
            <a:off x="6583680" y="3535070"/>
            <a:ext cx="4828032" cy="0"/>
          </a:xfrm>
          <a:prstGeom prst="line">
            <a:avLst/>
          </a:prstGeom>
          <a:noFill/>
          <a:ln w="12700">
            <a:solidFill>
              <a:srgbClr val="EFEFEF"/>
            </a:solidFill>
            <a:prstDash val="solid"/>
          </a:ln>
        </p:spPr>
        <p:txBody>
          <a:bodyPr/>
          <a:p/>
        </p:txBody>
      </p:sp>
      <p:sp>
        <p:nvSpPr>
          <p:cNvPr id="31" name="Text 29"/>
          <p:cNvSpPr/>
          <p:nvPr/>
        </p:nvSpPr>
        <p:spPr>
          <a:xfrm>
            <a:off x="6583680" y="3571646"/>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passenger_count</a:t>
            </a:r>
            <a:endParaRPr lang="en-US" sz="1100" dirty="0"/>
          </a:p>
        </p:txBody>
      </p:sp>
      <p:sp>
        <p:nvSpPr>
          <p:cNvPr id="32" name="Text 30"/>
          <p:cNvSpPr/>
          <p:nvPr/>
        </p:nvSpPr>
        <p:spPr>
          <a:xfrm>
            <a:off x="9811512" y="3571646"/>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33" name="Shape 31"/>
          <p:cNvSpPr/>
          <p:nvPr/>
        </p:nvSpPr>
        <p:spPr>
          <a:xfrm>
            <a:off x="6583680" y="3825850"/>
            <a:ext cx="4828032" cy="0"/>
          </a:xfrm>
          <a:prstGeom prst="line">
            <a:avLst/>
          </a:prstGeom>
          <a:noFill/>
          <a:ln w="12700">
            <a:solidFill>
              <a:srgbClr val="EFEFEF"/>
            </a:solidFill>
            <a:prstDash val="solid"/>
          </a:ln>
        </p:spPr>
        <p:txBody>
          <a:bodyPr/>
          <a:p/>
        </p:txBody>
      </p:sp>
      <p:sp>
        <p:nvSpPr>
          <p:cNvPr id="34" name="Text 32"/>
          <p:cNvSpPr/>
          <p:nvPr/>
        </p:nvSpPr>
        <p:spPr>
          <a:xfrm>
            <a:off x="6583680" y="3862426"/>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trip_distance</a:t>
            </a:r>
            <a:endParaRPr lang="en-US" sz="1100" dirty="0"/>
          </a:p>
        </p:txBody>
      </p:sp>
      <p:sp>
        <p:nvSpPr>
          <p:cNvPr id="35" name="Text 33"/>
          <p:cNvSpPr/>
          <p:nvPr/>
        </p:nvSpPr>
        <p:spPr>
          <a:xfrm>
            <a:off x="9811512" y="3862426"/>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36" name="Shape 34"/>
          <p:cNvSpPr/>
          <p:nvPr/>
        </p:nvSpPr>
        <p:spPr>
          <a:xfrm>
            <a:off x="6583680" y="4116629"/>
            <a:ext cx="4828032" cy="0"/>
          </a:xfrm>
          <a:prstGeom prst="line">
            <a:avLst/>
          </a:prstGeom>
          <a:noFill/>
          <a:ln w="12700">
            <a:solidFill>
              <a:srgbClr val="EFEFEF"/>
            </a:solidFill>
            <a:prstDash val="solid"/>
          </a:ln>
        </p:spPr>
        <p:txBody>
          <a:bodyPr/>
          <a:p/>
        </p:txBody>
      </p:sp>
      <p:sp>
        <p:nvSpPr>
          <p:cNvPr id="37" name="Text 35"/>
          <p:cNvSpPr/>
          <p:nvPr/>
        </p:nvSpPr>
        <p:spPr>
          <a:xfrm>
            <a:off x="6583680" y="4153205"/>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pickup_location_id</a:t>
            </a:r>
            <a:endParaRPr lang="en-US" sz="1100" dirty="0"/>
          </a:p>
        </p:txBody>
      </p:sp>
      <p:sp>
        <p:nvSpPr>
          <p:cNvPr id="38" name="Text 36"/>
          <p:cNvSpPr/>
          <p:nvPr/>
        </p:nvSpPr>
        <p:spPr>
          <a:xfrm>
            <a:off x="9811512" y="4153205"/>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39" name="Shape 37"/>
          <p:cNvSpPr/>
          <p:nvPr/>
        </p:nvSpPr>
        <p:spPr>
          <a:xfrm>
            <a:off x="6583680" y="4407408"/>
            <a:ext cx="4828032" cy="0"/>
          </a:xfrm>
          <a:prstGeom prst="line">
            <a:avLst/>
          </a:prstGeom>
          <a:noFill/>
          <a:ln w="12700">
            <a:solidFill>
              <a:srgbClr val="EFEFEF"/>
            </a:solidFill>
            <a:prstDash val="solid"/>
          </a:ln>
        </p:spPr>
        <p:txBody>
          <a:bodyPr/>
          <a:p/>
        </p:txBody>
      </p:sp>
      <p:sp>
        <p:nvSpPr>
          <p:cNvPr id="40" name="Text 38"/>
          <p:cNvSpPr/>
          <p:nvPr/>
        </p:nvSpPr>
        <p:spPr>
          <a:xfrm>
            <a:off x="6583680" y="4443984"/>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dropoff_location_id</a:t>
            </a:r>
            <a:endParaRPr lang="en-US" sz="1100" dirty="0"/>
          </a:p>
        </p:txBody>
      </p:sp>
      <p:sp>
        <p:nvSpPr>
          <p:cNvPr id="41" name="Text 39"/>
          <p:cNvSpPr/>
          <p:nvPr/>
        </p:nvSpPr>
        <p:spPr>
          <a:xfrm>
            <a:off x="9811512" y="4443984"/>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42" name="Shape 40"/>
          <p:cNvSpPr/>
          <p:nvPr/>
        </p:nvSpPr>
        <p:spPr>
          <a:xfrm>
            <a:off x="6583680" y="4698187"/>
            <a:ext cx="4828032" cy="0"/>
          </a:xfrm>
          <a:prstGeom prst="line">
            <a:avLst/>
          </a:prstGeom>
          <a:noFill/>
          <a:ln w="12700">
            <a:solidFill>
              <a:srgbClr val="EFEFEF"/>
            </a:solidFill>
            <a:prstDash val="solid"/>
          </a:ln>
        </p:spPr>
        <p:txBody>
          <a:bodyPr/>
          <a:p/>
        </p:txBody>
      </p:sp>
      <p:sp>
        <p:nvSpPr>
          <p:cNvPr id="43" name="Text 41"/>
          <p:cNvSpPr/>
          <p:nvPr/>
        </p:nvSpPr>
        <p:spPr>
          <a:xfrm>
            <a:off x="6583680" y="4734763"/>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fare_amount / tip_amount</a:t>
            </a:r>
            <a:endParaRPr lang="en-US" sz="1100" dirty="0"/>
          </a:p>
        </p:txBody>
      </p:sp>
      <p:sp>
        <p:nvSpPr>
          <p:cNvPr id="44" name="Text 42"/>
          <p:cNvSpPr/>
          <p:nvPr/>
        </p:nvSpPr>
        <p:spPr>
          <a:xfrm>
            <a:off x="9811512" y="4734763"/>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45" name="Shape 43"/>
          <p:cNvSpPr/>
          <p:nvPr/>
        </p:nvSpPr>
        <p:spPr>
          <a:xfrm>
            <a:off x="6583680" y="4988966"/>
            <a:ext cx="4828032" cy="0"/>
          </a:xfrm>
          <a:prstGeom prst="line">
            <a:avLst/>
          </a:prstGeom>
          <a:noFill/>
          <a:ln w="12700">
            <a:solidFill>
              <a:srgbClr val="EFEFEF"/>
            </a:solidFill>
            <a:prstDash val="solid"/>
          </a:ln>
        </p:spPr>
        <p:txBody>
          <a:bodyPr/>
          <a:p/>
        </p:txBody>
      </p:sp>
      <p:sp>
        <p:nvSpPr>
          <p:cNvPr id="46" name="Text 44"/>
          <p:cNvSpPr/>
          <p:nvPr/>
        </p:nvSpPr>
        <p:spPr>
          <a:xfrm>
            <a:off x="6583680" y="5025542"/>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total_amount</a:t>
            </a:r>
            <a:endParaRPr lang="en-US" sz="1100" dirty="0"/>
          </a:p>
        </p:txBody>
      </p:sp>
      <p:sp>
        <p:nvSpPr>
          <p:cNvPr id="47" name="Text 45"/>
          <p:cNvSpPr/>
          <p:nvPr/>
        </p:nvSpPr>
        <p:spPr>
          <a:xfrm>
            <a:off x="9811512" y="5025542"/>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48" name="Shape 46"/>
          <p:cNvSpPr/>
          <p:nvPr/>
        </p:nvSpPr>
        <p:spPr>
          <a:xfrm>
            <a:off x="6583680" y="5279746"/>
            <a:ext cx="4828032" cy="0"/>
          </a:xfrm>
          <a:prstGeom prst="line">
            <a:avLst/>
          </a:prstGeom>
          <a:noFill/>
          <a:ln w="12700">
            <a:solidFill>
              <a:srgbClr val="EFEFEF"/>
            </a:solidFill>
            <a:prstDash val="solid"/>
          </a:ln>
        </p:spPr>
        <p:txBody>
          <a:bodyPr/>
          <a:p/>
        </p:txBody>
      </p:sp>
      <p:sp>
        <p:nvSpPr>
          <p:cNvPr id="49" name="Text 47"/>
          <p:cNvSpPr/>
          <p:nvPr/>
        </p:nvSpPr>
        <p:spPr>
          <a:xfrm>
            <a:off x="6583680" y="5316322"/>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payment_type</a:t>
            </a:r>
            <a:endParaRPr lang="en-US" sz="1100" dirty="0"/>
          </a:p>
        </p:txBody>
      </p:sp>
      <p:sp>
        <p:nvSpPr>
          <p:cNvPr id="50" name="Text 48"/>
          <p:cNvSpPr/>
          <p:nvPr/>
        </p:nvSpPr>
        <p:spPr>
          <a:xfrm>
            <a:off x="9811512" y="5316322"/>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UInt8</a:t>
            </a:r>
            <a:endParaRPr lang="en-US" sz="1100" dirty="0"/>
          </a:p>
        </p:txBody>
      </p:sp>
      <p:sp>
        <p:nvSpPr>
          <p:cNvPr id="51" name="Text 49"/>
          <p:cNvSpPr/>
          <p:nvPr/>
        </p:nvSpPr>
        <p:spPr>
          <a:xfrm>
            <a:off x="548640" y="5806440"/>
            <a:ext cx="10881360" cy="320040"/>
          </a:xfrm>
          <a:prstGeom prst="rect">
            <a:avLst/>
          </a:prstGeom>
          <a:noFill/>
          <a:ln/>
        </p:spPr>
        <p:txBody>
          <a:bodyPr wrap="square" rtlCol="0" anchor="ctr"/>
          <a:lstStyle/>
          <a:p>
            <a:pPr indent="0" marL="0">
              <a:buNone/>
            </a:pPr>
            <a:r>
              <a:rPr lang="en-US" sz="1150" b="1" dirty="0">
                <a:solidFill>
                  <a:srgbClr val="141414"/>
                </a:solidFill>
                <a:latin typeface="Courier New" pitchFamily="34" charset="0"/>
                <a:ea typeface="Courier New" pitchFamily="34" charset="-122"/>
                <a:cs typeface="Courier New" pitchFamily="34" charset="-120"/>
              </a:rPr>
              <a:t>Engine: </a:t>
            </a:r>
            <a:pPr indent="0" marL="0">
              <a:buNone/>
            </a:pPr>
            <a:r>
              <a:rPr lang="en-US" sz="1150" dirty="0">
                <a:solidFill>
                  <a:srgbClr val="6B6B6B"/>
                </a:solidFill>
                <a:latin typeface="Courier New" pitchFamily="34" charset="0"/>
                <a:ea typeface="Courier New" pitchFamily="34" charset="-122"/>
                <a:cs typeface="Courier New" pitchFamily="34" charset="-120"/>
              </a:rPr>
              <a:t>MergeTree()   </a:t>
            </a:r>
            <a:pPr indent="0" marL="0">
              <a:buNone/>
            </a:pPr>
            <a:r>
              <a:rPr lang="en-US" sz="1150" b="1" dirty="0">
                <a:solidFill>
                  <a:srgbClr val="141414"/>
                </a:solidFill>
                <a:latin typeface="Courier New" pitchFamily="34" charset="0"/>
                <a:ea typeface="Courier New" pitchFamily="34" charset="-122"/>
                <a:cs typeface="Courier New" pitchFamily="34" charset="-120"/>
              </a:rPr>
              <a:t>Ordered by: </a:t>
            </a:r>
            <a:pPr indent="0" marL="0">
              <a:buNone/>
            </a:pPr>
            <a:r>
              <a:rPr lang="en-US" sz="1150" dirty="0">
                <a:solidFill>
                  <a:srgbClr val="6B6B6B"/>
                </a:solidFill>
                <a:latin typeface="Courier New" pitchFamily="34" charset="0"/>
                <a:ea typeface="Courier New" pitchFamily="34" charset="-122"/>
                <a:cs typeface="Courier New" pitchFamily="34" charset="-120"/>
              </a:rPr>
              <a:t>pickup_datetime</a:t>
            </a:r>
            <a:endParaRPr lang="en-US" sz="1150" dirty="0"/>
          </a:p>
        </p:txBody>
      </p:sp>
      <p:sp>
        <p:nvSpPr>
          <p:cNvPr id="52" name="Text 5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180" kern="0" dirty="0">
                <a:solidFill>
                  <a:srgbClr val="D7263D"/>
                </a:solidFill>
                <a:latin typeface="Calibri" pitchFamily="34" charset="0"/>
                <a:ea typeface="Calibri" pitchFamily="34" charset="-122"/>
                <a:cs typeface="Calibri" pitchFamily="34" charset="-120"/>
              </a:rPr>
              <a:t>STEP 2 OF 6  —  EVENT STREAMING</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Kafka — the real-time backbone</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sp>
      <p:sp>
        <p:nvSpPr>
          <p:cNvPr id="5" name="Shape 3"/>
          <p:cNvSpPr/>
          <p:nvPr/>
        </p:nvSpPr>
        <p:spPr>
          <a:xfrm>
            <a:off x="9646920" y="530352"/>
            <a:ext cx="310896" cy="82296"/>
          </a:xfrm>
          <a:prstGeom prst="roundRect">
            <a:avLst>
              <a:gd name="adj" fmla="val 50000"/>
            </a:avLst>
          </a:prstGeom>
          <a:solidFill>
            <a:srgbClr val="D7263D"/>
          </a:solidFill>
          <a:ln/>
        </p:spPr>
      </p:sp>
      <p:sp>
        <p:nvSpPr>
          <p:cNvPr id="6" name="Shape 4"/>
          <p:cNvSpPr/>
          <p:nvPr/>
        </p:nvSpPr>
        <p:spPr>
          <a:xfrm>
            <a:off x="10067544" y="530352"/>
            <a:ext cx="310896" cy="82296"/>
          </a:xfrm>
          <a:prstGeom prst="roundRect">
            <a:avLst>
              <a:gd name="adj" fmla="val 50000"/>
            </a:avLst>
          </a:prstGeom>
          <a:solidFill>
            <a:srgbClr val="3A3A3A"/>
          </a:solidFill>
          <a:ln/>
        </p:spPr>
      </p:sp>
      <p:sp>
        <p:nvSpPr>
          <p:cNvPr id="7" name="Shape 5"/>
          <p:cNvSpPr/>
          <p:nvPr/>
        </p:nvSpPr>
        <p:spPr>
          <a:xfrm>
            <a:off x="10488168" y="530352"/>
            <a:ext cx="310896" cy="82296"/>
          </a:xfrm>
          <a:prstGeom prst="roundRect">
            <a:avLst>
              <a:gd name="adj" fmla="val 50000"/>
            </a:avLst>
          </a:prstGeom>
          <a:solidFill>
            <a:srgbClr val="3A3A3A"/>
          </a:solidFill>
          <a:ln/>
        </p:spPr>
      </p:sp>
      <p:sp>
        <p:nvSpPr>
          <p:cNvPr id="8" name="Shape 6"/>
          <p:cNvSpPr/>
          <p:nvPr/>
        </p:nvSpPr>
        <p:spPr>
          <a:xfrm>
            <a:off x="10908792" y="530352"/>
            <a:ext cx="310896" cy="82296"/>
          </a:xfrm>
          <a:prstGeom prst="roundRect">
            <a:avLst>
              <a:gd name="adj" fmla="val 50000"/>
            </a:avLst>
          </a:prstGeom>
          <a:solidFill>
            <a:srgbClr val="3A3A3A"/>
          </a:solidFill>
          <a:ln/>
        </p:spPr>
      </p:sp>
      <p:sp>
        <p:nvSpPr>
          <p:cNvPr id="9" name="Shape 7"/>
          <p:cNvSpPr/>
          <p:nvPr/>
        </p:nvSpPr>
        <p:spPr>
          <a:xfrm>
            <a:off x="11329416" y="530352"/>
            <a:ext cx="310896" cy="82296"/>
          </a:xfrm>
          <a:prstGeom prst="roundRect">
            <a:avLst>
              <a:gd name="adj" fmla="val 50000"/>
            </a:avLst>
          </a:prstGeom>
          <a:solidFill>
            <a:srgbClr val="3A3A3A"/>
          </a:solidFill>
          <a:ln/>
        </p:spPr>
      </p:sp>
      <p:sp>
        <p:nvSpPr>
          <p:cNvPr id="10" name="Shape 8"/>
          <p:cNvSpPr/>
          <p:nvPr/>
        </p:nvSpPr>
        <p:spPr>
          <a:xfrm>
            <a:off x="548640" y="1600200"/>
            <a:ext cx="5349240" cy="4526280"/>
          </a:xfrm>
          <a:prstGeom prst="roundRect">
            <a:avLst>
              <a:gd name="adj" fmla="val 1818"/>
            </a:avLst>
          </a:prstGeom>
          <a:solidFill>
            <a:srgbClr val="1E1E1E"/>
          </a:solidFill>
          <a:ln/>
        </p:spPr>
      </p:sp>
      <p:sp>
        <p:nvSpPr>
          <p:cNvPr id="11" name="Shape 9"/>
          <p:cNvSpPr/>
          <p:nvPr/>
        </p:nvSpPr>
        <p:spPr>
          <a:xfrm>
            <a:off x="822960" y="1856232"/>
            <a:ext cx="548640" cy="548640"/>
          </a:xfrm>
          <a:prstGeom prst="ellipse">
            <a:avLst/>
          </a:prstGeom>
          <a:solidFill>
            <a:srgbClr val="D7263D"/>
          </a:solidFill>
          <a:ln/>
        </p:spPr>
      </p:sp>
      <p:pic>
        <p:nvPicPr>
          <p:cNvPr id="12" name="Image 0" descr="/home/claude/assets/kafka.png">    </p:cNvPr>
          <p:cNvPicPr>
            <a:picLocks noChangeAspect="1"/>
          </p:cNvPicPr>
          <p:nvPr/>
        </p:nvPicPr>
        <p:blipFill>
          <a:blip r:embed="rId1"/>
          <a:stretch>
            <a:fillRect/>
          </a:stretch>
        </p:blipFill>
        <p:spPr>
          <a:xfrm>
            <a:off x="941832" y="1975104"/>
            <a:ext cx="310896" cy="310896"/>
          </a:xfrm>
          <a:prstGeom prst="rect">
            <a:avLst/>
          </a:prstGeom>
        </p:spPr>
      </p:pic>
      <p:sp>
        <p:nvSpPr>
          <p:cNvPr id="13" name="Text 10"/>
          <p:cNvSpPr/>
          <p:nvPr/>
        </p:nvSpPr>
        <p:spPr>
          <a:xfrm>
            <a:off x="1554480" y="1874520"/>
            <a:ext cx="416052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it does</a:t>
            </a:r>
            <a:endParaRPr lang="en-US" sz="1600" dirty="0"/>
          </a:p>
        </p:txBody>
      </p:sp>
      <p:sp>
        <p:nvSpPr>
          <p:cNvPr id="14" name="Text 11"/>
          <p:cNvSpPr/>
          <p:nvPr/>
        </p:nvSpPr>
        <p:spPr>
          <a:xfrm>
            <a:off x="841248" y="2606040"/>
            <a:ext cx="4764024" cy="1097280"/>
          </a:xfrm>
          <a:prstGeom prst="rect">
            <a:avLst/>
          </a:prstGeom>
          <a:noFill/>
          <a:ln/>
        </p:spPr>
        <p:txBody>
          <a:bodyPr wrap="square" rtlCol="0" anchor="ctr"/>
          <a:lstStyle/>
          <a:p>
            <a:pPr indent="0" marL="0">
              <a:lnSpc>
                <a:spcPct val="130000"/>
              </a:lnSpc>
              <a:buNone/>
            </a:pPr>
            <a:r>
              <a:rPr lang="en-US" sz="1200" dirty="0">
                <a:solidFill>
                  <a:srgbClr val="D8D8D8"/>
                </a:solidFill>
                <a:latin typeface="Calibri" pitchFamily="34" charset="0"/>
                <a:ea typeface="Calibri" pitchFamily="34" charset="-122"/>
                <a:cs typeface="Calibri" pitchFamily="34" charset="-120"/>
              </a:rPr>
              <a:t>A Python producer reads NYC Taxi trip rows from the Parquet source and publishes each one as a JSON message to a Kafka topic — turning a static historical file into a live, continuous event stream that downstream consumers can subscribe to.</a:t>
            </a:r>
            <a:endParaRPr lang="en-US" sz="1200" dirty="0"/>
          </a:p>
        </p:txBody>
      </p:sp>
      <p:sp>
        <p:nvSpPr>
          <p:cNvPr id="15" name="Shape 12"/>
          <p:cNvSpPr/>
          <p:nvPr/>
        </p:nvSpPr>
        <p:spPr>
          <a:xfrm>
            <a:off x="841248" y="3931920"/>
            <a:ext cx="4764024" cy="0"/>
          </a:xfrm>
          <a:prstGeom prst="line">
            <a:avLst/>
          </a:prstGeom>
          <a:noFill/>
          <a:ln w="12700">
            <a:solidFill>
              <a:srgbClr val="333333"/>
            </a:solidFill>
            <a:prstDash val="solid"/>
          </a:ln>
        </p:spPr>
      </p:sp>
      <p:sp>
        <p:nvSpPr>
          <p:cNvPr id="16" name="Text 13"/>
          <p:cNvSpPr/>
          <p:nvPr/>
        </p:nvSpPr>
        <p:spPr>
          <a:xfrm>
            <a:off x="841248" y="3986784"/>
            <a:ext cx="201168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Topic</a:t>
            </a:r>
            <a:endParaRPr lang="en-US" sz="1100" dirty="0"/>
          </a:p>
        </p:txBody>
      </p:sp>
      <p:sp>
        <p:nvSpPr>
          <p:cNvPr id="17" name="Text 14"/>
          <p:cNvSpPr/>
          <p:nvPr/>
        </p:nvSpPr>
        <p:spPr>
          <a:xfrm>
            <a:off x="2834640" y="3986784"/>
            <a:ext cx="2770632" cy="310896"/>
          </a:xfrm>
          <a:prstGeom prst="rect">
            <a:avLst/>
          </a:prstGeom>
          <a:noFill/>
          <a:ln/>
        </p:spPr>
        <p:txBody>
          <a:bodyPr wrap="square" rtlCol="0" anchor="ctr"/>
          <a:lstStyle/>
          <a:p>
            <a:pPr algn="r" indent="0" marL="0">
              <a:buNone/>
            </a:pPr>
            <a:r>
              <a:rPr lang="en-US" sz="1150" b="1" dirty="0">
                <a:solidFill>
                  <a:srgbClr val="D7263D"/>
                </a:solidFill>
                <a:latin typeface="Courier New" pitchFamily="34" charset="0"/>
                <a:ea typeface="Courier New" pitchFamily="34" charset="-122"/>
                <a:cs typeface="Courier New" pitchFamily="34" charset="-120"/>
              </a:rPr>
              <a:t>taxi-trips</a:t>
            </a:r>
            <a:endParaRPr lang="en-US" sz="1150" dirty="0"/>
          </a:p>
        </p:txBody>
      </p:sp>
      <p:sp>
        <p:nvSpPr>
          <p:cNvPr id="18" name="Shape 15"/>
          <p:cNvSpPr/>
          <p:nvPr/>
        </p:nvSpPr>
        <p:spPr>
          <a:xfrm>
            <a:off x="841248" y="4352544"/>
            <a:ext cx="4764024" cy="0"/>
          </a:xfrm>
          <a:prstGeom prst="line">
            <a:avLst/>
          </a:prstGeom>
          <a:noFill/>
          <a:ln w="12700">
            <a:solidFill>
              <a:srgbClr val="333333"/>
            </a:solidFill>
            <a:prstDash val="solid"/>
          </a:ln>
        </p:spPr>
      </p:sp>
      <p:sp>
        <p:nvSpPr>
          <p:cNvPr id="19" name="Text 16"/>
          <p:cNvSpPr/>
          <p:nvPr/>
        </p:nvSpPr>
        <p:spPr>
          <a:xfrm>
            <a:off x="841248" y="4407408"/>
            <a:ext cx="201168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Message format</a:t>
            </a:r>
            <a:endParaRPr lang="en-US" sz="1100" dirty="0"/>
          </a:p>
        </p:txBody>
      </p:sp>
      <p:sp>
        <p:nvSpPr>
          <p:cNvPr id="20" name="Text 17"/>
          <p:cNvSpPr/>
          <p:nvPr/>
        </p:nvSpPr>
        <p:spPr>
          <a:xfrm>
            <a:off x="2834640" y="4407408"/>
            <a:ext cx="2770632" cy="310896"/>
          </a:xfrm>
          <a:prstGeom prst="rect">
            <a:avLst/>
          </a:prstGeom>
          <a:noFill/>
          <a:ln/>
        </p:spPr>
        <p:txBody>
          <a:bodyPr wrap="square" rtlCol="0" anchor="ctr"/>
          <a:lstStyle/>
          <a:p>
            <a:pPr algn="r" indent="0" marL="0">
              <a:buNone/>
            </a:pPr>
            <a:r>
              <a:rPr lang="en-US" sz="1150" b="1" dirty="0">
                <a:solidFill>
                  <a:srgbClr val="D7263D"/>
                </a:solidFill>
                <a:latin typeface="Courier New" pitchFamily="34" charset="0"/>
                <a:ea typeface="Courier New" pitchFamily="34" charset="-122"/>
                <a:cs typeface="Courier New" pitchFamily="34" charset="-120"/>
              </a:rPr>
              <a:t>JSON, one trip per record</a:t>
            </a:r>
            <a:endParaRPr lang="en-US" sz="1150" dirty="0"/>
          </a:p>
        </p:txBody>
      </p:sp>
      <p:sp>
        <p:nvSpPr>
          <p:cNvPr id="21" name="Shape 18"/>
          <p:cNvSpPr/>
          <p:nvPr/>
        </p:nvSpPr>
        <p:spPr>
          <a:xfrm>
            <a:off x="841248" y="4773168"/>
            <a:ext cx="4764024" cy="0"/>
          </a:xfrm>
          <a:prstGeom prst="line">
            <a:avLst/>
          </a:prstGeom>
          <a:noFill/>
          <a:ln w="12700">
            <a:solidFill>
              <a:srgbClr val="333333"/>
            </a:solidFill>
            <a:prstDash val="solid"/>
          </a:ln>
        </p:spPr>
      </p:sp>
      <p:sp>
        <p:nvSpPr>
          <p:cNvPr id="22" name="Text 19"/>
          <p:cNvSpPr/>
          <p:nvPr/>
        </p:nvSpPr>
        <p:spPr>
          <a:xfrm>
            <a:off x="841248" y="4828032"/>
            <a:ext cx="201168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Bootstrap server</a:t>
            </a:r>
            <a:endParaRPr lang="en-US" sz="1100" dirty="0"/>
          </a:p>
        </p:txBody>
      </p:sp>
      <p:sp>
        <p:nvSpPr>
          <p:cNvPr id="23" name="Text 20"/>
          <p:cNvSpPr/>
          <p:nvPr/>
        </p:nvSpPr>
        <p:spPr>
          <a:xfrm>
            <a:off x="2834640" y="4828032"/>
            <a:ext cx="2770632" cy="310896"/>
          </a:xfrm>
          <a:prstGeom prst="rect">
            <a:avLst/>
          </a:prstGeom>
          <a:noFill/>
          <a:ln/>
        </p:spPr>
        <p:txBody>
          <a:bodyPr wrap="square" rtlCol="0" anchor="ctr"/>
          <a:lstStyle/>
          <a:p>
            <a:pPr algn="r" indent="0" marL="0">
              <a:buNone/>
            </a:pPr>
            <a:r>
              <a:rPr lang="en-US" sz="1150" b="1" dirty="0">
                <a:solidFill>
                  <a:srgbClr val="D7263D"/>
                </a:solidFill>
                <a:latin typeface="Courier New" pitchFamily="34" charset="0"/>
                <a:ea typeface="Courier New" pitchFamily="34" charset="-122"/>
                <a:cs typeface="Courier New" pitchFamily="34" charset="-120"/>
              </a:rPr>
              <a:t>localhost:9092</a:t>
            </a:r>
            <a:endParaRPr lang="en-US" sz="1150" dirty="0"/>
          </a:p>
        </p:txBody>
      </p:sp>
      <p:sp>
        <p:nvSpPr>
          <p:cNvPr id="24" name="Text 21"/>
          <p:cNvSpPr/>
          <p:nvPr/>
        </p:nvSpPr>
        <p:spPr>
          <a:xfrm>
            <a:off x="6172200" y="1600200"/>
            <a:ext cx="5468112"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TRAFFIC MODES</a:t>
            </a:r>
            <a:endParaRPr lang="en-US" sz="1100" dirty="0"/>
          </a:p>
        </p:txBody>
      </p:sp>
      <p:sp>
        <p:nvSpPr>
          <p:cNvPr id="25" name="Text 22"/>
          <p:cNvSpPr/>
          <p:nvPr/>
        </p:nvSpPr>
        <p:spPr>
          <a:xfrm>
            <a:off x="6172200" y="1892808"/>
            <a:ext cx="5468112" cy="365760"/>
          </a:xfrm>
          <a:prstGeom prst="rect">
            <a:avLst/>
          </a:prstGeom>
          <a:noFill/>
          <a:ln/>
        </p:spPr>
        <p:txBody>
          <a:bodyPr wrap="square" rtlCol="0" anchor="ctr"/>
          <a:lstStyle/>
          <a:p>
            <a:pPr indent="0" marL="0">
              <a:buNone/>
            </a:pPr>
            <a:r>
              <a:rPr lang="en-US" sz="1200" dirty="0">
                <a:solidFill>
                  <a:srgbClr val="C9C9C9"/>
                </a:solidFill>
                <a:latin typeface="Calibri" pitchFamily="34" charset="0"/>
                <a:ea typeface="Calibri" pitchFamily="34" charset="-122"/>
                <a:cs typeface="Calibri" pitchFamily="34" charset="-120"/>
              </a:rPr>
              <a:t>The producer can simulate different demand levels</a:t>
            </a:r>
            <a:endParaRPr lang="en-US" sz="1200" dirty="0"/>
          </a:p>
        </p:txBody>
      </p:sp>
      <p:sp>
        <p:nvSpPr>
          <p:cNvPr id="26" name="Shape 23"/>
          <p:cNvSpPr/>
          <p:nvPr/>
        </p:nvSpPr>
        <p:spPr>
          <a:xfrm>
            <a:off x="6172200" y="2468880"/>
            <a:ext cx="5468112" cy="1051560"/>
          </a:xfrm>
          <a:prstGeom prst="roundRect">
            <a:avLst>
              <a:gd name="adj" fmla="val 6957"/>
            </a:avLst>
          </a:prstGeom>
          <a:solidFill>
            <a:srgbClr val="232323"/>
          </a:solidFill>
          <a:ln w="12700">
            <a:solidFill>
              <a:srgbClr val="2E2E2E"/>
            </a:solidFill>
            <a:prstDash val="solid"/>
          </a:ln>
        </p:spPr>
      </p:sp>
      <p:sp>
        <p:nvSpPr>
          <p:cNvPr id="27" name="Text 24"/>
          <p:cNvSpPr/>
          <p:nvPr/>
        </p:nvSpPr>
        <p:spPr>
          <a:xfrm>
            <a:off x="6400800" y="2606040"/>
            <a:ext cx="5010912"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Peak</a:t>
            </a:r>
            <a:endParaRPr lang="en-US" sz="1450" dirty="0"/>
          </a:p>
        </p:txBody>
      </p:sp>
      <p:sp>
        <p:nvSpPr>
          <p:cNvPr id="28" name="Text 25"/>
          <p:cNvSpPr/>
          <p:nvPr/>
        </p:nvSpPr>
        <p:spPr>
          <a:xfrm>
            <a:off x="6400800" y="2944368"/>
            <a:ext cx="5010912" cy="274320"/>
          </a:xfrm>
          <a:prstGeom prst="rect">
            <a:avLst/>
          </a:prstGeom>
          <a:noFill/>
          <a:ln/>
        </p:spPr>
        <p:txBody>
          <a:bodyPr wrap="square" rtlCol="0" anchor="ctr"/>
          <a:lstStyle/>
          <a:p>
            <a:pPr indent="0" marL="0">
              <a:buNone/>
            </a:pPr>
            <a:r>
              <a:rPr lang="en-US" sz="1100" dirty="0">
                <a:solidFill>
                  <a:srgbClr val="D7263D"/>
                </a:solidFill>
                <a:latin typeface="Courier New" pitchFamily="34" charset="0"/>
                <a:ea typeface="Courier New" pitchFamily="34" charset="-122"/>
                <a:cs typeface="Courier New" pitchFamily="34" charset="-120"/>
              </a:rPr>
              <a:t>~0.05s delay ± 40%</a:t>
            </a:r>
            <a:endParaRPr lang="en-US" sz="1100" dirty="0"/>
          </a:p>
        </p:txBody>
      </p:sp>
      <p:sp>
        <p:nvSpPr>
          <p:cNvPr id="29" name="Text 26"/>
          <p:cNvSpPr/>
          <p:nvPr/>
        </p:nvSpPr>
        <p:spPr>
          <a:xfrm>
            <a:off x="6400800" y="3218688"/>
            <a:ext cx="5010912" cy="256032"/>
          </a:xfrm>
          <a:prstGeom prst="rect">
            <a:avLst/>
          </a:prstGeom>
          <a:noFill/>
          <a:ln/>
        </p:spPr>
        <p:txBody>
          <a:bodyPr wrap="square" rtlCol="0" anchor="ctr"/>
          <a:lstStyle/>
          <a:p>
            <a:pPr indent="0" marL="0">
              <a:buNone/>
            </a:pPr>
            <a:r>
              <a:rPr lang="en-US" sz="1000" dirty="0">
                <a:solidFill>
                  <a:srgbClr val="9A9A9A"/>
                </a:solidFill>
                <a:latin typeface="Calibri" pitchFamily="34" charset="0"/>
                <a:ea typeface="Calibri" pitchFamily="34" charset="-122"/>
                <a:cs typeface="Calibri" pitchFamily="34" charset="-120"/>
              </a:rPr>
              <a:t>Rush-hour message rate</a:t>
            </a:r>
            <a:endParaRPr lang="en-US" sz="1000" dirty="0"/>
          </a:p>
        </p:txBody>
      </p:sp>
      <p:sp>
        <p:nvSpPr>
          <p:cNvPr id="30" name="Shape 27"/>
          <p:cNvSpPr/>
          <p:nvPr/>
        </p:nvSpPr>
        <p:spPr>
          <a:xfrm>
            <a:off x="6172200" y="3675888"/>
            <a:ext cx="5468112" cy="1051560"/>
          </a:xfrm>
          <a:prstGeom prst="roundRect">
            <a:avLst>
              <a:gd name="adj" fmla="val 6957"/>
            </a:avLst>
          </a:prstGeom>
          <a:solidFill>
            <a:srgbClr val="232323"/>
          </a:solidFill>
          <a:ln w="12700">
            <a:solidFill>
              <a:srgbClr val="2E2E2E"/>
            </a:solidFill>
            <a:prstDash val="solid"/>
          </a:ln>
        </p:spPr>
      </p:sp>
      <p:sp>
        <p:nvSpPr>
          <p:cNvPr id="31" name="Text 28"/>
          <p:cNvSpPr/>
          <p:nvPr/>
        </p:nvSpPr>
        <p:spPr>
          <a:xfrm>
            <a:off x="6400800" y="3813048"/>
            <a:ext cx="5010912"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Normal</a:t>
            </a:r>
            <a:endParaRPr lang="en-US" sz="1450" dirty="0"/>
          </a:p>
        </p:txBody>
      </p:sp>
      <p:sp>
        <p:nvSpPr>
          <p:cNvPr id="32" name="Text 29"/>
          <p:cNvSpPr/>
          <p:nvPr/>
        </p:nvSpPr>
        <p:spPr>
          <a:xfrm>
            <a:off x="6400800" y="4151376"/>
            <a:ext cx="5010912" cy="274320"/>
          </a:xfrm>
          <a:prstGeom prst="rect">
            <a:avLst/>
          </a:prstGeom>
          <a:noFill/>
          <a:ln/>
        </p:spPr>
        <p:txBody>
          <a:bodyPr wrap="square" rtlCol="0" anchor="ctr"/>
          <a:lstStyle/>
          <a:p>
            <a:pPr indent="0" marL="0">
              <a:buNone/>
            </a:pPr>
            <a:r>
              <a:rPr lang="en-US" sz="1100" dirty="0">
                <a:solidFill>
                  <a:srgbClr val="D7263D"/>
                </a:solidFill>
                <a:latin typeface="Courier New" pitchFamily="34" charset="0"/>
                <a:ea typeface="Courier New" pitchFamily="34" charset="-122"/>
                <a:cs typeface="Courier New" pitchFamily="34" charset="-120"/>
              </a:rPr>
              <a:t>~0.5s delay ± 30%</a:t>
            </a:r>
            <a:endParaRPr lang="en-US" sz="1100" dirty="0"/>
          </a:p>
        </p:txBody>
      </p:sp>
      <p:sp>
        <p:nvSpPr>
          <p:cNvPr id="33" name="Text 30"/>
          <p:cNvSpPr/>
          <p:nvPr/>
        </p:nvSpPr>
        <p:spPr>
          <a:xfrm>
            <a:off x="6400800" y="4425696"/>
            <a:ext cx="5010912" cy="256032"/>
          </a:xfrm>
          <a:prstGeom prst="rect">
            <a:avLst/>
          </a:prstGeom>
          <a:noFill/>
          <a:ln/>
        </p:spPr>
        <p:txBody>
          <a:bodyPr wrap="square" rtlCol="0" anchor="ctr"/>
          <a:lstStyle/>
          <a:p>
            <a:pPr indent="0" marL="0">
              <a:buNone/>
            </a:pPr>
            <a:r>
              <a:rPr lang="en-US" sz="1000" dirty="0">
                <a:solidFill>
                  <a:srgbClr val="9A9A9A"/>
                </a:solidFill>
                <a:latin typeface="Calibri" pitchFamily="34" charset="0"/>
                <a:ea typeface="Calibri" pitchFamily="34" charset="-122"/>
                <a:cs typeface="Calibri" pitchFamily="34" charset="-120"/>
              </a:rPr>
              <a:t>Typical daytime traffic</a:t>
            </a:r>
            <a:endParaRPr lang="en-US" sz="1000" dirty="0"/>
          </a:p>
        </p:txBody>
      </p:sp>
      <p:sp>
        <p:nvSpPr>
          <p:cNvPr id="34" name="Shape 31"/>
          <p:cNvSpPr/>
          <p:nvPr/>
        </p:nvSpPr>
        <p:spPr>
          <a:xfrm>
            <a:off x="6172200" y="4882896"/>
            <a:ext cx="5468112" cy="1051560"/>
          </a:xfrm>
          <a:prstGeom prst="roundRect">
            <a:avLst>
              <a:gd name="adj" fmla="val 6957"/>
            </a:avLst>
          </a:prstGeom>
          <a:solidFill>
            <a:srgbClr val="232323"/>
          </a:solidFill>
          <a:ln w="12700">
            <a:solidFill>
              <a:srgbClr val="2E2E2E"/>
            </a:solidFill>
            <a:prstDash val="solid"/>
          </a:ln>
        </p:spPr>
      </p:sp>
      <p:sp>
        <p:nvSpPr>
          <p:cNvPr id="35" name="Text 32"/>
          <p:cNvSpPr/>
          <p:nvPr/>
        </p:nvSpPr>
        <p:spPr>
          <a:xfrm>
            <a:off x="6400800" y="5020056"/>
            <a:ext cx="5010912"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Off-peak</a:t>
            </a:r>
            <a:endParaRPr lang="en-US" sz="1450" dirty="0"/>
          </a:p>
        </p:txBody>
      </p:sp>
      <p:sp>
        <p:nvSpPr>
          <p:cNvPr id="36" name="Text 33"/>
          <p:cNvSpPr/>
          <p:nvPr/>
        </p:nvSpPr>
        <p:spPr>
          <a:xfrm>
            <a:off x="6400800" y="5358384"/>
            <a:ext cx="5010912" cy="274320"/>
          </a:xfrm>
          <a:prstGeom prst="rect">
            <a:avLst/>
          </a:prstGeom>
          <a:noFill/>
          <a:ln/>
        </p:spPr>
        <p:txBody>
          <a:bodyPr wrap="square" rtlCol="0" anchor="ctr"/>
          <a:lstStyle/>
          <a:p>
            <a:pPr indent="0" marL="0">
              <a:buNone/>
            </a:pPr>
            <a:r>
              <a:rPr lang="en-US" sz="1100" dirty="0">
                <a:solidFill>
                  <a:srgbClr val="D7263D"/>
                </a:solidFill>
                <a:latin typeface="Courier New" pitchFamily="34" charset="0"/>
                <a:ea typeface="Courier New" pitchFamily="34" charset="-122"/>
                <a:cs typeface="Courier New" pitchFamily="34" charset="-120"/>
              </a:rPr>
              <a:t>~2.0s delay ± 25%</a:t>
            </a:r>
            <a:endParaRPr lang="en-US" sz="1100" dirty="0"/>
          </a:p>
        </p:txBody>
      </p:sp>
      <p:sp>
        <p:nvSpPr>
          <p:cNvPr id="37" name="Text 34"/>
          <p:cNvSpPr/>
          <p:nvPr/>
        </p:nvSpPr>
        <p:spPr>
          <a:xfrm>
            <a:off x="6400800" y="5632704"/>
            <a:ext cx="5010912" cy="256032"/>
          </a:xfrm>
          <a:prstGeom prst="rect">
            <a:avLst/>
          </a:prstGeom>
          <a:noFill/>
          <a:ln/>
        </p:spPr>
        <p:txBody>
          <a:bodyPr wrap="square" rtlCol="0" anchor="ctr"/>
          <a:lstStyle/>
          <a:p>
            <a:pPr indent="0" marL="0">
              <a:buNone/>
            </a:pPr>
            <a:r>
              <a:rPr lang="en-US" sz="1000" dirty="0">
                <a:solidFill>
                  <a:srgbClr val="9A9A9A"/>
                </a:solidFill>
                <a:latin typeface="Calibri" pitchFamily="34" charset="0"/>
                <a:ea typeface="Calibri" pitchFamily="34" charset="-122"/>
                <a:cs typeface="Calibri" pitchFamily="34" charset="-120"/>
              </a:rPr>
              <a:t>Overnight, low-demand hours</a:t>
            </a:r>
            <a:endParaRPr lang="en-US" sz="1000" dirty="0"/>
          </a:p>
        </p:txBody>
      </p:sp>
      <p:sp>
        <p:nvSpPr>
          <p:cNvPr id="38" name="Text 3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STEP 3 OF 6  —  STREAM PROCESSING</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indent="0" marL="0">
              <a:buNone/>
            </a:pPr>
            <a:r>
              <a:rPr lang="en-US" sz="3000" b="1" dirty="0">
                <a:solidFill>
                  <a:srgbClr val="141414"/>
                </a:solidFill>
                <a:latin typeface="Bookman Old Style" pitchFamily="34" charset="0"/>
                <a:ea typeface="Bookman Old Style" pitchFamily="34" charset="-122"/>
                <a:cs typeface="Bookman Old Style" pitchFamily="34" charset="-120"/>
              </a:rPr>
              <a:t>Spark — cleaning and validating in flight</a:t>
            </a:r>
            <a:endParaRPr lang="en-US" sz="3000" dirty="0"/>
          </a:p>
        </p:txBody>
      </p:sp>
      <p:sp>
        <p:nvSpPr>
          <p:cNvPr id="4" name="Shape 2"/>
          <p:cNvSpPr/>
          <p:nvPr/>
        </p:nvSpPr>
        <p:spPr>
          <a:xfrm>
            <a:off x="9226296" y="530352"/>
            <a:ext cx="310896" cy="82296"/>
          </a:xfrm>
          <a:prstGeom prst="roundRect">
            <a:avLst>
              <a:gd name="adj" fmla="val 50000"/>
            </a:avLst>
          </a:prstGeom>
          <a:solidFill>
            <a:srgbClr val="E2E2E2"/>
          </a:solidFill>
          <a:ln/>
        </p:spPr>
      </p:sp>
      <p:sp>
        <p:nvSpPr>
          <p:cNvPr id="5" name="Shape 3"/>
          <p:cNvSpPr/>
          <p:nvPr/>
        </p:nvSpPr>
        <p:spPr>
          <a:xfrm>
            <a:off x="9646920" y="530352"/>
            <a:ext cx="310896" cy="82296"/>
          </a:xfrm>
          <a:prstGeom prst="roundRect">
            <a:avLst>
              <a:gd name="adj" fmla="val 50000"/>
            </a:avLst>
          </a:prstGeom>
          <a:solidFill>
            <a:srgbClr val="E2E2E2"/>
          </a:solidFill>
          <a:ln/>
        </p:spPr>
      </p:sp>
      <p:sp>
        <p:nvSpPr>
          <p:cNvPr id="6" name="Shape 4"/>
          <p:cNvSpPr/>
          <p:nvPr/>
        </p:nvSpPr>
        <p:spPr>
          <a:xfrm>
            <a:off x="10067544" y="530352"/>
            <a:ext cx="310896" cy="82296"/>
          </a:xfrm>
          <a:prstGeom prst="roundRect">
            <a:avLst>
              <a:gd name="adj" fmla="val 50000"/>
            </a:avLst>
          </a:prstGeom>
          <a:solidFill>
            <a:srgbClr val="D7263D"/>
          </a:solidFill>
          <a:ln/>
        </p:spPr>
      </p:sp>
      <p:sp>
        <p:nvSpPr>
          <p:cNvPr id="7" name="Shape 5"/>
          <p:cNvSpPr/>
          <p:nvPr/>
        </p:nvSpPr>
        <p:spPr>
          <a:xfrm>
            <a:off x="10488168" y="530352"/>
            <a:ext cx="310896" cy="82296"/>
          </a:xfrm>
          <a:prstGeom prst="roundRect">
            <a:avLst>
              <a:gd name="adj" fmla="val 50000"/>
            </a:avLst>
          </a:prstGeom>
          <a:solidFill>
            <a:srgbClr val="E2E2E2"/>
          </a:solidFill>
          <a:ln/>
        </p:spPr>
      </p:sp>
      <p:sp>
        <p:nvSpPr>
          <p:cNvPr id="8" name="Shape 6"/>
          <p:cNvSpPr/>
          <p:nvPr/>
        </p:nvSpPr>
        <p:spPr>
          <a:xfrm>
            <a:off x="10908792" y="530352"/>
            <a:ext cx="310896" cy="82296"/>
          </a:xfrm>
          <a:prstGeom prst="roundRect">
            <a:avLst>
              <a:gd name="adj" fmla="val 50000"/>
            </a:avLst>
          </a:prstGeom>
          <a:solidFill>
            <a:srgbClr val="E2E2E2"/>
          </a:solidFill>
          <a:ln/>
        </p:spPr>
      </p:sp>
      <p:sp>
        <p:nvSpPr>
          <p:cNvPr id="9" name="Shape 7"/>
          <p:cNvSpPr/>
          <p:nvPr/>
        </p:nvSpPr>
        <p:spPr>
          <a:xfrm>
            <a:off x="11329416" y="530352"/>
            <a:ext cx="310896" cy="82296"/>
          </a:xfrm>
          <a:prstGeom prst="roundRect">
            <a:avLst>
              <a:gd name="adj" fmla="val 50000"/>
            </a:avLst>
          </a:prstGeom>
          <a:solidFill>
            <a:srgbClr val="E2E2E2"/>
          </a:solidFill>
          <a:ln/>
        </p:spPr>
      </p:sp>
      <p:sp>
        <p:nvSpPr>
          <p:cNvPr id="10" name="Text 8"/>
          <p:cNvSpPr/>
          <p:nvPr/>
        </p:nvSpPr>
        <p:spPr>
          <a:xfrm>
            <a:off x="548640" y="1417320"/>
            <a:ext cx="10881360" cy="685800"/>
          </a:xfrm>
          <a:prstGeom prst="rect">
            <a:avLst/>
          </a:prstGeom>
          <a:noFill/>
          <a:ln/>
        </p:spPr>
        <p:txBody>
          <a:bodyPr wrap="square" rtlCol="0" anchor="ctr"/>
          <a:lstStyle/>
          <a:p>
            <a:pPr indent="0" marL="0">
              <a:lnSpc>
                <a:spcPct val="125000"/>
              </a:lnSpc>
              <a:buNone/>
            </a:pPr>
            <a:r>
              <a:rPr lang="en-US" sz="1250" dirty="0">
                <a:solidFill>
                  <a:srgbClr val="3A3A3A"/>
                </a:solidFill>
                <a:latin typeface="Calibri" pitchFamily="34" charset="0"/>
                <a:ea typeface="Calibri" pitchFamily="34" charset="-122"/>
                <a:cs typeface="Calibri" pitchFamily="34" charset="-120"/>
              </a:rPr>
              <a:t>Spark Structured Streaming subscribes to the Kafka topic, parses each JSON message against a defined schema, casts every field to its proper type, and applies a set of data-quality rules before writing clean micro-batches to ClickHouse via JDBC.</a:t>
            </a:r>
            <a:endParaRPr lang="en-US" sz="1250" dirty="0"/>
          </a:p>
        </p:txBody>
      </p:sp>
      <p:sp>
        <p:nvSpPr>
          <p:cNvPr id="11" name="Text 9"/>
          <p:cNvSpPr/>
          <p:nvPr/>
        </p:nvSpPr>
        <p:spPr>
          <a:xfrm>
            <a:off x="548640" y="2286000"/>
            <a:ext cx="5257800"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TRANSFORMATIONS</a:t>
            </a:r>
            <a:endParaRPr lang="en-US" sz="1100" dirty="0"/>
          </a:p>
        </p:txBody>
      </p:sp>
      <p:sp>
        <p:nvSpPr>
          <p:cNvPr id="12" name="Shape 10"/>
          <p:cNvSpPr/>
          <p:nvPr/>
        </p:nvSpPr>
        <p:spPr>
          <a:xfrm>
            <a:off x="548640" y="2670048"/>
            <a:ext cx="384048" cy="384048"/>
          </a:xfrm>
          <a:prstGeom prst="ellipse">
            <a:avLst/>
          </a:prstGeom>
          <a:solidFill>
            <a:srgbClr val="141414"/>
          </a:solidFill>
          <a:ln/>
        </p:spPr>
      </p:sp>
      <p:sp>
        <p:nvSpPr>
          <p:cNvPr id="13" name="Text 11"/>
          <p:cNvSpPr/>
          <p:nvPr/>
        </p:nvSpPr>
        <p:spPr>
          <a:xfrm>
            <a:off x="548640" y="267004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1078992" y="262432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Parse</a:t>
            </a:r>
            <a:endParaRPr lang="en-US" sz="1300" dirty="0"/>
          </a:p>
        </p:txBody>
      </p:sp>
      <p:sp>
        <p:nvSpPr>
          <p:cNvPr id="15" name="Text 13"/>
          <p:cNvSpPr/>
          <p:nvPr/>
        </p:nvSpPr>
        <p:spPr>
          <a:xfrm>
            <a:off x="1078992" y="288950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Read raw Kafka JSON against a fixed 10-field schema.</a:t>
            </a:r>
            <a:endParaRPr lang="en-US" sz="1030" dirty="0"/>
          </a:p>
        </p:txBody>
      </p:sp>
      <p:sp>
        <p:nvSpPr>
          <p:cNvPr id="16" name="Shape 14"/>
          <p:cNvSpPr/>
          <p:nvPr/>
        </p:nvSpPr>
        <p:spPr>
          <a:xfrm>
            <a:off x="548640" y="3447288"/>
            <a:ext cx="384048" cy="384048"/>
          </a:xfrm>
          <a:prstGeom prst="ellipse">
            <a:avLst/>
          </a:prstGeom>
          <a:solidFill>
            <a:srgbClr val="141414"/>
          </a:solidFill>
          <a:ln/>
        </p:spPr>
      </p:sp>
      <p:sp>
        <p:nvSpPr>
          <p:cNvPr id="17" name="Text 15"/>
          <p:cNvSpPr/>
          <p:nvPr/>
        </p:nvSpPr>
        <p:spPr>
          <a:xfrm>
            <a:off x="548640" y="344728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1078992" y="340156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Cast</a:t>
            </a:r>
            <a:endParaRPr lang="en-US" sz="1300" dirty="0"/>
          </a:p>
        </p:txBody>
      </p:sp>
      <p:sp>
        <p:nvSpPr>
          <p:cNvPr id="19" name="Text 17"/>
          <p:cNvSpPr/>
          <p:nvPr/>
        </p:nvSpPr>
        <p:spPr>
          <a:xfrm>
            <a:off x="1078992" y="366674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Convert timestamps, ints and floats to their target types.</a:t>
            </a:r>
            <a:endParaRPr lang="en-US" sz="1030" dirty="0"/>
          </a:p>
        </p:txBody>
      </p:sp>
      <p:sp>
        <p:nvSpPr>
          <p:cNvPr id="20" name="Shape 18"/>
          <p:cNvSpPr/>
          <p:nvPr/>
        </p:nvSpPr>
        <p:spPr>
          <a:xfrm>
            <a:off x="548640" y="4224528"/>
            <a:ext cx="384048" cy="384048"/>
          </a:xfrm>
          <a:prstGeom prst="ellipse">
            <a:avLst/>
          </a:prstGeom>
          <a:solidFill>
            <a:srgbClr val="141414"/>
          </a:solidFill>
          <a:ln/>
        </p:spPr>
      </p:sp>
      <p:sp>
        <p:nvSpPr>
          <p:cNvPr id="21" name="Text 19"/>
          <p:cNvSpPr/>
          <p:nvPr/>
        </p:nvSpPr>
        <p:spPr>
          <a:xfrm>
            <a:off x="548640" y="422452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078992" y="417880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De-duplicate</a:t>
            </a:r>
            <a:endParaRPr lang="en-US" sz="1300" dirty="0"/>
          </a:p>
        </p:txBody>
      </p:sp>
      <p:sp>
        <p:nvSpPr>
          <p:cNvPr id="23" name="Text 21"/>
          <p:cNvSpPr/>
          <p:nvPr/>
        </p:nvSpPr>
        <p:spPr>
          <a:xfrm>
            <a:off x="1078992" y="444398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Drop exact duplicate trip records.</a:t>
            </a:r>
            <a:endParaRPr lang="en-US" sz="1030" dirty="0"/>
          </a:p>
        </p:txBody>
      </p:sp>
      <p:sp>
        <p:nvSpPr>
          <p:cNvPr id="24" name="Shape 22"/>
          <p:cNvSpPr/>
          <p:nvPr/>
        </p:nvSpPr>
        <p:spPr>
          <a:xfrm>
            <a:off x="548640" y="5001768"/>
            <a:ext cx="384048" cy="384048"/>
          </a:xfrm>
          <a:prstGeom prst="ellipse">
            <a:avLst/>
          </a:prstGeom>
          <a:solidFill>
            <a:srgbClr val="141414"/>
          </a:solidFill>
          <a:ln/>
        </p:spPr>
      </p:sp>
      <p:sp>
        <p:nvSpPr>
          <p:cNvPr id="25" name="Text 23"/>
          <p:cNvSpPr/>
          <p:nvPr/>
        </p:nvSpPr>
        <p:spPr>
          <a:xfrm>
            <a:off x="548640" y="500176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1078992" y="495604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Clean nulls</a:t>
            </a:r>
            <a:endParaRPr lang="en-US" sz="1300" dirty="0"/>
          </a:p>
        </p:txBody>
      </p:sp>
      <p:sp>
        <p:nvSpPr>
          <p:cNvPr id="27" name="Text 25"/>
          <p:cNvSpPr/>
          <p:nvPr/>
        </p:nvSpPr>
        <p:spPr>
          <a:xfrm>
            <a:off x="1078992" y="522122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Drop rows missing pickup/dropoff time; fill missing passenger count.</a:t>
            </a:r>
            <a:endParaRPr lang="en-US" sz="1030" dirty="0"/>
          </a:p>
        </p:txBody>
      </p:sp>
      <p:sp>
        <p:nvSpPr>
          <p:cNvPr id="28" name="Shape 26"/>
          <p:cNvSpPr/>
          <p:nvPr/>
        </p:nvSpPr>
        <p:spPr>
          <a:xfrm>
            <a:off x="6172200" y="2286000"/>
            <a:ext cx="5468112" cy="3566160"/>
          </a:xfrm>
          <a:prstGeom prst="roundRect">
            <a:avLst>
              <a:gd name="adj" fmla="val 2308"/>
            </a:avLst>
          </a:prstGeom>
          <a:solidFill>
            <a:srgbClr val="141414"/>
          </a:solidFill>
          <a:ln/>
        </p:spPr>
      </p:sp>
      <p:sp>
        <p:nvSpPr>
          <p:cNvPr id="29" name="Text 27"/>
          <p:cNvSpPr/>
          <p:nvPr/>
        </p:nvSpPr>
        <p:spPr>
          <a:xfrm>
            <a:off x="6446520" y="2514600"/>
            <a:ext cx="4919472"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VALIDATION FILTER</a:t>
            </a:r>
            <a:endParaRPr lang="en-US" sz="1100" dirty="0"/>
          </a:p>
        </p:txBody>
      </p:sp>
      <p:sp>
        <p:nvSpPr>
          <p:cNvPr id="30" name="Text 28"/>
          <p:cNvSpPr/>
          <p:nvPr/>
        </p:nvSpPr>
        <p:spPr>
          <a:xfrm>
            <a:off x="6446520" y="2798064"/>
            <a:ext cx="4919472"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Only trips passing every rule reach ClickHouse</a:t>
            </a:r>
            <a:endParaRPr lang="en-US" sz="1300" dirty="0"/>
          </a:p>
        </p:txBody>
      </p:sp>
      <p:sp>
        <p:nvSpPr>
          <p:cNvPr id="31" name="Shape 29"/>
          <p:cNvSpPr/>
          <p:nvPr/>
        </p:nvSpPr>
        <p:spPr>
          <a:xfrm>
            <a:off x="6446520" y="3392424"/>
            <a:ext cx="82296" cy="82296"/>
          </a:xfrm>
          <a:prstGeom prst="ellipse">
            <a:avLst/>
          </a:prstGeom>
          <a:solidFill>
            <a:srgbClr val="D7263D"/>
          </a:solidFill>
          <a:ln/>
        </p:spPr>
      </p:sp>
      <p:sp>
        <p:nvSpPr>
          <p:cNvPr id="32" name="Text 30"/>
          <p:cNvSpPr/>
          <p:nvPr/>
        </p:nvSpPr>
        <p:spPr>
          <a:xfrm>
            <a:off x="6675120" y="3264408"/>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fare_amount ≥ 0</a:t>
            </a:r>
            <a:endParaRPr lang="en-US" sz="1100" dirty="0"/>
          </a:p>
        </p:txBody>
      </p:sp>
      <p:sp>
        <p:nvSpPr>
          <p:cNvPr id="33" name="Shape 31"/>
          <p:cNvSpPr/>
          <p:nvPr/>
        </p:nvSpPr>
        <p:spPr>
          <a:xfrm>
            <a:off x="6446520" y="3794760"/>
            <a:ext cx="82296" cy="82296"/>
          </a:xfrm>
          <a:prstGeom prst="ellipse">
            <a:avLst/>
          </a:prstGeom>
          <a:solidFill>
            <a:srgbClr val="D7263D"/>
          </a:solidFill>
          <a:ln/>
        </p:spPr>
      </p:sp>
      <p:sp>
        <p:nvSpPr>
          <p:cNvPr id="34" name="Text 32"/>
          <p:cNvSpPr/>
          <p:nvPr/>
        </p:nvSpPr>
        <p:spPr>
          <a:xfrm>
            <a:off x="6675120" y="3666744"/>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passenger_count ≤ 8</a:t>
            </a:r>
            <a:endParaRPr lang="en-US" sz="1100" dirty="0"/>
          </a:p>
        </p:txBody>
      </p:sp>
      <p:sp>
        <p:nvSpPr>
          <p:cNvPr id="35" name="Shape 33"/>
          <p:cNvSpPr/>
          <p:nvPr/>
        </p:nvSpPr>
        <p:spPr>
          <a:xfrm>
            <a:off x="6446520" y="4197096"/>
            <a:ext cx="82296" cy="82296"/>
          </a:xfrm>
          <a:prstGeom prst="ellipse">
            <a:avLst/>
          </a:prstGeom>
          <a:solidFill>
            <a:srgbClr val="D7263D"/>
          </a:solidFill>
          <a:ln/>
        </p:spPr>
      </p:sp>
      <p:sp>
        <p:nvSpPr>
          <p:cNvPr id="36" name="Text 34"/>
          <p:cNvSpPr/>
          <p:nvPr/>
        </p:nvSpPr>
        <p:spPr>
          <a:xfrm>
            <a:off x="6675120" y="4069080"/>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dropoff_datetime &gt; pickup_datetime</a:t>
            </a:r>
            <a:endParaRPr lang="en-US" sz="1100" dirty="0"/>
          </a:p>
        </p:txBody>
      </p:sp>
      <p:sp>
        <p:nvSpPr>
          <p:cNvPr id="37" name="Shape 35"/>
          <p:cNvSpPr/>
          <p:nvPr/>
        </p:nvSpPr>
        <p:spPr>
          <a:xfrm>
            <a:off x="6446520" y="4599432"/>
            <a:ext cx="82296" cy="82296"/>
          </a:xfrm>
          <a:prstGeom prst="ellipse">
            <a:avLst/>
          </a:prstGeom>
          <a:solidFill>
            <a:srgbClr val="D7263D"/>
          </a:solidFill>
          <a:ln/>
        </p:spPr>
      </p:sp>
      <p:sp>
        <p:nvSpPr>
          <p:cNvPr id="38" name="Text 36"/>
          <p:cNvSpPr/>
          <p:nvPr/>
        </p:nvSpPr>
        <p:spPr>
          <a:xfrm>
            <a:off x="6675120" y="4471416"/>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pickup / dropoff zone IDs between 1 and 265</a:t>
            </a:r>
            <a:endParaRPr lang="en-US" sz="1100" dirty="0"/>
          </a:p>
        </p:txBody>
      </p:sp>
      <p:sp>
        <p:nvSpPr>
          <p:cNvPr id="39" name="Shape 37"/>
          <p:cNvSpPr/>
          <p:nvPr/>
        </p:nvSpPr>
        <p:spPr>
          <a:xfrm>
            <a:off x="6446520" y="5001768"/>
            <a:ext cx="82296" cy="82296"/>
          </a:xfrm>
          <a:prstGeom prst="ellipse">
            <a:avLst/>
          </a:prstGeom>
          <a:solidFill>
            <a:srgbClr val="D7263D"/>
          </a:solidFill>
          <a:ln/>
        </p:spPr>
      </p:sp>
      <p:sp>
        <p:nvSpPr>
          <p:cNvPr id="40" name="Text 38"/>
          <p:cNvSpPr/>
          <p:nvPr/>
        </p:nvSpPr>
        <p:spPr>
          <a:xfrm>
            <a:off x="6675120" y="4873752"/>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payment_type between 0 and 6</a:t>
            </a:r>
            <a:endParaRPr lang="en-US" sz="1100" dirty="0"/>
          </a:p>
        </p:txBody>
      </p:sp>
      <p:sp>
        <p:nvSpPr>
          <p:cNvPr id="41" name="Shape 39"/>
          <p:cNvSpPr/>
          <p:nvPr/>
        </p:nvSpPr>
        <p:spPr>
          <a:xfrm>
            <a:off x="6446520" y="5404104"/>
            <a:ext cx="82296" cy="82296"/>
          </a:xfrm>
          <a:prstGeom prst="ellipse">
            <a:avLst/>
          </a:prstGeom>
          <a:solidFill>
            <a:srgbClr val="D7263D"/>
          </a:solidFill>
          <a:ln/>
        </p:spPr>
      </p:sp>
      <p:sp>
        <p:nvSpPr>
          <p:cNvPr id="42" name="Text 40"/>
          <p:cNvSpPr/>
          <p:nvPr/>
        </p:nvSpPr>
        <p:spPr>
          <a:xfrm>
            <a:off x="6675120" y="5276088"/>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excludes zero-distance trips with fare &gt; $10</a:t>
            </a:r>
            <a:endParaRPr lang="en-US" sz="1100" dirty="0"/>
          </a:p>
        </p:txBody>
      </p:sp>
      <p:sp>
        <p:nvSpPr>
          <p:cNvPr id="43" name="Text 41"/>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180" kern="0" dirty="0">
                <a:solidFill>
                  <a:srgbClr val="D7263D"/>
                </a:solidFill>
                <a:latin typeface="Calibri" pitchFamily="34" charset="0"/>
                <a:ea typeface="Calibri" pitchFamily="34" charset="-122"/>
                <a:cs typeface="Calibri" pitchFamily="34" charset="-120"/>
              </a:rPr>
              <a:t>STEP 4 OF 6  —  ANALYTICAL STORAGE</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ClickHouse — built for instant queries</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sp>
      <p:sp>
        <p:nvSpPr>
          <p:cNvPr id="5" name="Shape 3"/>
          <p:cNvSpPr/>
          <p:nvPr/>
        </p:nvSpPr>
        <p:spPr>
          <a:xfrm>
            <a:off x="9646920" y="530352"/>
            <a:ext cx="310896" cy="82296"/>
          </a:xfrm>
          <a:prstGeom prst="roundRect">
            <a:avLst>
              <a:gd name="adj" fmla="val 50000"/>
            </a:avLst>
          </a:prstGeom>
          <a:solidFill>
            <a:srgbClr val="3A3A3A"/>
          </a:solidFill>
          <a:ln/>
        </p:spPr>
      </p:sp>
      <p:sp>
        <p:nvSpPr>
          <p:cNvPr id="6" name="Shape 4"/>
          <p:cNvSpPr/>
          <p:nvPr/>
        </p:nvSpPr>
        <p:spPr>
          <a:xfrm>
            <a:off x="10067544" y="530352"/>
            <a:ext cx="310896" cy="82296"/>
          </a:xfrm>
          <a:prstGeom prst="roundRect">
            <a:avLst>
              <a:gd name="adj" fmla="val 50000"/>
            </a:avLst>
          </a:prstGeom>
          <a:solidFill>
            <a:srgbClr val="3A3A3A"/>
          </a:solidFill>
          <a:ln/>
        </p:spPr>
      </p:sp>
      <p:sp>
        <p:nvSpPr>
          <p:cNvPr id="7" name="Shape 5"/>
          <p:cNvSpPr/>
          <p:nvPr/>
        </p:nvSpPr>
        <p:spPr>
          <a:xfrm>
            <a:off x="10488168" y="530352"/>
            <a:ext cx="310896" cy="82296"/>
          </a:xfrm>
          <a:prstGeom prst="roundRect">
            <a:avLst>
              <a:gd name="adj" fmla="val 50000"/>
            </a:avLst>
          </a:prstGeom>
          <a:solidFill>
            <a:srgbClr val="D7263D"/>
          </a:solidFill>
          <a:ln/>
        </p:spPr>
      </p:sp>
      <p:sp>
        <p:nvSpPr>
          <p:cNvPr id="8" name="Shape 6"/>
          <p:cNvSpPr/>
          <p:nvPr/>
        </p:nvSpPr>
        <p:spPr>
          <a:xfrm>
            <a:off x="10908792" y="530352"/>
            <a:ext cx="310896" cy="82296"/>
          </a:xfrm>
          <a:prstGeom prst="roundRect">
            <a:avLst>
              <a:gd name="adj" fmla="val 50000"/>
            </a:avLst>
          </a:prstGeom>
          <a:solidFill>
            <a:srgbClr val="3A3A3A"/>
          </a:solidFill>
          <a:ln/>
        </p:spPr>
      </p:sp>
      <p:sp>
        <p:nvSpPr>
          <p:cNvPr id="9" name="Shape 7"/>
          <p:cNvSpPr/>
          <p:nvPr/>
        </p:nvSpPr>
        <p:spPr>
          <a:xfrm>
            <a:off x="11329416" y="530352"/>
            <a:ext cx="310896" cy="82296"/>
          </a:xfrm>
          <a:prstGeom prst="roundRect">
            <a:avLst>
              <a:gd name="adj" fmla="val 50000"/>
            </a:avLst>
          </a:prstGeom>
          <a:solidFill>
            <a:srgbClr val="3A3A3A"/>
          </a:solidFill>
          <a:ln/>
        </p:spPr>
      </p:sp>
      <p:sp>
        <p:nvSpPr>
          <p:cNvPr id="10" name="Shape 8"/>
          <p:cNvSpPr/>
          <p:nvPr/>
        </p:nvSpPr>
        <p:spPr>
          <a:xfrm>
            <a:off x="548640" y="1600200"/>
            <a:ext cx="5349240" cy="4526280"/>
          </a:xfrm>
          <a:prstGeom prst="roundRect">
            <a:avLst>
              <a:gd name="adj" fmla="val 1818"/>
            </a:avLst>
          </a:prstGeom>
          <a:solidFill>
            <a:srgbClr val="1E1E1E"/>
          </a:solidFill>
          <a:ln/>
        </p:spPr>
      </p:sp>
      <p:sp>
        <p:nvSpPr>
          <p:cNvPr id="11" name="Shape 9"/>
          <p:cNvSpPr/>
          <p:nvPr/>
        </p:nvSpPr>
        <p:spPr>
          <a:xfrm>
            <a:off x="822960" y="1856232"/>
            <a:ext cx="548640" cy="548640"/>
          </a:xfrm>
          <a:prstGeom prst="ellipse">
            <a:avLst/>
          </a:prstGeom>
          <a:solidFill>
            <a:srgbClr val="D7263D"/>
          </a:solidFill>
          <a:ln/>
        </p:spPr>
      </p:sp>
      <p:pic>
        <p:nvPicPr>
          <p:cNvPr id="12" name="Image 0" descr="/home/claude/assets/clickhouse.png">    </p:cNvPr>
          <p:cNvPicPr>
            <a:picLocks noChangeAspect="1"/>
          </p:cNvPicPr>
          <p:nvPr/>
        </p:nvPicPr>
        <p:blipFill>
          <a:blip r:embed="rId1"/>
          <a:stretch>
            <a:fillRect/>
          </a:stretch>
        </p:blipFill>
        <p:spPr>
          <a:xfrm>
            <a:off x="941832" y="1975104"/>
            <a:ext cx="310896" cy="310896"/>
          </a:xfrm>
          <a:prstGeom prst="rect">
            <a:avLst/>
          </a:prstGeom>
        </p:spPr>
      </p:pic>
      <p:sp>
        <p:nvSpPr>
          <p:cNvPr id="13" name="Text 10"/>
          <p:cNvSpPr/>
          <p:nvPr/>
        </p:nvSpPr>
        <p:spPr>
          <a:xfrm>
            <a:off x="1554480" y="1874520"/>
            <a:ext cx="416052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ClickHouse</a:t>
            </a:r>
            <a:endParaRPr lang="en-US" sz="1600" dirty="0"/>
          </a:p>
        </p:txBody>
      </p:sp>
      <p:sp>
        <p:nvSpPr>
          <p:cNvPr id="14" name="Text 11"/>
          <p:cNvSpPr/>
          <p:nvPr/>
        </p:nvSpPr>
        <p:spPr>
          <a:xfrm>
            <a:off x="841248" y="2606040"/>
            <a:ext cx="4764024" cy="914400"/>
          </a:xfrm>
          <a:prstGeom prst="rect">
            <a:avLst/>
          </a:prstGeom>
          <a:noFill/>
          <a:ln/>
        </p:spPr>
        <p:txBody>
          <a:bodyPr wrap="square" rtlCol="0" anchor="ctr"/>
          <a:lstStyle/>
          <a:p>
            <a:pPr indent="0" marL="0">
              <a:lnSpc>
                <a:spcPct val="130000"/>
              </a:lnSpc>
              <a:buNone/>
            </a:pPr>
            <a:r>
              <a:rPr lang="en-US" sz="1200" dirty="0">
                <a:solidFill>
                  <a:srgbClr val="D8D8D8"/>
                </a:solidFill>
                <a:latin typeface="Calibri" pitchFamily="34" charset="0"/>
                <a:ea typeface="Calibri" pitchFamily="34" charset="-122"/>
                <a:cs typeface="Calibri" pitchFamily="34" charset="-120"/>
              </a:rPr>
              <a:t>A column-oriented analytical database purpose-built for aggregations over large volumes of event data — exactly the kind of scan-heavy queries a taxi-demand dashboard needs to run in milliseconds.</a:t>
            </a:r>
            <a:endParaRPr lang="en-US" sz="1200" dirty="0"/>
          </a:p>
        </p:txBody>
      </p:sp>
      <p:sp>
        <p:nvSpPr>
          <p:cNvPr id="15" name="Text 12"/>
          <p:cNvSpPr/>
          <p:nvPr/>
        </p:nvSpPr>
        <p:spPr>
          <a:xfrm>
            <a:off x="841248" y="3657600"/>
            <a:ext cx="4800600" cy="274320"/>
          </a:xfrm>
          <a:prstGeom prst="rect">
            <a:avLst/>
          </a:prstGeom>
          <a:noFill/>
          <a:ln/>
        </p:spPr>
        <p:txBody>
          <a:bodyPr wrap="square" rtlCol="0" anchor="ctr"/>
          <a:lstStyle/>
          <a:p>
            <a:pPr indent="0" marL="0">
              <a:buNone/>
            </a:pPr>
            <a:r>
              <a:rPr lang="en-US" sz="1050" b="1" spc="150" kern="0" dirty="0">
                <a:solidFill>
                  <a:srgbClr val="D7263D"/>
                </a:solidFill>
                <a:latin typeface="Calibri" pitchFamily="34" charset="0"/>
                <a:ea typeface="Calibri" pitchFamily="34" charset="-122"/>
                <a:cs typeface="Calibri" pitchFamily="34" charset="-120"/>
              </a:rPr>
              <a:t>SETUP</a:t>
            </a:r>
            <a:endParaRPr lang="en-US" sz="1050" dirty="0"/>
          </a:p>
        </p:txBody>
      </p:sp>
      <p:sp>
        <p:nvSpPr>
          <p:cNvPr id="16" name="Shape 13"/>
          <p:cNvSpPr/>
          <p:nvPr/>
        </p:nvSpPr>
        <p:spPr>
          <a:xfrm>
            <a:off x="841248" y="3977640"/>
            <a:ext cx="4764024" cy="0"/>
          </a:xfrm>
          <a:prstGeom prst="line">
            <a:avLst/>
          </a:prstGeom>
          <a:noFill/>
          <a:ln w="12700">
            <a:solidFill>
              <a:srgbClr val="333333"/>
            </a:solidFill>
            <a:prstDash val="solid"/>
          </a:ln>
        </p:spPr>
      </p:sp>
      <p:sp>
        <p:nvSpPr>
          <p:cNvPr id="17" name="Text 14"/>
          <p:cNvSpPr/>
          <p:nvPr/>
        </p:nvSpPr>
        <p:spPr>
          <a:xfrm>
            <a:off x="841248" y="403250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Database</a:t>
            </a:r>
            <a:endParaRPr lang="en-US" sz="1100" dirty="0"/>
          </a:p>
        </p:txBody>
      </p:sp>
      <p:sp>
        <p:nvSpPr>
          <p:cNvPr id="18" name="Text 15"/>
          <p:cNvSpPr/>
          <p:nvPr/>
        </p:nvSpPr>
        <p:spPr>
          <a:xfrm>
            <a:off x="2926080" y="403250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NYC_TAXI</a:t>
            </a:r>
            <a:endParaRPr lang="en-US" sz="1080" dirty="0"/>
          </a:p>
        </p:txBody>
      </p:sp>
      <p:sp>
        <p:nvSpPr>
          <p:cNvPr id="19" name="Shape 16"/>
          <p:cNvSpPr/>
          <p:nvPr/>
        </p:nvSpPr>
        <p:spPr>
          <a:xfrm>
            <a:off x="841248" y="4343400"/>
            <a:ext cx="4764024" cy="0"/>
          </a:xfrm>
          <a:prstGeom prst="line">
            <a:avLst/>
          </a:prstGeom>
          <a:noFill/>
          <a:ln w="12700">
            <a:solidFill>
              <a:srgbClr val="333333"/>
            </a:solidFill>
            <a:prstDash val="solid"/>
          </a:ln>
        </p:spPr>
      </p:sp>
      <p:sp>
        <p:nvSpPr>
          <p:cNvPr id="20" name="Text 17"/>
          <p:cNvSpPr/>
          <p:nvPr/>
        </p:nvSpPr>
        <p:spPr>
          <a:xfrm>
            <a:off x="841248" y="439826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Table</a:t>
            </a:r>
            <a:endParaRPr lang="en-US" sz="1100" dirty="0"/>
          </a:p>
        </p:txBody>
      </p:sp>
      <p:sp>
        <p:nvSpPr>
          <p:cNvPr id="21" name="Text 18"/>
          <p:cNvSpPr/>
          <p:nvPr/>
        </p:nvSpPr>
        <p:spPr>
          <a:xfrm>
            <a:off x="2926080" y="439826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taxi_trips</a:t>
            </a:r>
            <a:endParaRPr lang="en-US" sz="1080" dirty="0"/>
          </a:p>
        </p:txBody>
      </p:sp>
      <p:sp>
        <p:nvSpPr>
          <p:cNvPr id="22" name="Shape 19"/>
          <p:cNvSpPr/>
          <p:nvPr/>
        </p:nvSpPr>
        <p:spPr>
          <a:xfrm>
            <a:off x="841248" y="4709160"/>
            <a:ext cx="4764024" cy="0"/>
          </a:xfrm>
          <a:prstGeom prst="line">
            <a:avLst/>
          </a:prstGeom>
          <a:noFill/>
          <a:ln w="12700">
            <a:solidFill>
              <a:srgbClr val="333333"/>
            </a:solidFill>
            <a:prstDash val="solid"/>
          </a:ln>
        </p:spPr>
      </p:sp>
      <p:sp>
        <p:nvSpPr>
          <p:cNvPr id="23" name="Text 20"/>
          <p:cNvSpPr/>
          <p:nvPr/>
        </p:nvSpPr>
        <p:spPr>
          <a:xfrm>
            <a:off x="841248" y="476402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Engine</a:t>
            </a:r>
            <a:endParaRPr lang="en-US" sz="1100" dirty="0"/>
          </a:p>
        </p:txBody>
      </p:sp>
      <p:sp>
        <p:nvSpPr>
          <p:cNvPr id="24" name="Text 21"/>
          <p:cNvSpPr/>
          <p:nvPr/>
        </p:nvSpPr>
        <p:spPr>
          <a:xfrm>
            <a:off x="2926080" y="476402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MergeTree()</a:t>
            </a:r>
            <a:endParaRPr lang="en-US" sz="1080" dirty="0"/>
          </a:p>
        </p:txBody>
      </p:sp>
      <p:sp>
        <p:nvSpPr>
          <p:cNvPr id="25" name="Shape 22"/>
          <p:cNvSpPr/>
          <p:nvPr/>
        </p:nvSpPr>
        <p:spPr>
          <a:xfrm>
            <a:off x="841248" y="5074920"/>
            <a:ext cx="4764024" cy="0"/>
          </a:xfrm>
          <a:prstGeom prst="line">
            <a:avLst/>
          </a:prstGeom>
          <a:noFill/>
          <a:ln w="12700">
            <a:solidFill>
              <a:srgbClr val="333333"/>
            </a:solidFill>
            <a:prstDash val="solid"/>
          </a:ln>
        </p:spPr>
      </p:sp>
      <p:sp>
        <p:nvSpPr>
          <p:cNvPr id="26" name="Text 23"/>
          <p:cNvSpPr/>
          <p:nvPr/>
        </p:nvSpPr>
        <p:spPr>
          <a:xfrm>
            <a:off x="841248" y="512978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Ordered by</a:t>
            </a:r>
            <a:endParaRPr lang="en-US" sz="1100" dirty="0"/>
          </a:p>
        </p:txBody>
      </p:sp>
      <p:sp>
        <p:nvSpPr>
          <p:cNvPr id="27" name="Text 24"/>
          <p:cNvSpPr/>
          <p:nvPr/>
        </p:nvSpPr>
        <p:spPr>
          <a:xfrm>
            <a:off x="2926080" y="512978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pickup_datetime</a:t>
            </a:r>
            <a:endParaRPr lang="en-US" sz="1080" dirty="0"/>
          </a:p>
        </p:txBody>
      </p:sp>
      <p:sp>
        <p:nvSpPr>
          <p:cNvPr id="28" name="Shape 25"/>
          <p:cNvSpPr/>
          <p:nvPr/>
        </p:nvSpPr>
        <p:spPr>
          <a:xfrm>
            <a:off x="841248" y="5440680"/>
            <a:ext cx="4764024" cy="0"/>
          </a:xfrm>
          <a:prstGeom prst="line">
            <a:avLst/>
          </a:prstGeom>
          <a:noFill/>
          <a:ln w="12700">
            <a:solidFill>
              <a:srgbClr val="333333"/>
            </a:solidFill>
            <a:prstDash val="solid"/>
          </a:ln>
        </p:spPr>
      </p:sp>
      <p:sp>
        <p:nvSpPr>
          <p:cNvPr id="29" name="Text 26"/>
          <p:cNvSpPr/>
          <p:nvPr/>
        </p:nvSpPr>
        <p:spPr>
          <a:xfrm>
            <a:off x="841248" y="549554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Write path</a:t>
            </a:r>
            <a:endParaRPr lang="en-US" sz="1100" dirty="0"/>
          </a:p>
        </p:txBody>
      </p:sp>
      <p:sp>
        <p:nvSpPr>
          <p:cNvPr id="30" name="Text 27"/>
          <p:cNvSpPr/>
          <p:nvPr/>
        </p:nvSpPr>
        <p:spPr>
          <a:xfrm>
            <a:off x="2926080" y="549554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Spark → JDBC → ClickHouse</a:t>
            </a:r>
            <a:endParaRPr lang="en-US" sz="1080" dirty="0"/>
          </a:p>
        </p:txBody>
      </p:sp>
      <p:sp>
        <p:nvSpPr>
          <p:cNvPr id="31" name="Shape 28"/>
          <p:cNvSpPr/>
          <p:nvPr/>
        </p:nvSpPr>
        <p:spPr>
          <a:xfrm>
            <a:off x="6172200" y="1600200"/>
            <a:ext cx="5468112" cy="4526280"/>
          </a:xfrm>
          <a:prstGeom prst="roundRect">
            <a:avLst>
              <a:gd name="adj" fmla="val 1818"/>
            </a:avLst>
          </a:prstGeom>
          <a:solidFill>
            <a:srgbClr val="D7263D"/>
          </a:solidFill>
          <a:ln/>
        </p:spPr>
      </p:sp>
      <p:sp>
        <p:nvSpPr>
          <p:cNvPr id="32" name="Text 29"/>
          <p:cNvSpPr/>
          <p:nvPr/>
        </p:nvSpPr>
        <p:spPr>
          <a:xfrm>
            <a:off x="6446520" y="1828800"/>
            <a:ext cx="4919472" cy="274320"/>
          </a:xfrm>
          <a:prstGeom prst="rect">
            <a:avLst/>
          </a:prstGeom>
          <a:noFill/>
          <a:ln/>
        </p:spPr>
        <p:txBody>
          <a:bodyPr wrap="square" rtlCol="0" anchor="ctr"/>
          <a:lstStyle/>
          <a:p>
            <a:pPr indent="0" marL="0">
              <a:buNone/>
            </a:pPr>
            <a:r>
              <a:rPr lang="en-US" sz="1100" b="1" spc="150" kern="0" dirty="0">
                <a:solidFill>
                  <a:srgbClr val="141414"/>
                </a:solidFill>
                <a:latin typeface="Calibri" pitchFamily="34" charset="0"/>
                <a:ea typeface="Calibri" pitchFamily="34" charset="-122"/>
                <a:cs typeface="Calibri" pitchFamily="34" charset="-120"/>
              </a:rPr>
              <a:t>ANALYTICAL QUERIES</a:t>
            </a:r>
            <a:endParaRPr lang="en-US" sz="1100" dirty="0"/>
          </a:p>
        </p:txBody>
      </p:sp>
      <p:sp>
        <p:nvSpPr>
          <p:cNvPr id="33" name="Text 30"/>
          <p:cNvSpPr/>
          <p:nvPr/>
        </p:nvSpPr>
        <p:spPr>
          <a:xfrm>
            <a:off x="6446520" y="2112264"/>
            <a:ext cx="4919472" cy="365760"/>
          </a:xfrm>
          <a:prstGeom prst="rect">
            <a:avLst/>
          </a:prstGeom>
          <a:noFill/>
          <a:ln/>
        </p:spPr>
        <p:txBody>
          <a:bodyPr wrap="square"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What Superset asks ClickHouse</a:t>
            </a:r>
            <a:endParaRPr lang="en-US" sz="1500" dirty="0"/>
          </a:p>
        </p:txBody>
      </p:sp>
      <p:sp>
        <p:nvSpPr>
          <p:cNvPr id="34" name="Shape 31"/>
          <p:cNvSpPr/>
          <p:nvPr/>
        </p:nvSpPr>
        <p:spPr>
          <a:xfrm>
            <a:off x="6446520" y="2743200"/>
            <a:ext cx="4919472" cy="777240"/>
          </a:xfrm>
          <a:prstGeom prst="roundRect">
            <a:avLst>
              <a:gd name="adj" fmla="val 8235"/>
            </a:avLst>
          </a:prstGeom>
          <a:solidFill>
            <a:srgbClr val="F5A3AC"/>
          </a:solidFill>
          <a:ln/>
        </p:spPr>
      </p:sp>
      <p:sp>
        <p:nvSpPr>
          <p:cNvPr id="35" name="Text 32"/>
          <p:cNvSpPr/>
          <p:nvPr/>
        </p:nvSpPr>
        <p:spPr>
          <a:xfrm>
            <a:off x="6611112" y="2834640"/>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Total trip volume</a:t>
            </a:r>
            <a:endParaRPr lang="en-US" sz="1250" dirty="0"/>
          </a:p>
        </p:txBody>
      </p:sp>
      <p:sp>
        <p:nvSpPr>
          <p:cNvPr id="36" name="Text 33"/>
          <p:cNvSpPr/>
          <p:nvPr/>
        </p:nvSpPr>
        <p:spPr>
          <a:xfrm>
            <a:off x="6611112" y="3127248"/>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COUNT(*) across all trips</a:t>
            </a:r>
            <a:endParaRPr lang="en-US" sz="980" dirty="0"/>
          </a:p>
        </p:txBody>
      </p:sp>
      <p:sp>
        <p:nvSpPr>
          <p:cNvPr id="37" name="Shape 34"/>
          <p:cNvSpPr/>
          <p:nvPr/>
        </p:nvSpPr>
        <p:spPr>
          <a:xfrm>
            <a:off x="6446520" y="3639312"/>
            <a:ext cx="4919472" cy="777240"/>
          </a:xfrm>
          <a:prstGeom prst="roundRect">
            <a:avLst>
              <a:gd name="adj" fmla="val 8235"/>
            </a:avLst>
          </a:prstGeom>
          <a:solidFill>
            <a:srgbClr val="F5A3AC"/>
          </a:solidFill>
          <a:ln/>
        </p:spPr>
      </p:sp>
      <p:sp>
        <p:nvSpPr>
          <p:cNvPr id="38" name="Text 35"/>
          <p:cNvSpPr/>
          <p:nvPr/>
        </p:nvSpPr>
        <p:spPr>
          <a:xfrm>
            <a:off x="6611112" y="3730752"/>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Average fare &amp; tip</a:t>
            </a:r>
            <a:endParaRPr lang="en-US" sz="1250" dirty="0"/>
          </a:p>
        </p:txBody>
      </p:sp>
      <p:sp>
        <p:nvSpPr>
          <p:cNvPr id="39" name="Text 36"/>
          <p:cNvSpPr/>
          <p:nvPr/>
        </p:nvSpPr>
        <p:spPr>
          <a:xfrm>
            <a:off x="6611112" y="4023360"/>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AVG(fare_amount), AVG(tip_amount)</a:t>
            </a:r>
            <a:endParaRPr lang="en-US" sz="980" dirty="0"/>
          </a:p>
        </p:txBody>
      </p:sp>
      <p:sp>
        <p:nvSpPr>
          <p:cNvPr id="40" name="Shape 37"/>
          <p:cNvSpPr/>
          <p:nvPr/>
        </p:nvSpPr>
        <p:spPr>
          <a:xfrm>
            <a:off x="6446520" y="4535424"/>
            <a:ext cx="4919472" cy="777240"/>
          </a:xfrm>
          <a:prstGeom prst="roundRect">
            <a:avLst>
              <a:gd name="adj" fmla="val 8235"/>
            </a:avLst>
          </a:prstGeom>
          <a:solidFill>
            <a:srgbClr val="F5A3AC"/>
          </a:solidFill>
          <a:ln/>
        </p:spPr>
      </p:sp>
      <p:sp>
        <p:nvSpPr>
          <p:cNvPr id="41" name="Text 38"/>
          <p:cNvSpPr/>
          <p:nvPr/>
        </p:nvSpPr>
        <p:spPr>
          <a:xfrm>
            <a:off x="6611112" y="4626864"/>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Tip performance by zone</a:t>
            </a:r>
            <a:endParaRPr lang="en-US" sz="1250" dirty="0"/>
          </a:p>
        </p:txBody>
      </p:sp>
      <p:sp>
        <p:nvSpPr>
          <p:cNvPr id="42" name="Text 39"/>
          <p:cNvSpPr/>
          <p:nvPr/>
        </p:nvSpPr>
        <p:spPr>
          <a:xfrm>
            <a:off x="6611112" y="4919472"/>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AVG(tip_amount) grouped by pickup_location_id</a:t>
            </a:r>
            <a:endParaRPr lang="en-US" sz="980" dirty="0"/>
          </a:p>
        </p:txBody>
      </p:sp>
      <p:sp>
        <p:nvSpPr>
          <p:cNvPr id="43" name="Shape 40"/>
          <p:cNvSpPr/>
          <p:nvPr/>
        </p:nvSpPr>
        <p:spPr>
          <a:xfrm>
            <a:off x="6446520" y="5431536"/>
            <a:ext cx="4919472" cy="777240"/>
          </a:xfrm>
          <a:prstGeom prst="roundRect">
            <a:avLst>
              <a:gd name="adj" fmla="val 8235"/>
            </a:avLst>
          </a:prstGeom>
          <a:solidFill>
            <a:srgbClr val="F5A3AC"/>
          </a:solidFill>
          <a:ln/>
        </p:spPr>
      </p:sp>
      <p:sp>
        <p:nvSpPr>
          <p:cNvPr id="44" name="Text 41"/>
          <p:cNvSpPr/>
          <p:nvPr/>
        </p:nvSpPr>
        <p:spPr>
          <a:xfrm>
            <a:off x="6611112" y="5522976"/>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Demand over time</a:t>
            </a:r>
            <a:endParaRPr lang="en-US" sz="1250" dirty="0"/>
          </a:p>
        </p:txBody>
      </p:sp>
      <p:sp>
        <p:nvSpPr>
          <p:cNvPr id="45" name="Text 42"/>
          <p:cNvSpPr/>
          <p:nvPr/>
        </p:nvSpPr>
        <p:spPr>
          <a:xfrm>
            <a:off x="6611112" y="5815584"/>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COUNT(*) grouped by minute-level pickup time</a:t>
            </a:r>
            <a:endParaRPr lang="en-US" sz="980" dirty="0"/>
          </a:p>
        </p:txBody>
      </p:sp>
      <p:sp>
        <p:nvSpPr>
          <p:cNvPr id="46" name="Text 43"/>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STEP 5 OF 6  —  ORCHESTRATION</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indent="0" marL="0">
              <a:buNone/>
            </a:pPr>
            <a:r>
              <a:rPr lang="en-US" sz="3000" b="1" dirty="0">
                <a:solidFill>
                  <a:srgbClr val="141414"/>
                </a:solidFill>
                <a:latin typeface="Bookman Old Style" pitchFamily="34" charset="0"/>
                <a:ea typeface="Bookman Old Style" pitchFamily="34" charset="-122"/>
                <a:cs typeface="Bookman Old Style" pitchFamily="34" charset="-120"/>
              </a:rPr>
              <a:t>Airflow — keeping every stage honest</a:t>
            </a:r>
            <a:endParaRPr lang="en-US" sz="3000" dirty="0"/>
          </a:p>
        </p:txBody>
      </p:sp>
      <p:sp>
        <p:nvSpPr>
          <p:cNvPr id="4" name="Shape 2"/>
          <p:cNvSpPr/>
          <p:nvPr/>
        </p:nvSpPr>
        <p:spPr>
          <a:xfrm>
            <a:off x="9226296" y="530352"/>
            <a:ext cx="310896" cy="82296"/>
          </a:xfrm>
          <a:prstGeom prst="roundRect">
            <a:avLst>
              <a:gd name="adj" fmla="val 50000"/>
            </a:avLst>
          </a:prstGeom>
          <a:solidFill>
            <a:srgbClr val="E2E2E2"/>
          </a:solidFill>
          <a:ln/>
        </p:spPr>
      </p:sp>
      <p:sp>
        <p:nvSpPr>
          <p:cNvPr id="5" name="Shape 3"/>
          <p:cNvSpPr/>
          <p:nvPr/>
        </p:nvSpPr>
        <p:spPr>
          <a:xfrm>
            <a:off x="9646920" y="530352"/>
            <a:ext cx="310896" cy="82296"/>
          </a:xfrm>
          <a:prstGeom prst="roundRect">
            <a:avLst>
              <a:gd name="adj" fmla="val 50000"/>
            </a:avLst>
          </a:prstGeom>
          <a:solidFill>
            <a:srgbClr val="E2E2E2"/>
          </a:solidFill>
          <a:ln/>
        </p:spPr>
      </p:sp>
      <p:sp>
        <p:nvSpPr>
          <p:cNvPr id="6" name="Shape 4"/>
          <p:cNvSpPr/>
          <p:nvPr/>
        </p:nvSpPr>
        <p:spPr>
          <a:xfrm>
            <a:off x="10067544" y="530352"/>
            <a:ext cx="310896" cy="82296"/>
          </a:xfrm>
          <a:prstGeom prst="roundRect">
            <a:avLst>
              <a:gd name="adj" fmla="val 50000"/>
            </a:avLst>
          </a:prstGeom>
          <a:solidFill>
            <a:srgbClr val="E2E2E2"/>
          </a:solidFill>
          <a:ln/>
        </p:spPr>
      </p:sp>
      <p:sp>
        <p:nvSpPr>
          <p:cNvPr id="7" name="Shape 5"/>
          <p:cNvSpPr/>
          <p:nvPr/>
        </p:nvSpPr>
        <p:spPr>
          <a:xfrm>
            <a:off x="10488168" y="530352"/>
            <a:ext cx="310896" cy="82296"/>
          </a:xfrm>
          <a:prstGeom prst="roundRect">
            <a:avLst>
              <a:gd name="adj" fmla="val 50000"/>
            </a:avLst>
          </a:prstGeom>
          <a:solidFill>
            <a:srgbClr val="E2E2E2"/>
          </a:solidFill>
          <a:ln/>
        </p:spPr>
      </p:sp>
      <p:sp>
        <p:nvSpPr>
          <p:cNvPr id="8" name="Shape 6"/>
          <p:cNvSpPr/>
          <p:nvPr/>
        </p:nvSpPr>
        <p:spPr>
          <a:xfrm>
            <a:off x="10908792" y="530352"/>
            <a:ext cx="310896" cy="82296"/>
          </a:xfrm>
          <a:prstGeom prst="roundRect">
            <a:avLst>
              <a:gd name="adj" fmla="val 50000"/>
            </a:avLst>
          </a:prstGeom>
          <a:solidFill>
            <a:srgbClr val="D7263D"/>
          </a:solidFill>
          <a:ln/>
        </p:spPr>
      </p:sp>
      <p:sp>
        <p:nvSpPr>
          <p:cNvPr id="9" name="Shape 7"/>
          <p:cNvSpPr/>
          <p:nvPr/>
        </p:nvSpPr>
        <p:spPr>
          <a:xfrm>
            <a:off x="11329416" y="530352"/>
            <a:ext cx="310896" cy="82296"/>
          </a:xfrm>
          <a:prstGeom prst="roundRect">
            <a:avLst>
              <a:gd name="adj" fmla="val 50000"/>
            </a:avLst>
          </a:prstGeom>
          <a:solidFill>
            <a:srgbClr val="E2E2E2"/>
          </a:solidFill>
          <a:ln/>
        </p:spPr>
      </p:sp>
      <p:sp>
        <p:nvSpPr>
          <p:cNvPr id="10" name="Text 8"/>
          <p:cNvSpPr/>
          <p:nvPr/>
        </p:nvSpPr>
        <p:spPr>
          <a:xfrm>
            <a:off x="548640" y="1417320"/>
            <a:ext cx="10881360" cy="594360"/>
          </a:xfrm>
          <a:prstGeom prst="rect">
            <a:avLst/>
          </a:prstGeom>
          <a:noFill/>
          <a:ln/>
        </p:spPr>
        <p:txBody>
          <a:bodyPr wrap="square" rtlCol="0" anchor="ctr"/>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A single DAG — nyc_taxi_pipeline_dag — verifies that Kafka and ClickHouse are reachable before triggering the streaming simulation, with automatic retries on failure.</a:t>
            </a:r>
            <a:endParaRPr lang="en-US" sz="1300" dirty="0"/>
          </a:p>
        </p:txBody>
      </p:sp>
      <p:sp>
        <p:nvSpPr>
          <p:cNvPr id="11" name="Shape 9"/>
          <p:cNvSpPr/>
          <p:nvPr/>
        </p:nvSpPr>
        <p:spPr>
          <a:xfrm>
            <a:off x="1280160" y="2377440"/>
            <a:ext cx="3383280" cy="1188720"/>
          </a:xfrm>
          <a:prstGeom prst="roundRect">
            <a:avLst>
              <a:gd name="adj" fmla="val 6923"/>
            </a:avLst>
          </a:prstGeom>
          <a:solidFill>
            <a:srgbClr val="FFFFFF"/>
          </a:solidFill>
          <a:ln w="15875">
            <a:solidFill>
              <a:srgbClr val="E2E2E2"/>
            </a:solidFill>
            <a:prstDash val="solid"/>
          </a:ln>
        </p:spPr>
      </p:sp>
      <p:sp>
        <p:nvSpPr>
          <p:cNvPr id="12" name="Shape 10"/>
          <p:cNvSpPr/>
          <p:nvPr/>
        </p:nvSpPr>
        <p:spPr>
          <a:xfrm>
            <a:off x="1481328" y="2578608"/>
            <a:ext cx="457200" cy="457200"/>
          </a:xfrm>
          <a:prstGeom prst="ellipse">
            <a:avLst/>
          </a:prstGeom>
          <a:solidFill>
            <a:srgbClr val="FAFAFA"/>
          </a:solidFill>
          <a:ln/>
        </p:spPr>
      </p:sp>
      <p:pic>
        <p:nvPicPr>
          <p:cNvPr id="13" name="Image 0" descr="/home/claude/assets/FiWifi_black_r.png">    </p:cNvPr>
          <p:cNvPicPr>
            <a:picLocks noChangeAspect="1"/>
          </p:cNvPicPr>
          <p:nvPr/>
        </p:nvPicPr>
        <p:blipFill>
          <a:blip r:embed="rId1"/>
          <a:stretch>
            <a:fillRect/>
          </a:stretch>
        </p:blipFill>
        <p:spPr>
          <a:xfrm>
            <a:off x="1581912" y="2679192"/>
            <a:ext cx="256032" cy="256032"/>
          </a:xfrm>
          <a:prstGeom prst="rect">
            <a:avLst/>
          </a:prstGeom>
        </p:spPr>
      </p:pic>
      <p:sp>
        <p:nvSpPr>
          <p:cNvPr id="14" name="Text 11"/>
          <p:cNvSpPr/>
          <p:nvPr/>
        </p:nvSpPr>
        <p:spPr>
          <a:xfrm>
            <a:off x="2057400" y="2542032"/>
            <a:ext cx="2468880" cy="320040"/>
          </a:xfrm>
          <a:prstGeom prst="rect">
            <a:avLst/>
          </a:prstGeom>
          <a:noFill/>
          <a:ln/>
        </p:spPr>
        <p:txBody>
          <a:bodyPr wrap="square" rtlCol="0" anchor="ctr"/>
          <a:lstStyle/>
          <a:p>
            <a:pPr indent="0" marL="0">
              <a:buNone/>
            </a:pPr>
            <a:r>
              <a:rPr lang="en-US" sz="1100" b="1" dirty="0">
                <a:solidFill>
                  <a:srgbClr val="141414"/>
                </a:solidFill>
                <a:latin typeface="Courier New" pitchFamily="34" charset="0"/>
                <a:ea typeface="Courier New" pitchFamily="34" charset="-122"/>
                <a:cs typeface="Courier New" pitchFamily="34" charset="-120"/>
              </a:rPr>
              <a:t>verify_kafka_connectivity</a:t>
            </a:r>
            <a:endParaRPr lang="en-US" sz="1100" dirty="0"/>
          </a:p>
        </p:txBody>
      </p:sp>
      <p:sp>
        <p:nvSpPr>
          <p:cNvPr id="15" name="Text 12"/>
          <p:cNvSpPr/>
          <p:nvPr/>
        </p:nvSpPr>
        <p:spPr>
          <a:xfrm>
            <a:off x="2057400" y="2880360"/>
            <a:ext cx="2468880" cy="548640"/>
          </a:xfrm>
          <a:prstGeom prst="rect">
            <a:avLst/>
          </a:prstGeom>
          <a:noFill/>
          <a:ln/>
        </p:spPr>
        <p:txBody>
          <a:bodyPr wrap="square"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Checks kafka:9092 is reachable</a:t>
            </a:r>
            <a:endParaRPr lang="en-US" sz="1000" dirty="0"/>
          </a:p>
        </p:txBody>
      </p:sp>
      <p:sp>
        <p:nvSpPr>
          <p:cNvPr id="16" name="Shape 13"/>
          <p:cNvSpPr/>
          <p:nvPr/>
        </p:nvSpPr>
        <p:spPr>
          <a:xfrm>
            <a:off x="5760720" y="2377440"/>
            <a:ext cx="3383280" cy="1188720"/>
          </a:xfrm>
          <a:prstGeom prst="roundRect">
            <a:avLst>
              <a:gd name="adj" fmla="val 6923"/>
            </a:avLst>
          </a:prstGeom>
          <a:solidFill>
            <a:srgbClr val="FFFFFF"/>
          </a:solidFill>
          <a:ln w="15875">
            <a:solidFill>
              <a:srgbClr val="E2E2E2"/>
            </a:solidFill>
            <a:prstDash val="solid"/>
          </a:ln>
        </p:spPr>
      </p:sp>
      <p:sp>
        <p:nvSpPr>
          <p:cNvPr id="17" name="Shape 14"/>
          <p:cNvSpPr/>
          <p:nvPr/>
        </p:nvSpPr>
        <p:spPr>
          <a:xfrm>
            <a:off x="5961888" y="2578608"/>
            <a:ext cx="457200" cy="457200"/>
          </a:xfrm>
          <a:prstGeom prst="ellipse">
            <a:avLst/>
          </a:prstGeom>
          <a:solidFill>
            <a:srgbClr val="FAFAFA"/>
          </a:solidFill>
          <a:ln/>
        </p:spPr>
      </p:sp>
      <p:pic>
        <p:nvPicPr>
          <p:cNvPr id="18" name="Image 1" descr="/home/claude/assets/FiServer_black_r.png">    </p:cNvPr>
          <p:cNvPicPr>
            <a:picLocks noChangeAspect="1"/>
          </p:cNvPicPr>
          <p:nvPr/>
        </p:nvPicPr>
        <p:blipFill>
          <a:blip r:embed="rId2"/>
          <a:stretch>
            <a:fillRect/>
          </a:stretch>
        </p:blipFill>
        <p:spPr>
          <a:xfrm>
            <a:off x="6062472" y="2679192"/>
            <a:ext cx="256032" cy="256032"/>
          </a:xfrm>
          <a:prstGeom prst="rect">
            <a:avLst/>
          </a:prstGeom>
        </p:spPr>
      </p:pic>
      <p:sp>
        <p:nvSpPr>
          <p:cNvPr id="19" name="Text 15"/>
          <p:cNvSpPr/>
          <p:nvPr/>
        </p:nvSpPr>
        <p:spPr>
          <a:xfrm>
            <a:off x="6537960" y="2542032"/>
            <a:ext cx="2514600" cy="320040"/>
          </a:xfrm>
          <a:prstGeom prst="rect">
            <a:avLst/>
          </a:prstGeom>
          <a:noFill/>
          <a:ln/>
        </p:spPr>
        <p:txBody>
          <a:bodyPr wrap="square" rtlCol="0" anchor="ctr"/>
          <a:lstStyle/>
          <a:p>
            <a:pPr indent="0" marL="0">
              <a:buNone/>
            </a:pPr>
            <a:r>
              <a:rPr lang="en-US" sz="930" b="1" dirty="0">
                <a:solidFill>
                  <a:srgbClr val="141414"/>
                </a:solidFill>
                <a:latin typeface="Courier New" pitchFamily="34" charset="0"/>
                <a:ea typeface="Courier New" pitchFamily="34" charset="-122"/>
                <a:cs typeface="Courier New" pitchFamily="34" charset="-120"/>
              </a:rPr>
              <a:t>verify_clickhouse_connectivity</a:t>
            </a:r>
            <a:endParaRPr lang="en-US" sz="930" dirty="0"/>
          </a:p>
        </p:txBody>
      </p:sp>
      <p:sp>
        <p:nvSpPr>
          <p:cNvPr id="20" name="Text 16"/>
          <p:cNvSpPr/>
          <p:nvPr/>
        </p:nvSpPr>
        <p:spPr>
          <a:xfrm>
            <a:off x="6537960" y="2880360"/>
            <a:ext cx="2468880" cy="548640"/>
          </a:xfrm>
          <a:prstGeom prst="rect">
            <a:avLst/>
          </a:prstGeom>
          <a:noFill/>
          <a:ln/>
        </p:spPr>
        <p:txBody>
          <a:bodyPr wrap="square"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Pings the ClickHouse HTTP endpoint</a:t>
            </a:r>
            <a:endParaRPr lang="en-US" sz="1000" dirty="0"/>
          </a:p>
        </p:txBody>
      </p:sp>
      <p:sp>
        <p:nvSpPr>
          <p:cNvPr id="21" name="Shape 17"/>
          <p:cNvSpPr/>
          <p:nvPr/>
        </p:nvSpPr>
        <p:spPr>
          <a:xfrm>
            <a:off x="2971800" y="3566160"/>
            <a:ext cx="0" cy="320040"/>
          </a:xfrm>
          <a:prstGeom prst="line">
            <a:avLst/>
          </a:prstGeom>
          <a:noFill/>
          <a:ln w="22225">
            <a:solidFill>
              <a:srgbClr val="D7263D"/>
            </a:solidFill>
            <a:prstDash val="solid"/>
          </a:ln>
        </p:spPr>
      </p:sp>
      <p:sp>
        <p:nvSpPr>
          <p:cNvPr id="22" name="Shape 18"/>
          <p:cNvSpPr/>
          <p:nvPr/>
        </p:nvSpPr>
        <p:spPr>
          <a:xfrm>
            <a:off x="7452360" y="3566160"/>
            <a:ext cx="0" cy="320040"/>
          </a:xfrm>
          <a:prstGeom prst="line">
            <a:avLst/>
          </a:prstGeom>
          <a:noFill/>
          <a:ln w="22225">
            <a:solidFill>
              <a:srgbClr val="D7263D"/>
            </a:solidFill>
            <a:prstDash val="solid"/>
          </a:ln>
        </p:spPr>
      </p:sp>
      <p:sp>
        <p:nvSpPr>
          <p:cNvPr id="23" name="Shape 19"/>
          <p:cNvSpPr/>
          <p:nvPr/>
        </p:nvSpPr>
        <p:spPr>
          <a:xfrm>
            <a:off x="2971800" y="3886200"/>
            <a:ext cx="4480560" cy="0"/>
          </a:xfrm>
          <a:prstGeom prst="line">
            <a:avLst/>
          </a:prstGeom>
          <a:noFill/>
          <a:ln w="22225">
            <a:solidFill>
              <a:srgbClr val="D7263D"/>
            </a:solidFill>
            <a:prstDash val="solid"/>
          </a:ln>
        </p:spPr>
      </p:sp>
      <p:sp>
        <p:nvSpPr>
          <p:cNvPr id="24" name="Shape 20"/>
          <p:cNvSpPr/>
          <p:nvPr/>
        </p:nvSpPr>
        <p:spPr>
          <a:xfrm>
            <a:off x="5212080" y="3886200"/>
            <a:ext cx="0" cy="320040"/>
          </a:xfrm>
          <a:prstGeom prst="line">
            <a:avLst/>
          </a:prstGeom>
          <a:noFill/>
          <a:ln w="22225">
            <a:solidFill>
              <a:srgbClr val="D7263D"/>
            </a:solidFill>
            <a:prstDash val="solid"/>
            <a:tailEnd type="triangle"/>
          </a:ln>
        </p:spPr>
      </p:sp>
      <p:sp>
        <p:nvSpPr>
          <p:cNvPr id="25" name="Shape 21"/>
          <p:cNvSpPr/>
          <p:nvPr/>
        </p:nvSpPr>
        <p:spPr>
          <a:xfrm>
            <a:off x="3246120" y="4206240"/>
            <a:ext cx="3931920" cy="960120"/>
          </a:xfrm>
          <a:prstGeom prst="roundRect">
            <a:avLst>
              <a:gd name="adj" fmla="val 8571"/>
            </a:avLst>
          </a:prstGeom>
          <a:solidFill>
            <a:srgbClr val="141414"/>
          </a:solidFill>
          <a:ln/>
        </p:spPr>
      </p:sp>
      <p:sp>
        <p:nvSpPr>
          <p:cNvPr id="26" name="Shape 22"/>
          <p:cNvSpPr/>
          <p:nvPr/>
        </p:nvSpPr>
        <p:spPr>
          <a:xfrm>
            <a:off x="3429000" y="4389120"/>
            <a:ext cx="566928" cy="566928"/>
          </a:xfrm>
          <a:prstGeom prst="ellipse">
            <a:avLst/>
          </a:prstGeom>
          <a:solidFill>
            <a:srgbClr val="D7263D"/>
          </a:solidFill>
          <a:ln/>
        </p:spPr>
      </p:sp>
      <p:pic>
        <p:nvPicPr>
          <p:cNvPr id="27" name="Image 2" descr="/home/claude/assets/FiPlayCircle_black_r.png">    </p:cNvPr>
          <p:cNvPicPr>
            <a:picLocks noChangeAspect="1"/>
          </p:cNvPicPr>
          <p:nvPr/>
        </p:nvPicPr>
        <p:blipFill>
          <a:blip r:embed="rId3"/>
          <a:stretch>
            <a:fillRect/>
          </a:stretch>
        </p:blipFill>
        <p:spPr>
          <a:xfrm>
            <a:off x="3547872" y="4507992"/>
            <a:ext cx="329184" cy="329184"/>
          </a:xfrm>
          <a:prstGeom prst="rect">
            <a:avLst/>
          </a:prstGeom>
        </p:spPr>
      </p:pic>
      <p:sp>
        <p:nvSpPr>
          <p:cNvPr id="28" name="Text 23"/>
          <p:cNvSpPr/>
          <p:nvPr/>
        </p:nvSpPr>
        <p:spPr>
          <a:xfrm>
            <a:off x="4114800" y="4343400"/>
            <a:ext cx="2880360" cy="274320"/>
          </a:xfrm>
          <a:prstGeom prst="rect">
            <a:avLst/>
          </a:prstGeom>
          <a:noFill/>
          <a:ln/>
        </p:spPr>
        <p:txBody>
          <a:bodyPr wrap="square"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trigger_stream_simulation</a:t>
            </a:r>
            <a:endParaRPr lang="en-US" sz="1150" dirty="0"/>
          </a:p>
        </p:txBody>
      </p:sp>
      <p:sp>
        <p:nvSpPr>
          <p:cNvPr id="29" name="Text 24"/>
          <p:cNvSpPr/>
          <p:nvPr/>
        </p:nvSpPr>
        <p:spPr>
          <a:xfrm>
            <a:off x="4114800" y="4663440"/>
            <a:ext cx="2880360" cy="365760"/>
          </a:xfrm>
          <a:prstGeom prst="rect">
            <a:avLst/>
          </a:prstGeom>
          <a:noFill/>
          <a:ln/>
        </p:spPr>
        <p:txBody>
          <a:bodyPr wrap="square" rtlCol="0" anchor="ctr"/>
          <a:lstStyle/>
          <a:p>
            <a:pPr indent="0" marL="0">
              <a:buNone/>
            </a:pPr>
            <a:r>
              <a:rPr lang="en-US" sz="1000" dirty="0">
                <a:solidFill>
                  <a:srgbClr val="B8B8B8"/>
                </a:solidFill>
                <a:latin typeface="Calibri" pitchFamily="34" charset="0"/>
                <a:ea typeface="Calibri" pitchFamily="34" charset="-122"/>
                <a:cs typeface="Calibri" pitchFamily="34" charset="-120"/>
              </a:rPr>
              <a:t>Kicks off the taxi data stream</a:t>
            </a:r>
            <a:endParaRPr lang="en-US" sz="1000" dirty="0"/>
          </a:p>
        </p:txBody>
      </p:sp>
      <p:sp>
        <p:nvSpPr>
          <p:cNvPr id="30" name="Shape 25"/>
          <p:cNvSpPr/>
          <p:nvPr/>
        </p:nvSpPr>
        <p:spPr>
          <a:xfrm>
            <a:off x="548640" y="5486400"/>
            <a:ext cx="3502152" cy="777240"/>
          </a:xfrm>
          <a:prstGeom prst="roundRect">
            <a:avLst>
              <a:gd name="adj" fmla="val 8235"/>
            </a:avLst>
          </a:prstGeom>
          <a:solidFill>
            <a:srgbClr val="FFFFFF"/>
          </a:solidFill>
          <a:ln w="12700">
            <a:solidFill>
              <a:srgbClr val="E2E2E2"/>
            </a:solidFill>
            <a:prstDash val="solid"/>
          </a:ln>
        </p:spPr>
      </p:sp>
      <p:sp>
        <p:nvSpPr>
          <p:cNvPr id="31" name="Text 26"/>
          <p:cNvSpPr/>
          <p:nvPr/>
        </p:nvSpPr>
        <p:spPr>
          <a:xfrm>
            <a:off x="749808" y="5605272"/>
            <a:ext cx="3099816" cy="274320"/>
          </a:xfrm>
          <a:prstGeom prst="rect">
            <a:avLst/>
          </a:prstGeom>
          <a:noFill/>
          <a:ln/>
        </p:spPr>
        <p:txBody>
          <a:bodyPr wrap="square" rtlCol="0" anchor="ctr"/>
          <a:lstStyle/>
          <a:p>
            <a:pPr indent="0" marL="0">
              <a:buNone/>
            </a:pPr>
            <a:r>
              <a:rPr lang="en-US" sz="950" b="1" spc="100" kern="0" dirty="0">
                <a:solidFill>
                  <a:srgbClr val="D7263D"/>
                </a:solidFill>
                <a:latin typeface="Calibri" pitchFamily="34" charset="0"/>
                <a:ea typeface="Calibri" pitchFamily="34" charset="-122"/>
                <a:cs typeface="Calibri" pitchFamily="34" charset="-120"/>
              </a:rPr>
              <a:t>SCHEDULE</a:t>
            </a:r>
            <a:endParaRPr lang="en-US" sz="950" dirty="0"/>
          </a:p>
        </p:txBody>
      </p:sp>
      <p:sp>
        <p:nvSpPr>
          <p:cNvPr id="32" name="Text 27"/>
          <p:cNvSpPr/>
          <p:nvPr/>
        </p:nvSpPr>
        <p:spPr>
          <a:xfrm>
            <a:off x="749808" y="5870448"/>
            <a:ext cx="3099816" cy="320040"/>
          </a:xfrm>
          <a:prstGeom prst="rect">
            <a:avLst/>
          </a:prstGeom>
          <a:noFill/>
          <a:ln/>
        </p:spPr>
        <p:txBody>
          <a:bodyPr wrap="square" rtlCol="0" anchor="ctr"/>
          <a:lstStyle/>
          <a:p>
            <a:pPr indent="0" marL="0">
              <a:buNone/>
            </a:pPr>
            <a:r>
              <a:rPr lang="en-US" sz="1200" dirty="0">
                <a:solidFill>
                  <a:srgbClr val="141414"/>
                </a:solidFill>
                <a:latin typeface="Calibri" pitchFamily="34" charset="0"/>
                <a:ea typeface="Calibri" pitchFamily="34" charset="-122"/>
                <a:cs typeface="Calibri" pitchFamily="34" charset="-120"/>
              </a:rPr>
              <a:t>Manual trigger</a:t>
            </a:r>
            <a:endParaRPr lang="en-US" sz="1200" dirty="0"/>
          </a:p>
        </p:txBody>
      </p:sp>
      <p:sp>
        <p:nvSpPr>
          <p:cNvPr id="33" name="Shape 28"/>
          <p:cNvSpPr/>
          <p:nvPr/>
        </p:nvSpPr>
        <p:spPr>
          <a:xfrm>
            <a:off x="4233672" y="5486400"/>
            <a:ext cx="3502152" cy="777240"/>
          </a:xfrm>
          <a:prstGeom prst="roundRect">
            <a:avLst>
              <a:gd name="adj" fmla="val 8235"/>
            </a:avLst>
          </a:prstGeom>
          <a:solidFill>
            <a:srgbClr val="FFFFFF"/>
          </a:solidFill>
          <a:ln w="12700">
            <a:solidFill>
              <a:srgbClr val="E2E2E2"/>
            </a:solidFill>
            <a:prstDash val="solid"/>
          </a:ln>
        </p:spPr>
      </p:sp>
      <p:sp>
        <p:nvSpPr>
          <p:cNvPr id="34" name="Text 29"/>
          <p:cNvSpPr/>
          <p:nvPr/>
        </p:nvSpPr>
        <p:spPr>
          <a:xfrm>
            <a:off x="4434840" y="5605272"/>
            <a:ext cx="3099816" cy="274320"/>
          </a:xfrm>
          <a:prstGeom prst="rect">
            <a:avLst/>
          </a:prstGeom>
          <a:noFill/>
          <a:ln/>
        </p:spPr>
        <p:txBody>
          <a:bodyPr wrap="square" rtlCol="0" anchor="ctr"/>
          <a:lstStyle/>
          <a:p>
            <a:pPr indent="0" marL="0">
              <a:buNone/>
            </a:pPr>
            <a:r>
              <a:rPr lang="en-US" sz="950" b="1" spc="100" kern="0" dirty="0">
                <a:solidFill>
                  <a:srgbClr val="D7263D"/>
                </a:solidFill>
                <a:latin typeface="Calibri" pitchFamily="34" charset="0"/>
                <a:ea typeface="Calibri" pitchFamily="34" charset="-122"/>
                <a:cs typeface="Calibri" pitchFamily="34" charset="-120"/>
              </a:rPr>
              <a:t>RETRIES</a:t>
            </a:r>
            <a:endParaRPr lang="en-US" sz="950" dirty="0"/>
          </a:p>
        </p:txBody>
      </p:sp>
      <p:sp>
        <p:nvSpPr>
          <p:cNvPr id="35" name="Text 30"/>
          <p:cNvSpPr/>
          <p:nvPr/>
        </p:nvSpPr>
        <p:spPr>
          <a:xfrm>
            <a:off x="4434840" y="5870448"/>
            <a:ext cx="3099816" cy="320040"/>
          </a:xfrm>
          <a:prstGeom prst="rect">
            <a:avLst/>
          </a:prstGeom>
          <a:noFill/>
          <a:ln/>
        </p:spPr>
        <p:txBody>
          <a:bodyPr wrap="square" rtlCol="0" anchor="ctr"/>
          <a:lstStyle/>
          <a:p>
            <a:pPr indent="0" marL="0">
              <a:buNone/>
            </a:pPr>
            <a:r>
              <a:rPr lang="en-US" sz="1200" dirty="0">
                <a:solidFill>
                  <a:srgbClr val="141414"/>
                </a:solidFill>
                <a:latin typeface="Calibri" pitchFamily="34" charset="0"/>
                <a:ea typeface="Calibri" pitchFamily="34" charset="-122"/>
                <a:cs typeface="Calibri" pitchFamily="34" charset="-120"/>
              </a:rPr>
              <a:t>1, with 1-minute delay</a:t>
            </a:r>
            <a:endParaRPr lang="en-US" sz="1200" dirty="0"/>
          </a:p>
        </p:txBody>
      </p:sp>
      <p:sp>
        <p:nvSpPr>
          <p:cNvPr id="36" name="Shape 31"/>
          <p:cNvSpPr/>
          <p:nvPr/>
        </p:nvSpPr>
        <p:spPr>
          <a:xfrm>
            <a:off x="7918704" y="5486400"/>
            <a:ext cx="3502152" cy="777240"/>
          </a:xfrm>
          <a:prstGeom prst="roundRect">
            <a:avLst>
              <a:gd name="adj" fmla="val 8235"/>
            </a:avLst>
          </a:prstGeom>
          <a:solidFill>
            <a:srgbClr val="FFFFFF"/>
          </a:solidFill>
          <a:ln w="12700">
            <a:solidFill>
              <a:srgbClr val="E2E2E2"/>
            </a:solidFill>
            <a:prstDash val="solid"/>
          </a:ln>
        </p:spPr>
      </p:sp>
      <p:sp>
        <p:nvSpPr>
          <p:cNvPr id="37" name="Text 32"/>
          <p:cNvSpPr/>
          <p:nvPr/>
        </p:nvSpPr>
        <p:spPr>
          <a:xfrm>
            <a:off x="8119872" y="5605272"/>
            <a:ext cx="3099816" cy="274320"/>
          </a:xfrm>
          <a:prstGeom prst="rect">
            <a:avLst/>
          </a:prstGeom>
          <a:noFill/>
          <a:ln/>
        </p:spPr>
        <p:txBody>
          <a:bodyPr wrap="square" rtlCol="0" anchor="ctr"/>
          <a:lstStyle/>
          <a:p>
            <a:pPr indent="0" marL="0">
              <a:buNone/>
            </a:pPr>
            <a:r>
              <a:rPr lang="en-US" sz="950" b="1" spc="100" kern="0" dirty="0">
                <a:solidFill>
                  <a:srgbClr val="D7263D"/>
                </a:solidFill>
                <a:latin typeface="Calibri" pitchFamily="34" charset="0"/>
                <a:ea typeface="Calibri" pitchFamily="34" charset="-122"/>
                <a:cs typeface="Calibri" pitchFamily="34" charset="-120"/>
              </a:rPr>
              <a:t>FAILURE ALERTS</a:t>
            </a:r>
            <a:endParaRPr lang="en-US" sz="950" dirty="0"/>
          </a:p>
        </p:txBody>
      </p:sp>
      <p:sp>
        <p:nvSpPr>
          <p:cNvPr id="38" name="Text 33"/>
          <p:cNvSpPr/>
          <p:nvPr/>
        </p:nvSpPr>
        <p:spPr>
          <a:xfrm>
            <a:off x="8119872" y="5870448"/>
            <a:ext cx="3099816" cy="320040"/>
          </a:xfrm>
          <a:prstGeom prst="rect">
            <a:avLst/>
          </a:prstGeom>
          <a:noFill/>
          <a:ln/>
        </p:spPr>
        <p:txBody>
          <a:bodyPr wrap="square" rtlCol="0" anchor="ctr"/>
          <a:lstStyle/>
          <a:p>
            <a:pPr indent="0" marL="0">
              <a:buNone/>
            </a:pPr>
            <a:r>
              <a:rPr lang="en-US" sz="1200" dirty="0">
                <a:solidFill>
                  <a:srgbClr val="141414"/>
                </a:solidFill>
                <a:latin typeface="Calibri" pitchFamily="34" charset="0"/>
                <a:ea typeface="Calibri" pitchFamily="34" charset="-122"/>
                <a:cs typeface="Calibri" pitchFamily="34" charset="-120"/>
              </a:rPr>
              <a:t>Email on failure (configurable)</a:t>
            </a:r>
            <a:endParaRPr lang="en-US" sz="1200" dirty="0"/>
          </a:p>
        </p:txBody>
      </p:sp>
      <p:sp>
        <p:nvSpPr>
          <p:cNvPr id="39" name="Text 3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180" kern="0" dirty="0">
                <a:solidFill>
                  <a:srgbClr val="D7263D"/>
                </a:solidFill>
                <a:latin typeface="Calibri" pitchFamily="34" charset="0"/>
                <a:ea typeface="Calibri" pitchFamily="34" charset="-122"/>
                <a:cs typeface="Calibri" pitchFamily="34" charset="-120"/>
              </a:rPr>
              <a:t>STEP 6 OF 7  —  VISUALIZATION</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Superset — where the data gets seen</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txBody>
          <a:bodyPr/>
          <a:p/>
        </p:txBody>
      </p:sp>
      <p:sp>
        <p:nvSpPr>
          <p:cNvPr id="5" name="Shape 3"/>
          <p:cNvSpPr/>
          <p:nvPr/>
        </p:nvSpPr>
        <p:spPr>
          <a:xfrm>
            <a:off x="9646920" y="530352"/>
            <a:ext cx="310896" cy="82296"/>
          </a:xfrm>
          <a:prstGeom prst="roundRect">
            <a:avLst>
              <a:gd name="adj" fmla="val 50000"/>
            </a:avLst>
          </a:prstGeom>
          <a:solidFill>
            <a:srgbClr val="3A3A3A"/>
          </a:solidFill>
          <a:ln/>
        </p:spPr>
        <p:txBody>
          <a:bodyPr/>
          <a:p/>
        </p:txBody>
      </p:sp>
      <p:sp>
        <p:nvSpPr>
          <p:cNvPr id="6" name="Shape 4"/>
          <p:cNvSpPr/>
          <p:nvPr/>
        </p:nvSpPr>
        <p:spPr>
          <a:xfrm>
            <a:off x="10067544" y="530352"/>
            <a:ext cx="310896" cy="82296"/>
          </a:xfrm>
          <a:prstGeom prst="roundRect">
            <a:avLst>
              <a:gd name="adj" fmla="val 50000"/>
            </a:avLst>
          </a:prstGeom>
          <a:solidFill>
            <a:srgbClr val="3A3A3A"/>
          </a:solidFill>
          <a:ln/>
        </p:spPr>
        <p:txBody>
          <a:bodyPr/>
          <a:p/>
        </p:txBody>
      </p:sp>
      <p:sp>
        <p:nvSpPr>
          <p:cNvPr id="7" name="Shape 5"/>
          <p:cNvSpPr/>
          <p:nvPr/>
        </p:nvSpPr>
        <p:spPr>
          <a:xfrm>
            <a:off x="10488168" y="530352"/>
            <a:ext cx="310896" cy="82296"/>
          </a:xfrm>
          <a:prstGeom prst="roundRect">
            <a:avLst>
              <a:gd name="adj" fmla="val 50000"/>
            </a:avLst>
          </a:prstGeom>
          <a:solidFill>
            <a:srgbClr val="3A3A3A"/>
          </a:solidFill>
          <a:ln/>
        </p:spPr>
        <p:txBody>
          <a:bodyPr/>
          <a:p/>
        </p:txBody>
      </p:sp>
      <p:sp>
        <p:nvSpPr>
          <p:cNvPr id="8" name="Shape 6"/>
          <p:cNvSpPr/>
          <p:nvPr/>
        </p:nvSpPr>
        <p:spPr>
          <a:xfrm>
            <a:off x="10908792" y="530352"/>
            <a:ext cx="310896" cy="82296"/>
          </a:xfrm>
          <a:prstGeom prst="roundRect">
            <a:avLst>
              <a:gd name="adj" fmla="val 50000"/>
            </a:avLst>
          </a:prstGeom>
          <a:solidFill>
            <a:srgbClr val="3A3A3A"/>
          </a:solidFill>
          <a:ln/>
        </p:spPr>
        <p:txBody>
          <a:bodyPr/>
          <a:p/>
        </p:txBody>
      </p:sp>
      <p:sp>
        <p:nvSpPr>
          <p:cNvPr id="9" name="Shape 7"/>
          <p:cNvSpPr/>
          <p:nvPr/>
        </p:nvSpPr>
        <p:spPr>
          <a:xfrm>
            <a:off x="11329416" y="530352"/>
            <a:ext cx="310896" cy="82296"/>
          </a:xfrm>
          <a:prstGeom prst="roundRect">
            <a:avLst>
              <a:gd name="adj" fmla="val 50000"/>
            </a:avLst>
          </a:prstGeom>
          <a:solidFill>
            <a:srgbClr val="D7263D"/>
          </a:solidFill>
          <a:ln/>
        </p:spPr>
        <p:txBody>
          <a:bodyPr/>
          <a:p/>
        </p:txBody>
      </p:sp>
      <p:sp>
        <p:nvSpPr>
          <p:cNvPr id="10" name="Shape 8"/>
          <p:cNvSpPr/>
          <p:nvPr/>
        </p:nvSpPr>
        <p:spPr>
          <a:xfrm>
            <a:off x="548640" y="1600200"/>
            <a:ext cx="5349240" cy="4526280"/>
          </a:xfrm>
          <a:prstGeom prst="roundRect">
            <a:avLst>
              <a:gd name="adj" fmla="val 1818"/>
            </a:avLst>
          </a:prstGeom>
          <a:solidFill>
            <a:srgbClr val="1E1E1E"/>
          </a:solidFill>
          <a:ln/>
        </p:spPr>
        <p:txBody>
          <a:bodyPr/>
          <a:p/>
        </p:txBody>
      </p:sp>
      <p:sp>
        <p:nvSpPr>
          <p:cNvPr id="11" name="Shape 9"/>
          <p:cNvSpPr/>
          <p:nvPr/>
        </p:nvSpPr>
        <p:spPr>
          <a:xfrm>
            <a:off x="822960" y="1856232"/>
            <a:ext cx="548640" cy="548640"/>
          </a:xfrm>
          <a:prstGeom prst="ellipse">
            <a:avLst/>
          </a:prstGeom>
          <a:solidFill>
            <a:srgbClr val="D7263D"/>
          </a:solidFill>
          <a:ln/>
        </p:spPr>
        <p:txBody>
          <a:bodyPr/>
          <a:p/>
        </p:txBody>
      </p:sp>
      <p:pic>
        <p:nvPicPr>
          <p:cNvPr id="12" name="Image 0" descr="/home/claude/assets/superset.png">    </p:cNvPr>
          <p:cNvPicPr>
            <a:picLocks noChangeAspect="1"/>
          </p:cNvPicPr>
          <p:nvPr/>
        </p:nvPicPr>
        <p:blipFill>
          <a:blip r:embed="rId1"/>
          <a:stretch>
            <a:fillRect/>
          </a:stretch>
        </p:blipFill>
        <p:spPr>
          <a:xfrm>
            <a:off x="941832" y="1975104"/>
            <a:ext cx="310896" cy="310896"/>
          </a:xfrm>
          <a:prstGeom prst="rect">
            <a:avLst/>
          </a:prstGeom>
        </p:spPr>
      </p:pic>
      <p:sp>
        <p:nvSpPr>
          <p:cNvPr id="13" name="Text 10"/>
          <p:cNvSpPr/>
          <p:nvPr/>
        </p:nvSpPr>
        <p:spPr>
          <a:xfrm>
            <a:off x="1554480" y="1874520"/>
            <a:ext cx="4160520"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Dashboards on top of ClickHouse</a:t>
            </a:r>
            <a:endParaRPr lang="en-US" sz="1450" dirty="0"/>
          </a:p>
        </p:txBody>
      </p:sp>
      <p:sp>
        <p:nvSpPr>
          <p:cNvPr id="14" name="Text 11"/>
          <p:cNvSpPr/>
          <p:nvPr/>
        </p:nvSpPr>
        <p:spPr>
          <a:xfrm>
            <a:off x="841248" y="2606040"/>
            <a:ext cx="4764024" cy="914400"/>
          </a:xfrm>
          <a:prstGeom prst="rect">
            <a:avLst/>
          </a:prstGeom>
          <a:noFill/>
          <a:ln/>
        </p:spPr>
        <p:txBody>
          <a:bodyPr wrap="square" rtlCol="0" anchor="ctr"/>
          <a:lstStyle/>
          <a:p>
            <a:pPr indent="0" marL="0">
              <a:lnSpc>
                <a:spcPct val="130000"/>
              </a:lnSpc>
              <a:buNone/>
            </a:pPr>
            <a:r>
              <a:rPr lang="en-US" sz="1200" dirty="0">
                <a:solidFill>
                  <a:srgbClr val="D8D8D8"/>
                </a:solidFill>
                <a:latin typeface="Calibri" pitchFamily="34" charset="0"/>
                <a:ea typeface="Calibri" pitchFamily="34" charset="-122"/>
                <a:cs typeface="Calibri" pitchFamily="34" charset="-120"/>
              </a:rPr>
              <a:t>Superset connects directly to ClickHouse and turns the analytical queries from the previous step into interactive charts stakeholders can explore themselves — no SQL required.</a:t>
            </a:r>
            <a:endParaRPr lang="en-US" sz="1200" dirty="0"/>
          </a:p>
        </p:txBody>
      </p:sp>
      <p:sp>
        <p:nvSpPr>
          <p:cNvPr id="15" name="Shape 12"/>
          <p:cNvSpPr/>
          <p:nvPr/>
        </p:nvSpPr>
        <p:spPr>
          <a:xfrm>
            <a:off x="841248" y="3831336"/>
            <a:ext cx="82296" cy="82296"/>
          </a:xfrm>
          <a:prstGeom prst="ellipse">
            <a:avLst/>
          </a:prstGeom>
          <a:solidFill>
            <a:srgbClr val="D7263D"/>
          </a:solidFill>
          <a:ln/>
        </p:spPr>
        <p:txBody>
          <a:bodyPr/>
          <a:p/>
        </p:txBody>
      </p:sp>
      <p:sp>
        <p:nvSpPr>
          <p:cNvPr id="16" name="Text 13"/>
          <p:cNvSpPr/>
          <p:nvPr/>
        </p:nvSpPr>
        <p:spPr>
          <a:xfrm>
            <a:off x="1051560" y="3694176"/>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Revenue monitoring</a:t>
            </a:r>
            <a:endParaRPr lang="en-US" sz="1250" dirty="0"/>
          </a:p>
        </p:txBody>
      </p:sp>
      <p:sp>
        <p:nvSpPr>
          <p:cNvPr id="17" name="Shape 14"/>
          <p:cNvSpPr/>
          <p:nvPr/>
        </p:nvSpPr>
        <p:spPr>
          <a:xfrm>
            <a:off x="841248" y="4215384"/>
            <a:ext cx="82296" cy="82296"/>
          </a:xfrm>
          <a:prstGeom prst="ellipse">
            <a:avLst/>
          </a:prstGeom>
          <a:solidFill>
            <a:srgbClr val="D7263D"/>
          </a:solidFill>
          <a:ln/>
        </p:spPr>
        <p:txBody>
          <a:bodyPr/>
          <a:p/>
        </p:txBody>
      </p:sp>
      <p:sp>
        <p:nvSpPr>
          <p:cNvPr id="18" name="Text 15"/>
          <p:cNvSpPr/>
          <p:nvPr/>
        </p:nvSpPr>
        <p:spPr>
          <a:xfrm>
            <a:off x="1051560" y="4078224"/>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Demand analysis</a:t>
            </a:r>
            <a:endParaRPr lang="en-US" sz="1250" dirty="0"/>
          </a:p>
        </p:txBody>
      </p:sp>
      <p:sp>
        <p:nvSpPr>
          <p:cNvPr id="19" name="Shape 16"/>
          <p:cNvSpPr/>
          <p:nvPr/>
        </p:nvSpPr>
        <p:spPr>
          <a:xfrm>
            <a:off x="841248" y="4599432"/>
            <a:ext cx="82296" cy="82296"/>
          </a:xfrm>
          <a:prstGeom prst="ellipse">
            <a:avLst/>
          </a:prstGeom>
          <a:solidFill>
            <a:srgbClr val="D7263D"/>
          </a:solidFill>
          <a:ln/>
        </p:spPr>
        <p:txBody>
          <a:bodyPr/>
          <a:p/>
        </p:txBody>
      </p:sp>
      <p:sp>
        <p:nvSpPr>
          <p:cNvPr id="20" name="Text 17"/>
          <p:cNvSpPr/>
          <p:nvPr/>
        </p:nvSpPr>
        <p:spPr>
          <a:xfrm>
            <a:off x="1051560" y="4462272"/>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Peak-hour patterns</a:t>
            </a:r>
            <a:endParaRPr lang="en-US" sz="1250" dirty="0"/>
          </a:p>
        </p:txBody>
      </p:sp>
      <p:sp>
        <p:nvSpPr>
          <p:cNvPr id="21" name="Shape 18"/>
          <p:cNvSpPr/>
          <p:nvPr/>
        </p:nvSpPr>
        <p:spPr>
          <a:xfrm>
            <a:off x="841248" y="4983480"/>
            <a:ext cx="82296" cy="82296"/>
          </a:xfrm>
          <a:prstGeom prst="ellipse">
            <a:avLst/>
          </a:prstGeom>
          <a:solidFill>
            <a:srgbClr val="D7263D"/>
          </a:solidFill>
          <a:ln/>
        </p:spPr>
        <p:txBody>
          <a:bodyPr/>
          <a:p/>
        </p:txBody>
      </p:sp>
      <p:sp>
        <p:nvSpPr>
          <p:cNvPr id="22" name="Text 19"/>
          <p:cNvSpPr/>
          <p:nvPr/>
        </p:nvSpPr>
        <p:spPr>
          <a:xfrm>
            <a:off x="1051560" y="4846320"/>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Pickup / drop-off zone insights</a:t>
            </a:r>
            <a:endParaRPr lang="en-US" sz="1250" dirty="0"/>
          </a:p>
        </p:txBody>
      </p:sp>
      <p:sp>
        <p:nvSpPr>
          <p:cNvPr id="23" name="Shape 20"/>
          <p:cNvSpPr/>
          <p:nvPr/>
        </p:nvSpPr>
        <p:spPr>
          <a:xfrm>
            <a:off x="841248" y="5367528"/>
            <a:ext cx="82296" cy="82296"/>
          </a:xfrm>
          <a:prstGeom prst="ellipse">
            <a:avLst/>
          </a:prstGeom>
          <a:solidFill>
            <a:srgbClr val="D7263D"/>
          </a:solidFill>
          <a:ln/>
        </p:spPr>
        <p:txBody>
          <a:bodyPr/>
          <a:p/>
        </p:txBody>
      </p:sp>
      <p:sp>
        <p:nvSpPr>
          <p:cNvPr id="24" name="Text 21"/>
          <p:cNvSpPr/>
          <p:nvPr/>
        </p:nvSpPr>
        <p:spPr>
          <a:xfrm>
            <a:off x="1051560" y="5230368"/>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Operational KPIs</a:t>
            </a:r>
            <a:endParaRPr lang="en-US" sz="1250" dirty="0"/>
          </a:p>
        </p:txBody>
      </p:sp>
      <p:sp>
        <p:nvSpPr>
          <p:cNvPr id="25" name="Shape 22"/>
          <p:cNvSpPr/>
          <p:nvPr/>
        </p:nvSpPr>
        <p:spPr>
          <a:xfrm>
            <a:off x="841248" y="5751576"/>
            <a:ext cx="82296" cy="82296"/>
          </a:xfrm>
          <a:prstGeom prst="ellipse">
            <a:avLst/>
          </a:prstGeom>
          <a:solidFill>
            <a:srgbClr val="D7263D"/>
          </a:solidFill>
          <a:ln/>
        </p:spPr>
        <p:txBody>
          <a:bodyPr/>
          <a:p/>
        </p:txBody>
      </p:sp>
      <p:sp>
        <p:nvSpPr>
          <p:cNvPr id="26" name="Text 23"/>
          <p:cNvSpPr/>
          <p:nvPr/>
        </p:nvSpPr>
        <p:spPr>
          <a:xfrm>
            <a:off x="1051560" y="5614416"/>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Trend &amp; time-series monitoring</a:t>
            </a:r>
            <a:endParaRPr lang="en-US" sz="1250" dirty="0"/>
          </a:p>
        </p:txBody>
      </p:sp>
      <p:sp>
        <p:nvSpPr>
          <p:cNvPr id="27" name="Shape 24"/>
          <p:cNvSpPr/>
          <p:nvPr/>
        </p:nvSpPr>
        <p:spPr>
          <a:xfrm>
            <a:off x="6172200" y="1600200"/>
            <a:ext cx="5468112" cy="4526280"/>
          </a:xfrm>
          <a:prstGeom prst="roundRect">
            <a:avLst>
              <a:gd name="adj" fmla="val 1818"/>
            </a:avLst>
          </a:prstGeom>
          <a:solidFill>
            <a:srgbClr val="FFFFFF"/>
          </a:solidFill>
          <a:ln/>
        </p:spPr>
        <p:txBody>
          <a:bodyPr/>
          <a:p/>
        </p:txBody>
      </p:sp>
      <p:sp>
        <p:nvSpPr>
          <p:cNvPr id="28" name="Text 25"/>
          <p:cNvSpPr/>
          <p:nvPr/>
        </p:nvSpPr>
        <p:spPr>
          <a:xfrm>
            <a:off x="6428232" y="1801368"/>
            <a:ext cx="4956048" cy="274320"/>
          </a:xfrm>
          <a:prstGeom prst="rect">
            <a:avLst/>
          </a:prstGeom>
          <a:noFill/>
          <a:ln/>
        </p:spPr>
        <p:txBody>
          <a:bodyPr wrap="square" rtlCol="0" anchor="ctr"/>
          <a:lstStyle/>
          <a:p>
            <a:pPr indent="0" marL="0">
              <a:buNone/>
            </a:pPr>
            <a:r>
              <a:rPr lang="en-US" sz="1050" b="1" spc="130" kern="0" dirty="0">
                <a:solidFill>
                  <a:srgbClr val="D7263D"/>
                </a:solidFill>
                <a:latin typeface="Calibri" pitchFamily="34" charset="0"/>
                <a:ea typeface="Calibri" pitchFamily="34" charset="-122"/>
                <a:cs typeface="Calibri" pitchFamily="34" charset="-120"/>
              </a:rPr>
              <a:t>LIVE DASHBOARD — PREVIEW</a:t>
            </a:r>
            <a:endParaRPr lang="en-US" sz="1050" dirty="0"/>
          </a:p>
        </p:txBody>
      </p:sp>
      <p:sp>
        <p:nvSpPr>
          <p:cNvPr id="29" name="Shape 26"/>
          <p:cNvSpPr/>
          <p:nvPr/>
        </p:nvSpPr>
        <p:spPr>
          <a:xfrm>
            <a:off x="6629400" y="4005072"/>
            <a:ext cx="522514" cy="384048"/>
          </a:xfrm>
          <a:prstGeom prst="roundRect">
            <a:avLst>
              <a:gd name="adj" fmla="val 7143"/>
            </a:avLst>
          </a:prstGeom>
          <a:solidFill>
            <a:srgbClr val="1E1E1E"/>
          </a:solidFill>
          <a:ln/>
        </p:spPr>
        <p:txBody>
          <a:bodyPr/>
          <a:p/>
        </p:txBody>
      </p:sp>
      <p:sp>
        <p:nvSpPr>
          <p:cNvPr id="30" name="Shape 27"/>
          <p:cNvSpPr/>
          <p:nvPr/>
        </p:nvSpPr>
        <p:spPr>
          <a:xfrm>
            <a:off x="7279930" y="3785616"/>
            <a:ext cx="522514" cy="603504"/>
          </a:xfrm>
          <a:prstGeom prst="roundRect">
            <a:avLst>
              <a:gd name="adj" fmla="val 5250"/>
            </a:avLst>
          </a:prstGeom>
          <a:solidFill>
            <a:srgbClr val="1E1E1E"/>
          </a:solidFill>
          <a:ln/>
        </p:spPr>
        <p:txBody>
          <a:bodyPr/>
          <a:p/>
        </p:txBody>
      </p:sp>
      <p:sp>
        <p:nvSpPr>
          <p:cNvPr id="31" name="Shape 28"/>
          <p:cNvSpPr/>
          <p:nvPr/>
        </p:nvSpPr>
        <p:spPr>
          <a:xfrm>
            <a:off x="7930461" y="3928262"/>
            <a:ext cx="522514" cy="460858"/>
          </a:xfrm>
          <a:prstGeom prst="roundRect">
            <a:avLst>
              <a:gd name="adj" fmla="val 5952"/>
            </a:avLst>
          </a:prstGeom>
          <a:solidFill>
            <a:srgbClr val="1E1E1E"/>
          </a:solidFill>
          <a:ln/>
        </p:spPr>
        <p:txBody>
          <a:bodyPr/>
          <a:p/>
        </p:txBody>
      </p:sp>
      <p:sp>
        <p:nvSpPr>
          <p:cNvPr id="32" name="Shape 29"/>
          <p:cNvSpPr/>
          <p:nvPr/>
        </p:nvSpPr>
        <p:spPr>
          <a:xfrm>
            <a:off x="8580991" y="3599078"/>
            <a:ext cx="522514" cy="790042"/>
          </a:xfrm>
          <a:prstGeom prst="roundRect">
            <a:avLst>
              <a:gd name="adj" fmla="val 5250"/>
            </a:avLst>
          </a:prstGeom>
          <a:solidFill>
            <a:srgbClr val="1E1E1E"/>
          </a:solidFill>
          <a:ln/>
        </p:spPr>
        <p:txBody>
          <a:bodyPr/>
          <a:p/>
        </p:txBody>
      </p:sp>
      <p:sp>
        <p:nvSpPr>
          <p:cNvPr id="33" name="Shape 30"/>
          <p:cNvSpPr/>
          <p:nvPr/>
        </p:nvSpPr>
        <p:spPr>
          <a:xfrm>
            <a:off x="9231521" y="3401568"/>
            <a:ext cx="522514" cy="987552"/>
          </a:xfrm>
          <a:prstGeom prst="roundRect">
            <a:avLst>
              <a:gd name="adj" fmla="val 5250"/>
            </a:avLst>
          </a:prstGeom>
          <a:solidFill>
            <a:srgbClr val="D7263D"/>
          </a:solidFill>
          <a:ln/>
        </p:spPr>
        <p:txBody>
          <a:bodyPr/>
          <a:p/>
        </p:txBody>
      </p:sp>
      <p:sp>
        <p:nvSpPr>
          <p:cNvPr id="34" name="Shape 31"/>
          <p:cNvSpPr/>
          <p:nvPr/>
        </p:nvSpPr>
        <p:spPr>
          <a:xfrm>
            <a:off x="9882051" y="3730752"/>
            <a:ext cx="522514" cy="658368"/>
          </a:xfrm>
          <a:prstGeom prst="roundRect">
            <a:avLst>
              <a:gd name="adj" fmla="val 5250"/>
            </a:avLst>
          </a:prstGeom>
          <a:solidFill>
            <a:srgbClr val="1E1E1E"/>
          </a:solidFill>
          <a:ln/>
        </p:spPr>
        <p:txBody>
          <a:bodyPr/>
          <a:p/>
        </p:txBody>
      </p:sp>
      <p:sp>
        <p:nvSpPr>
          <p:cNvPr id="35" name="Shape 32"/>
          <p:cNvSpPr/>
          <p:nvPr/>
        </p:nvSpPr>
        <p:spPr>
          <a:xfrm>
            <a:off x="10532582" y="3862426"/>
            <a:ext cx="522514" cy="526694"/>
          </a:xfrm>
          <a:prstGeom prst="roundRect">
            <a:avLst>
              <a:gd name="adj" fmla="val 5250"/>
            </a:avLst>
          </a:prstGeom>
          <a:solidFill>
            <a:srgbClr val="1E1E1E"/>
          </a:solidFill>
          <a:ln/>
        </p:spPr>
        <p:txBody>
          <a:bodyPr/>
          <a:p/>
        </p:txBody>
      </p:sp>
      <p:sp>
        <p:nvSpPr>
          <p:cNvPr id="36" name="Shape 33"/>
          <p:cNvSpPr/>
          <p:nvPr/>
        </p:nvSpPr>
        <p:spPr>
          <a:xfrm>
            <a:off x="6537960" y="4389120"/>
            <a:ext cx="4736592" cy="0"/>
          </a:xfrm>
          <a:prstGeom prst="line">
            <a:avLst/>
          </a:prstGeom>
          <a:noFill/>
          <a:ln w="12700">
            <a:solidFill>
              <a:srgbClr val="E2E2E2"/>
            </a:solidFill>
            <a:prstDash val="solid"/>
          </a:ln>
        </p:spPr>
        <p:txBody>
          <a:bodyPr/>
          <a:p/>
        </p:txBody>
      </p:sp>
      <p:sp>
        <p:nvSpPr>
          <p:cNvPr id="37" name="Text 34"/>
          <p:cNvSpPr/>
          <p:nvPr/>
        </p:nvSpPr>
        <p:spPr>
          <a:xfrm>
            <a:off x="6428232" y="4498848"/>
            <a:ext cx="4956048" cy="274320"/>
          </a:xfrm>
          <a:prstGeom prst="rect">
            <a:avLst/>
          </a:prstGeom>
          <a:noFill/>
          <a:ln/>
        </p:spPr>
        <p:txBody>
          <a:bodyPr wrap="square"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Trip volume by day (illustrative)</a:t>
            </a:r>
            <a:endParaRPr lang="en-US" sz="1000" dirty="0"/>
          </a:p>
        </p:txBody>
      </p:sp>
      <p:sp>
        <p:nvSpPr>
          <p:cNvPr id="38" name="Shape 35"/>
          <p:cNvSpPr/>
          <p:nvPr/>
        </p:nvSpPr>
        <p:spPr>
          <a:xfrm>
            <a:off x="6428232" y="2240280"/>
            <a:ext cx="1560576" cy="914400"/>
          </a:xfrm>
          <a:prstGeom prst="roundRect">
            <a:avLst>
              <a:gd name="adj" fmla="val 7000"/>
            </a:avLst>
          </a:prstGeom>
          <a:solidFill>
            <a:srgbClr val="FAFAFA"/>
          </a:solidFill>
          <a:ln w="12700">
            <a:solidFill>
              <a:srgbClr val="E2E2E2"/>
            </a:solidFill>
            <a:prstDash val="solid"/>
          </a:ln>
        </p:spPr>
        <p:txBody>
          <a:bodyPr/>
          <a:p/>
        </p:txBody>
      </p:sp>
      <p:sp>
        <p:nvSpPr>
          <p:cNvPr id="39" name="Text 36"/>
          <p:cNvSpPr/>
          <p:nvPr/>
        </p:nvSpPr>
        <p:spPr>
          <a:xfrm>
            <a:off x="6428232" y="2331720"/>
            <a:ext cx="1560576" cy="411480"/>
          </a:xfrm>
          <a:prstGeom prst="rect">
            <a:avLst/>
          </a:prstGeom>
          <a:noFill/>
          <a:ln/>
        </p:spPr>
        <p:txBody>
          <a:bodyPr wrap="square" rtlCol="0" anchor="ctr"/>
          <a:lstStyle/>
          <a:p>
            <a:pPr algn="ctr" indent="0" marL="0">
              <a:buNone/>
            </a:pPr>
            <a:r>
              <a:rPr lang="en-US" sz="1900" b="1" dirty="0">
                <a:solidFill>
                  <a:srgbClr val="141414"/>
                </a:solidFill>
                <a:latin typeface="Bookman Old Style" pitchFamily="34" charset="0"/>
                <a:ea typeface="Bookman Old Style" pitchFamily="34" charset="-122"/>
                <a:cs typeface="Bookman Old Style" pitchFamily="34" charset="-120"/>
              </a:rPr>
              <a:t>150K+</a:t>
            </a:r>
            <a:endParaRPr lang="en-US" sz="1900" dirty="0"/>
          </a:p>
        </p:txBody>
      </p:sp>
      <p:sp>
        <p:nvSpPr>
          <p:cNvPr id="40" name="Text 37"/>
          <p:cNvSpPr/>
          <p:nvPr/>
        </p:nvSpPr>
        <p:spPr>
          <a:xfrm>
            <a:off x="6428232" y="2807208"/>
            <a:ext cx="1560576" cy="274320"/>
          </a:xfrm>
          <a:prstGeom prst="rect">
            <a:avLst/>
          </a:prstGeom>
          <a:noFill/>
          <a:ln/>
        </p:spPr>
        <p:txBody>
          <a:bodyPr wrap="square" rtlCol="0" anchor="ctr"/>
          <a:lstStyle/>
          <a:p>
            <a:pPr algn="ctr" indent="0" marL="0">
              <a:buNone/>
            </a:pPr>
            <a:r>
              <a:rPr lang="en-US" sz="850" spc="50" kern="0" dirty="0">
                <a:solidFill>
                  <a:srgbClr val="6B6B6B"/>
                </a:solidFill>
                <a:latin typeface="Calibri" pitchFamily="34" charset="0"/>
                <a:ea typeface="Calibri" pitchFamily="34" charset="-122"/>
                <a:cs typeface="Calibri" pitchFamily="34" charset="-120"/>
              </a:rPr>
              <a:t>TRIPS TODAY</a:t>
            </a:r>
            <a:endParaRPr lang="en-US" sz="850" dirty="0"/>
          </a:p>
        </p:txBody>
      </p:sp>
      <p:sp>
        <p:nvSpPr>
          <p:cNvPr id="41" name="Shape 38"/>
          <p:cNvSpPr/>
          <p:nvPr/>
        </p:nvSpPr>
        <p:spPr>
          <a:xfrm>
            <a:off x="8125968" y="2240280"/>
            <a:ext cx="1560576" cy="914400"/>
          </a:xfrm>
          <a:prstGeom prst="roundRect">
            <a:avLst>
              <a:gd name="adj" fmla="val 7000"/>
            </a:avLst>
          </a:prstGeom>
          <a:solidFill>
            <a:srgbClr val="FAFAFA"/>
          </a:solidFill>
          <a:ln w="12700">
            <a:solidFill>
              <a:srgbClr val="E2E2E2"/>
            </a:solidFill>
            <a:prstDash val="solid"/>
          </a:ln>
        </p:spPr>
        <p:txBody>
          <a:bodyPr/>
          <a:p/>
        </p:txBody>
      </p:sp>
      <p:sp>
        <p:nvSpPr>
          <p:cNvPr id="42" name="Text 39"/>
          <p:cNvSpPr/>
          <p:nvPr/>
        </p:nvSpPr>
        <p:spPr>
          <a:xfrm>
            <a:off x="8125968" y="2331720"/>
            <a:ext cx="1560576" cy="411480"/>
          </a:xfrm>
          <a:prstGeom prst="rect">
            <a:avLst/>
          </a:prstGeom>
          <a:noFill/>
          <a:ln/>
        </p:spPr>
        <p:txBody>
          <a:bodyPr wrap="square" rtlCol="0" anchor="ctr"/>
          <a:lstStyle/>
          <a:p>
            <a:pPr algn="ctr" indent="0" marL="0">
              <a:buNone/>
            </a:pPr>
            <a:r>
              <a:rPr lang="en-US" sz="1900" b="1" dirty="0">
                <a:solidFill>
                  <a:srgbClr val="141414"/>
                </a:solidFill>
                <a:latin typeface="Bookman Old Style" pitchFamily="34" charset="0"/>
                <a:ea typeface="Bookman Old Style" pitchFamily="34" charset="-122"/>
                <a:cs typeface="Bookman Old Style" pitchFamily="34" charset="-120"/>
              </a:rPr>
              <a:t>$18.1</a:t>
            </a:r>
            <a:endParaRPr lang="en-US" sz="1900" dirty="0"/>
          </a:p>
        </p:txBody>
      </p:sp>
      <p:sp>
        <p:nvSpPr>
          <p:cNvPr id="43" name="Text 40"/>
          <p:cNvSpPr/>
          <p:nvPr/>
        </p:nvSpPr>
        <p:spPr>
          <a:xfrm>
            <a:off x="8125968" y="2807208"/>
            <a:ext cx="1560576" cy="274320"/>
          </a:xfrm>
          <a:prstGeom prst="rect">
            <a:avLst/>
          </a:prstGeom>
          <a:noFill/>
          <a:ln/>
        </p:spPr>
        <p:txBody>
          <a:bodyPr wrap="square" rtlCol="0" anchor="ctr"/>
          <a:lstStyle/>
          <a:p>
            <a:pPr algn="ctr" indent="0" marL="0">
              <a:buNone/>
            </a:pPr>
            <a:r>
              <a:rPr lang="en-US" sz="850" spc="50" kern="0" dirty="0">
                <a:solidFill>
                  <a:srgbClr val="6B6B6B"/>
                </a:solidFill>
                <a:latin typeface="Calibri" pitchFamily="34" charset="0"/>
                <a:ea typeface="Calibri" pitchFamily="34" charset="-122"/>
                <a:cs typeface="Calibri" pitchFamily="34" charset="-120"/>
              </a:rPr>
              <a:t>AVG FARE</a:t>
            </a:r>
            <a:endParaRPr lang="en-US" sz="850" dirty="0"/>
          </a:p>
        </p:txBody>
      </p:sp>
      <p:sp>
        <p:nvSpPr>
          <p:cNvPr id="44" name="Shape 41"/>
          <p:cNvSpPr/>
          <p:nvPr/>
        </p:nvSpPr>
        <p:spPr>
          <a:xfrm>
            <a:off x="9823704" y="2240280"/>
            <a:ext cx="1560576" cy="914400"/>
          </a:xfrm>
          <a:prstGeom prst="roundRect">
            <a:avLst>
              <a:gd name="adj" fmla="val 7000"/>
            </a:avLst>
          </a:prstGeom>
          <a:solidFill>
            <a:srgbClr val="FAFAFA"/>
          </a:solidFill>
          <a:ln w="12700">
            <a:solidFill>
              <a:srgbClr val="E2E2E2"/>
            </a:solidFill>
            <a:prstDash val="solid"/>
          </a:ln>
        </p:spPr>
        <p:txBody>
          <a:bodyPr/>
          <a:p/>
        </p:txBody>
      </p:sp>
      <p:sp>
        <p:nvSpPr>
          <p:cNvPr id="45" name="Text 42"/>
          <p:cNvSpPr/>
          <p:nvPr/>
        </p:nvSpPr>
        <p:spPr>
          <a:xfrm>
            <a:off x="9823704" y="2331720"/>
            <a:ext cx="1560576" cy="411480"/>
          </a:xfrm>
          <a:prstGeom prst="rect">
            <a:avLst/>
          </a:prstGeom>
          <a:noFill/>
          <a:ln/>
        </p:spPr>
        <p:txBody>
          <a:bodyPr wrap="square" rtlCol="0" anchor="ctr"/>
          <a:lstStyle/>
          <a:p>
            <a:pPr algn="ctr" indent="0" marL="0">
              <a:buNone/>
            </a:pPr>
            <a:r>
              <a:rPr lang="en-US" sz="1900" b="1" dirty="0">
                <a:solidFill>
                  <a:srgbClr val="141414"/>
                </a:solidFill>
                <a:latin typeface="Bookman Old Style" pitchFamily="34" charset="0"/>
                <a:ea typeface="Bookman Old Style" pitchFamily="34" charset="-122"/>
                <a:cs typeface="Bookman Old Style" pitchFamily="34" charset="-120"/>
              </a:rPr>
              <a:t>4.2 min</a:t>
            </a:r>
            <a:endParaRPr lang="en-US" sz="1900" dirty="0"/>
          </a:p>
        </p:txBody>
      </p:sp>
      <p:sp>
        <p:nvSpPr>
          <p:cNvPr id="46" name="Text 43"/>
          <p:cNvSpPr/>
          <p:nvPr/>
        </p:nvSpPr>
        <p:spPr>
          <a:xfrm>
            <a:off x="9823704" y="2807208"/>
            <a:ext cx="1560576" cy="274320"/>
          </a:xfrm>
          <a:prstGeom prst="rect">
            <a:avLst/>
          </a:prstGeom>
          <a:noFill/>
          <a:ln/>
        </p:spPr>
        <p:txBody>
          <a:bodyPr wrap="square" rtlCol="0" anchor="ctr"/>
          <a:lstStyle/>
          <a:p>
            <a:pPr algn="ctr" indent="0" marL="0">
              <a:buNone/>
            </a:pPr>
            <a:r>
              <a:rPr lang="en-US" sz="850" spc="50" kern="0" dirty="0">
                <a:solidFill>
                  <a:srgbClr val="6B6B6B"/>
                </a:solidFill>
                <a:latin typeface="Calibri" pitchFamily="34" charset="0"/>
                <a:ea typeface="Calibri" pitchFamily="34" charset="-122"/>
                <a:cs typeface="Calibri" pitchFamily="34" charset="-120"/>
              </a:rPr>
              <a:t>AVG WAIT</a:t>
            </a:r>
            <a:endParaRPr lang="en-US" sz="850" dirty="0"/>
          </a:p>
        </p:txBody>
      </p:sp>
      <p:sp>
        <p:nvSpPr>
          <p:cNvPr id="47" name="Text 4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RESULTS &amp; VISUALIZATIONS</a:t>
            </a:r>
            <a:endParaRPr lang="en-US" sz="1200" dirty="0"/>
          </a:p>
        </p:txBody>
      </p:sp>
      <p:sp>
        <p:nvSpPr>
          <p:cNvPr id="3" name="Text 1"/>
          <p:cNvSpPr/>
          <p:nvPr/>
        </p:nvSpPr>
        <p:spPr>
          <a:xfrm>
            <a:off x="548640" y="749808"/>
            <a:ext cx="1088136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Demand patterns in the sample data</a:t>
            </a:r>
            <a:endParaRPr lang="en-US" sz="2800" dirty="0"/>
          </a:p>
        </p:txBody>
      </p:sp>
      <p:sp>
        <p:nvSpPr>
          <p:cNvPr id="4" name="Text 2"/>
          <p:cNvSpPr/>
          <p:nvPr/>
        </p:nvSpPr>
        <p:spPr>
          <a:xfrm>
            <a:off x="548640" y="1298448"/>
            <a:ext cx="1088136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Computed directly from the 35+ Million trips — Full Year 2025.</a:t>
            </a:r>
            <a:endParaRPr lang="en-US" sz="1150" dirty="0"/>
          </a:p>
        </p:txBody>
      </p:sp>
      <p:sp>
        <p:nvSpPr>
          <p:cNvPr id="5" name="Shape 3"/>
          <p:cNvSpPr/>
          <p:nvPr/>
        </p:nvSpPr>
        <p:spPr>
          <a:xfrm>
            <a:off x="548640" y="1783080"/>
            <a:ext cx="7360920" cy="3246120"/>
          </a:xfrm>
          <a:prstGeom prst="roundRect">
            <a:avLst>
              <a:gd name="adj" fmla="val 2254"/>
            </a:avLst>
          </a:prstGeom>
          <a:solidFill>
            <a:srgbClr val="FFFFFF"/>
          </a:solidFill>
          <a:ln w="12700">
            <a:solidFill>
              <a:srgbClr val="E2E2E2"/>
            </a:solidFill>
            <a:prstDash val="solid"/>
          </a:ln>
        </p:spPr>
        <p:txBody>
          <a:bodyPr/>
          <a:p/>
        </p:txBody>
      </p:sp>
      <p:sp>
        <p:nvSpPr>
          <p:cNvPr id="6" name="Text 4"/>
          <p:cNvSpPr/>
          <p:nvPr/>
        </p:nvSpPr>
        <p:spPr>
          <a:xfrm>
            <a:off x="777240" y="1947672"/>
            <a:ext cx="6903720" cy="292608"/>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Trips by hour of day</a:t>
            </a:r>
            <a:endParaRPr lang="en-US" sz="1300" dirty="0"/>
          </a:p>
        </p:txBody>
      </p:sp>
      <p:graphicFrame>
        <p:nvGraphicFramePr>
          <p:cNvPr id="7" name="Chart 0" descr=""/>
          <p:cNvGraphicFramePr/>
          <p:nvPr/>
        </p:nvGraphicFramePr>
        <p:xfrm>
          <a:off x="731520" y="2286000"/>
          <a:ext cx="6995160" cy="25603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92440" y="1783080"/>
            <a:ext cx="3547872" cy="3246120"/>
          </a:xfrm>
          <a:prstGeom prst="roundRect">
            <a:avLst>
              <a:gd name="adj" fmla="val 2254"/>
            </a:avLst>
          </a:prstGeom>
          <a:solidFill>
            <a:srgbClr val="141414"/>
          </a:solidFill>
          <a:ln/>
        </p:spPr>
        <p:txBody>
          <a:bodyPr/>
          <a:p/>
        </p:txBody>
      </p:sp>
      <p:sp>
        <p:nvSpPr>
          <p:cNvPr id="9" name="Text 6"/>
          <p:cNvSpPr/>
          <p:nvPr/>
        </p:nvSpPr>
        <p:spPr>
          <a:xfrm>
            <a:off x="8321040" y="1965960"/>
            <a:ext cx="3090672" cy="256032"/>
          </a:xfrm>
          <a:prstGeom prst="rect">
            <a:avLst/>
          </a:prstGeom>
          <a:noFill/>
          <a:ln/>
        </p:spPr>
        <p:txBody>
          <a:bodyPr wrap="square" rtlCol="0" anchor="ctr"/>
          <a:lstStyle/>
          <a:p>
            <a:pPr indent="0" marL="0">
              <a:buNone/>
            </a:pPr>
            <a:r>
              <a:rPr lang="en-US" sz="1000" b="1" spc="130" kern="0" dirty="0">
                <a:solidFill>
                  <a:srgbClr val="D7263D"/>
                </a:solidFill>
                <a:latin typeface="Calibri" pitchFamily="34" charset="0"/>
                <a:ea typeface="Calibri" pitchFamily="34" charset="-122"/>
                <a:cs typeface="Calibri" pitchFamily="34" charset="-120"/>
              </a:rPr>
              <a:t>KEY INSIGHT</a:t>
            </a:r>
            <a:endParaRPr lang="en-US" sz="1000" dirty="0"/>
          </a:p>
        </p:txBody>
      </p:sp>
      <p:sp>
        <p:nvSpPr>
          <p:cNvPr id="10" name="Text 7"/>
          <p:cNvSpPr/>
          <p:nvPr/>
        </p:nvSpPr>
        <p:spPr>
          <a:xfrm>
            <a:off x="8321040" y="2240280"/>
            <a:ext cx="3090672" cy="731520"/>
          </a:xfrm>
          <a:prstGeom prst="rect">
            <a:avLst/>
          </a:prstGeom>
          <a:noFill/>
          <a:ln/>
        </p:spPr>
        <p:txBody>
          <a:bodyPr wrap="square" rtlCol="0" anchor="ctr"/>
          <a:lstStyle/>
          <a:p>
            <a:pPr indent="0" marL="0">
              <a:lnSpc>
                <a:spcPct val="125000"/>
              </a:lnSpc>
              <a:buNone/>
            </a:pPr>
            <a:r>
              <a:rPr lang="en-US" sz="1200" dirty="0">
                <a:solidFill>
                  <a:srgbClr val="EAEAEA"/>
                </a:solidFill>
                <a:latin typeface="Calibri" pitchFamily="34" charset="0"/>
                <a:ea typeface="Calibri" pitchFamily="34" charset="-122"/>
                <a:cs typeface="Calibri" pitchFamily="34" charset="-120"/>
              </a:rPr>
              <a:t>Evening hours (5–7 PM) see the highest trip volume — nearly 3× the overnight low.</a:t>
            </a:r>
            <a:endParaRPr lang="en-US" sz="1200" dirty="0"/>
          </a:p>
        </p:txBody>
      </p:sp>
      <p:sp>
        <p:nvSpPr>
          <p:cNvPr id="11" name="Text 8"/>
          <p:cNvSpPr/>
          <p:nvPr/>
        </p:nvSpPr>
        <p:spPr>
          <a:xfrm>
            <a:off x="8321040" y="3108960"/>
            <a:ext cx="3090672" cy="256032"/>
          </a:xfrm>
          <a:prstGeom prst="rect">
            <a:avLst/>
          </a:prstGeom>
          <a:noFill/>
          <a:ln/>
        </p:spPr>
        <p:txBody>
          <a:bodyPr wrap="square" rtlCol="0" anchor="ctr"/>
          <a:lstStyle/>
          <a:p>
            <a:pPr indent="0" marL="0">
              <a:buNone/>
            </a:pPr>
            <a:r>
              <a:rPr lang="en-US" sz="1000" b="1" spc="130" kern="0" dirty="0">
                <a:solidFill>
                  <a:srgbClr val="D7263D"/>
                </a:solidFill>
                <a:latin typeface="Calibri" pitchFamily="34" charset="0"/>
                <a:ea typeface="Calibri" pitchFamily="34" charset="-122"/>
                <a:cs typeface="Calibri" pitchFamily="34" charset="-120"/>
              </a:rPr>
              <a:t>TOP PICKUP ZONES</a:t>
            </a:r>
            <a:endParaRPr lang="en-US" sz="1000" dirty="0"/>
          </a:p>
        </p:txBody>
      </p:sp>
      <p:sp>
        <p:nvSpPr>
          <p:cNvPr id="12" name="Text 9"/>
          <p:cNvSpPr/>
          <p:nvPr/>
        </p:nvSpPr>
        <p:spPr>
          <a:xfrm>
            <a:off x="8321040" y="341071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161</a:t>
            </a:r>
            <a:endParaRPr lang="en-US" sz="1000" dirty="0"/>
          </a:p>
        </p:txBody>
      </p:sp>
      <p:sp>
        <p:nvSpPr>
          <p:cNvPr id="13" name="Shape 10"/>
          <p:cNvSpPr/>
          <p:nvPr/>
        </p:nvSpPr>
        <p:spPr>
          <a:xfrm>
            <a:off x="9372600" y="3438144"/>
            <a:ext cx="1399032" cy="146304"/>
          </a:xfrm>
          <a:prstGeom prst="roundRect">
            <a:avLst>
              <a:gd name="adj" fmla="val 18750"/>
            </a:avLst>
          </a:prstGeom>
          <a:solidFill>
            <a:srgbClr val="D7263D"/>
          </a:solidFill>
          <a:ln/>
        </p:spPr>
        <p:txBody>
          <a:bodyPr/>
          <a:p/>
        </p:txBody>
      </p:sp>
      <p:sp>
        <p:nvSpPr>
          <p:cNvPr id="14" name="Text 11"/>
          <p:cNvSpPr/>
          <p:nvPr/>
        </p:nvSpPr>
        <p:spPr>
          <a:xfrm>
            <a:off x="11091672" y="339242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1.6M</a:t>
            </a:r>
            <a:endParaRPr lang="en-US" sz="950" dirty="0"/>
          </a:p>
        </p:txBody>
      </p:sp>
      <p:sp>
        <p:nvSpPr>
          <p:cNvPr id="15" name="Text 12"/>
          <p:cNvSpPr/>
          <p:nvPr/>
        </p:nvSpPr>
        <p:spPr>
          <a:xfrm>
            <a:off x="8321040" y="377647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236</a:t>
            </a:r>
            <a:endParaRPr lang="en-US" sz="1000" dirty="0"/>
          </a:p>
        </p:txBody>
      </p:sp>
      <p:sp>
        <p:nvSpPr>
          <p:cNvPr id="16" name="Shape 13"/>
          <p:cNvSpPr/>
          <p:nvPr/>
        </p:nvSpPr>
        <p:spPr>
          <a:xfrm>
            <a:off x="9372600" y="3803904"/>
            <a:ext cx="1352878" cy="146304"/>
          </a:xfrm>
          <a:prstGeom prst="roundRect">
            <a:avLst>
              <a:gd name="adj" fmla="val 18750"/>
            </a:avLst>
          </a:prstGeom>
          <a:solidFill>
            <a:srgbClr val="D7263D"/>
          </a:solidFill>
          <a:ln/>
        </p:spPr>
        <p:txBody>
          <a:bodyPr/>
          <a:p/>
        </p:txBody>
      </p:sp>
      <p:sp>
        <p:nvSpPr>
          <p:cNvPr id="17" name="Text 14"/>
          <p:cNvSpPr/>
          <p:nvPr/>
        </p:nvSpPr>
        <p:spPr>
          <a:xfrm>
            <a:off x="11091672" y="375818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1.5M</a:t>
            </a:r>
            <a:endParaRPr lang="en-US" sz="950" dirty="0"/>
          </a:p>
        </p:txBody>
      </p:sp>
      <p:sp>
        <p:nvSpPr>
          <p:cNvPr id="18" name="Text 15"/>
          <p:cNvSpPr/>
          <p:nvPr/>
        </p:nvSpPr>
        <p:spPr>
          <a:xfrm>
            <a:off x="8321040" y="414223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237</a:t>
            </a:r>
            <a:endParaRPr lang="en-US" sz="1000" dirty="0"/>
          </a:p>
        </p:txBody>
      </p:sp>
      <p:sp>
        <p:nvSpPr>
          <p:cNvPr id="19" name="Shape 16"/>
          <p:cNvSpPr/>
          <p:nvPr/>
        </p:nvSpPr>
        <p:spPr>
          <a:xfrm>
            <a:off x="9372600" y="4169664"/>
            <a:ext cx="1312494" cy="146304"/>
          </a:xfrm>
          <a:prstGeom prst="roundRect">
            <a:avLst>
              <a:gd name="adj" fmla="val 18750"/>
            </a:avLst>
          </a:prstGeom>
          <a:solidFill>
            <a:srgbClr val="D7263D"/>
          </a:solidFill>
          <a:ln/>
        </p:spPr>
        <p:txBody>
          <a:bodyPr/>
          <a:p/>
        </p:txBody>
      </p:sp>
      <p:sp>
        <p:nvSpPr>
          <p:cNvPr id="20" name="Text 17"/>
          <p:cNvSpPr/>
          <p:nvPr/>
        </p:nvSpPr>
        <p:spPr>
          <a:xfrm>
            <a:off x="11091672" y="412394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1.4M</a:t>
            </a:r>
            <a:endParaRPr lang="en-US" sz="950" dirty="0"/>
          </a:p>
        </p:txBody>
      </p:sp>
      <p:sp>
        <p:nvSpPr>
          <p:cNvPr id="21" name="Text 18"/>
          <p:cNvSpPr/>
          <p:nvPr/>
        </p:nvSpPr>
        <p:spPr>
          <a:xfrm>
            <a:off x="8321040" y="450799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132</a:t>
            </a:r>
            <a:endParaRPr lang="en-US" sz="1000" dirty="0"/>
          </a:p>
        </p:txBody>
      </p:sp>
      <p:sp>
        <p:nvSpPr>
          <p:cNvPr id="22" name="Shape 19"/>
          <p:cNvSpPr/>
          <p:nvPr/>
        </p:nvSpPr>
        <p:spPr>
          <a:xfrm>
            <a:off x="9372600" y="4535424"/>
            <a:ext cx="1188456" cy="146304"/>
          </a:xfrm>
          <a:prstGeom prst="roundRect">
            <a:avLst>
              <a:gd name="adj" fmla="val 18750"/>
            </a:avLst>
          </a:prstGeom>
          <a:solidFill>
            <a:srgbClr val="D7263D"/>
          </a:solidFill>
          <a:ln/>
        </p:spPr>
        <p:txBody>
          <a:bodyPr/>
          <a:p/>
        </p:txBody>
      </p:sp>
      <p:sp>
        <p:nvSpPr>
          <p:cNvPr id="23" name="Text 20"/>
          <p:cNvSpPr/>
          <p:nvPr/>
        </p:nvSpPr>
        <p:spPr>
          <a:xfrm>
            <a:off x="11091672" y="448970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1.3M</a:t>
            </a:r>
            <a:endParaRPr lang="en-US" sz="950" dirty="0"/>
          </a:p>
        </p:txBody>
      </p:sp>
      <p:sp>
        <p:nvSpPr>
          <p:cNvPr id="24" name="Text 21"/>
          <p:cNvSpPr/>
          <p:nvPr/>
        </p:nvSpPr>
        <p:spPr>
          <a:xfrm>
            <a:off x="8321040" y="4919472"/>
            <a:ext cx="3090672" cy="274320"/>
          </a:xfrm>
          <a:prstGeom prst="rect">
            <a:avLst/>
          </a:prstGeom>
          <a:noFill/>
          <a:ln/>
        </p:spPr>
        <p:txBody>
          <a:bodyPr wrap="square" rtlCol="0" anchor="ctr"/>
          <a:lstStyle/>
          <a:p>
            <a:pPr indent="0" marL="0">
              <a:buNone/>
            </a:pPr>
            <a:r>
              <a:rPr lang="en-US" sz="850" i="1" dirty="0">
                <a:solidFill>
                  <a:srgbClr val="8A8A8A"/>
                </a:solidFill>
                <a:latin typeface="Calibri" pitchFamily="34" charset="0"/>
                <a:ea typeface="Calibri" pitchFamily="34" charset="-122"/>
                <a:cs typeface="Calibri" pitchFamily="34" charset="-120"/>
              </a:rPr>
              <a:t>PULocationID · trip count in sample</a:t>
            </a:r>
            <a:endParaRPr lang="en-US" sz="850" dirty="0"/>
          </a:p>
        </p:txBody>
      </p:sp>
      <p:sp>
        <p:nvSpPr>
          <p:cNvPr id="25"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RESULTS &amp; VISUALIZATIONS</a:t>
            </a:r>
            <a:endParaRPr lang="en-US" sz="1200" dirty="0"/>
          </a:p>
        </p:txBody>
      </p:sp>
      <p:sp>
        <p:nvSpPr>
          <p:cNvPr id="3" name="Text 1"/>
          <p:cNvSpPr/>
          <p:nvPr/>
        </p:nvSpPr>
        <p:spPr>
          <a:xfrm>
            <a:off x="548640" y="749808"/>
            <a:ext cx="1088136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Revenue &amp; payment patterns</a:t>
            </a:r>
            <a:endParaRPr lang="en-US" sz="2800" dirty="0"/>
          </a:p>
        </p:txBody>
      </p:sp>
      <p:sp>
        <p:nvSpPr>
          <p:cNvPr id="4" name="Text 2"/>
          <p:cNvSpPr/>
          <p:nvPr/>
        </p:nvSpPr>
        <p:spPr>
          <a:xfrm>
            <a:off x="548640" y="1298448"/>
            <a:ext cx="1088136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Computed directly from the 35+ Million trips — Full Year 2025.</a:t>
            </a:r>
            <a:endParaRPr lang="en-US" sz="1150" dirty="0"/>
          </a:p>
        </p:txBody>
      </p:sp>
      <p:sp>
        <p:nvSpPr>
          <p:cNvPr id="5" name="Shape 3"/>
          <p:cNvSpPr/>
          <p:nvPr/>
        </p:nvSpPr>
        <p:spPr>
          <a:xfrm>
            <a:off x="548640" y="1783080"/>
            <a:ext cx="6355080" cy="3246120"/>
          </a:xfrm>
          <a:prstGeom prst="roundRect">
            <a:avLst>
              <a:gd name="adj" fmla="val 2254"/>
            </a:avLst>
          </a:prstGeom>
          <a:solidFill>
            <a:srgbClr val="FFFFFF"/>
          </a:solidFill>
          <a:ln w="12700">
            <a:solidFill>
              <a:srgbClr val="E2E2E2"/>
            </a:solidFill>
            <a:prstDash val="solid"/>
          </a:ln>
        </p:spPr>
        <p:txBody>
          <a:bodyPr/>
          <a:p/>
        </p:txBody>
      </p:sp>
      <p:sp>
        <p:nvSpPr>
          <p:cNvPr id="6" name="Text 4"/>
          <p:cNvSpPr/>
          <p:nvPr/>
        </p:nvSpPr>
        <p:spPr>
          <a:xfrm>
            <a:off x="777240" y="1947672"/>
            <a:ext cx="5897880" cy="292608"/>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Total revenue by day of week</a:t>
            </a:r>
            <a:endParaRPr lang="en-US" sz="1300" dirty="0"/>
          </a:p>
        </p:txBody>
      </p:sp>
      <p:graphicFrame>
        <p:nvGraphicFramePr>
          <p:cNvPr id="7" name="Chart 0" descr=""/>
          <p:cNvGraphicFramePr/>
          <p:nvPr/>
        </p:nvGraphicFramePr>
        <p:xfrm>
          <a:off x="731520" y="2286000"/>
          <a:ext cx="5989320" cy="25603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14032" y="1783080"/>
            <a:ext cx="4526280" cy="3246120"/>
          </a:xfrm>
          <a:prstGeom prst="roundRect">
            <a:avLst>
              <a:gd name="adj" fmla="val 2254"/>
            </a:avLst>
          </a:prstGeom>
          <a:solidFill>
            <a:srgbClr val="141414"/>
          </a:solidFill>
          <a:ln/>
        </p:spPr>
        <p:txBody>
          <a:bodyPr/>
          <a:p/>
        </p:txBody>
      </p:sp>
      <p:sp>
        <p:nvSpPr>
          <p:cNvPr id="9" name="Text 6"/>
          <p:cNvSpPr/>
          <p:nvPr/>
        </p:nvSpPr>
        <p:spPr>
          <a:xfrm>
            <a:off x="7342632" y="1947672"/>
            <a:ext cx="406908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Payment method mix</a:t>
            </a:r>
            <a:endParaRPr lang="en-US" sz="1300" dirty="0"/>
          </a:p>
        </p:txBody>
      </p:sp>
      <p:graphicFrame>
        <p:nvGraphicFramePr>
          <p:cNvPr id="10" name="Chart 1" descr=""/>
          <p:cNvGraphicFramePr/>
          <p:nvPr/>
        </p:nvGraphicFramePr>
        <p:xfrm>
          <a:off x="7342632" y="2313432"/>
          <a:ext cx="2331720" cy="251460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9857232" y="2459736"/>
            <a:ext cx="146304" cy="146304"/>
          </a:xfrm>
          <a:prstGeom prst="roundRect">
            <a:avLst>
              <a:gd name="adj" fmla="val 18750"/>
            </a:avLst>
          </a:prstGeom>
          <a:solidFill>
            <a:srgbClr val="D7263D"/>
          </a:solidFill>
          <a:ln/>
        </p:spPr>
        <p:txBody>
          <a:bodyPr/>
          <a:p/>
        </p:txBody>
      </p:sp>
      <p:sp>
        <p:nvSpPr>
          <p:cNvPr id="12" name="Text 8"/>
          <p:cNvSpPr/>
          <p:nvPr/>
        </p:nvSpPr>
        <p:spPr>
          <a:xfrm>
            <a:off x="10085832" y="2395728"/>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Credit card</a:t>
            </a:r>
            <a:endParaRPr lang="en-US" sz="1000" dirty="0"/>
          </a:p>
        </p:txBody>
      </p:sp>
      <p:sp>
        <p:nvSpPr>
          <p:cNvPr id="13" name="Text 9"/>
          <p:cNvSpPr/>
          <p:nvPr/>
        </p:nvSpPr>
        <p:spPr>
          <a:xfrm>
            <a:off x="11045952" y="2395728"/>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70%</a:t>
            </a:r>
            <a:endParaRPr lang="en-US" sz="1000" dirty="0"/>
          </a:p>
        </p:txBody>
      </p:sp>
      <p:sp>
        <p:nvSpPr>
          <p:cNvPr id="14" name="Shape 10"/>
          <p:cNvSpPr/>
          <p:nvPr/>
        </p:nvSpPr>
        <p:spPr>
          <a:xfrm>
            <a:off x="9857232" y="2843784"/>
            <a:ext cx="146304" cy="146304"/>
          </a:xfrm>
          <a:prstGeom prst="roundRect">
            <a:avLst>
              <a:gd name="adj" fmla="val 18750"/>
            </a:avLst>
          </a:prstGeom>
          <a:solidFill>
            <a:srgbClr val="6B0F1A"/>
          </a:solidFill>
          <a:ln/>
        </p:spPr>
        <p:txBody>
          <a:bodyPr/>
          <a:p/>
        </p:txBody>
      </p:sp>
      <p:sp>
        <p:nvSpPr>
          <p:cNvPr id="15" name="Text 11"/>
          <p:cNvSpPr/>
          <p:nvPr/>
        </p:nvSpPr>
        <p:spPr>
          <a:xfrm>
            <a:off x="10085832" y="2779776"/>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Unspecified</a:t>
            </a:r>
            <a:endParaRPr lang="en-US" sz="1000" dirty="0"/>
          </a:p>
        </p:txBody>
      </p:sp>
      <p:sp>
        <p:nvSpPr>
          <p:cNvPr id="16" name="Text 12"/>
          <p:cNvSpPr/>
          <p:nvPr/>
        </p:nvSpPr>
        <p:spPr>
          <a:xfrm>
            <a:off x="11045952" y="2779776"/>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16%</a:t>
            </a:r>
            <a:endParaRPr lang="en-US" sz="1000" dirty="0"/>
          </a:p>
        </p:txBody>
      </p:sp>
      <p:sp>
        <p:nvSpPr>
          <p:cNvPr id="17" name="Shape 13"/>
          <p:cNvSpPr/>
          <p:nvPr/>
        </p:nvSpPr>
        <p:spPr>
          <a:xfrm>
            <a:off x="9857232" y="3227832"/>
            <a:ext cx="146304" cy="146304"/>
          </a:xfrm>
          <a:prstGeom prst="roundRect">
            <a:avLst>
              <a:gd name="adj" fmla="val 18750"/>
            </a:avLst>
          </a:prstGeom>
          <a:solidFill>
            <a:srgbClr val="8A8A8A"/>
          </a:solidFill>
          <a:ln/>
        </p:spPr>
        <p:txBody>
          <a:bodyPr/>
          <a:p/>
        </p:txBody>
      </p:sp>
      <p:sp>
        <p:nvSpPr>
          <p:cNvPr id="18" name="Text 14"/>
          <p:cNvSpPr/>
          <p:nvPr/>
        </p:nvSpPr>
        <p:spPr>
          <a:xfrm>
            <a:off x="10085832" y="3163824"/>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Cash</a:t>
            </a:r>
            <a:endParaRPr lang="en-US" sz="1000" dirty="0"/>
          </a:p>
        </p:txBody>
      </p:sp>
      <p:sp>
        <p:nvSpPr>
          <p:cNvPr id="19" name="Text 15"/>
          <p:cNvSpPr/>
          <p:nvPr/>
        </p:nvSpPr>
        <p:spPr>
          <a:xfrm>
            <a:off x="11045952" y="3163824"/>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11%</a:t>
            </a:r>
            <a:endParaRPr lang="en-US" sz="1000" dirty="0"/>
          </a:p>
        </p:txBody>
      </p:sp>
      <p:sp>
        <p:nvSpPr>
          <p:cNvPr id="20" name="Shape 16"/>
          <p:cNvSpPr/>
          <p:nvPr/>
        </p:nvSpPr>
        <p:spPr>
          <a:xfrm>
            <a:off x="9857232" y="3611880"/>
            <a:ext cx="146304" cy="146304"/>
          </a:xfrm>
          <a:prstGeom prst="roundRect">
            <a:avLst>
              <a:gd name="adj" fmla="val 18750"/>
            </a:avLst>
          </a:prstGeom>
          <a:solidFill>
            <a:srgbClr val="3A3A3A"/>
          </a:solidFill>
          <a:ln/>
        </p:spPr>
        <p:txBody>
          <a:bodyPr/>
          <a:p/>
        </p:txBody>
      </p:sp>
      <p:sp>
        <p:nvSpPr>
          <p:cNvPr id="21" name="Text 17"/>
          <p:cNvSpPr/>
          <p:nvPr/>
        </p:nvSpPr>
        <p:spPr>
          <a:xfrm>
            <a:off x="10085832" y="3547872"/>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Dispute</a:t>
            </a:r>
            <a:endParaRPr lang="en-US" sz="1000" dirty="0"/>
          </a:p>
        </p:txBody>
      </p:sp>
      <p:sp>
        <p:nvSpPr>
          <p:cNvPr id="22" name="Text 18"/>
          <p:cNvSpPr/>
          <p:nvPr/>
        </p:nvSpPr>
        <p:spPr>
          <a:xfrm>
            <a:off x="11045952" y="3547872"/>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2%</a:t>
            </a:r>
            <a:endParaRPr lang="en-US" sz="1000" dirty="0"/>
          </a:p>
        </p:txBody>
      </p:sp>
      <p:sp>
        <p:nvSpPr>
          <p:cNvPr id="23" name="Shape 19"/>
          <p:cNvSpPr/>
          <p:nvPr/>
        </p:nvSpPr>
        <p:spPr>
          <a:xfrm>
            <a:off x="9857232" y="3995928"/>
            <a:ext cx="146304" cy="146304"/>
          </a:xfrm>
          <a:prstGeom prst="roundRect">
            <a:avLst>
              <a:gd name="adj" fmla="val 18750"/>
            </a:avLst>
          </a:prstGeom>
          <a:solidFill>
            <a:srgbClr val="C9C9C9"/>
          </a:solidFill>
          <a:ln/>
        </p:spPr>
        <p:txBody>
          <a:bodyPr/>
          <a:p/>
        </p:txBody>
      </p:sp>
      <p:sp>
        <p:nvSpPr>
          <p:cNvPr id="24" name="Text 20"/>
          <p:cNvSpPr/>
          <p:nvPr/>
        </p:nvSpPr>
        <p:spPr>
          <a:xfrm>
            <a:off x="10085832" y="3931920"/>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No charge</a:t>
            </a:r>
            <a:endParaRPr lang="en-US" sz="1000" dirty="0"/>
          </a:p>
        </p:txBody>
      </p:sp>
      <p:sp>
        <p:nvSpPr>
          <p:cNvPr id="25" name="Text 21"/>
          <p:cNvSpPr/>
          <p:nvPr/>
        </p:nvSpPr>
        <p:spPr>
          <a:xfrm>
            <a:off x="11045952" y="3931920"/>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1%</a:t>
            </a:r>
            <a:endParaRPr lang="en-US" sz="1000" dirty="0"/>
          </a:p>
        </p:txBody>
      </p:sp>
      <p:sp>
        <p:nvSpPr>
          <p:cNvPr id="26"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749808"/>
            <a:ext cx="1051560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Questions the platform is built to answer</a:t>
            </a:r>
            <a:endParaRPr lang="en-US" sz="2800" dirty="0"/>
          </a:p>
        </p:txBody>
      </p:sp>
      <p:sp>
        <p:nvSpPr>
          <p:cNvPr id="4" name="Text 2"/>
          <p:cNvSpPr/>
          <p:nvPr/>
        </p:nvSpPr>
        <p:spPr>
          <a:xfrm>
            <a:off x="548640" y="1600200"/>
            <a:ext cx="5623560" cy="274320"/>
          </a:xfrm>
          <a:prstGeom prst="rect">
            <a:avLst/>
          </a:prstGeom>
          <a:noFill/>
          <a:ln/>
        </p:spPr>
        <p:txBody>
          <a:bodyPr wrap="square" rtlCol="0" anchor="ctr"/>
          <a:lstStyle/>
          <a:p>
            <a:pPr indent="0" marL="0">
              <a:buNone/>
            </a:pPr>
            <a:r>
              <a:rPr lang="en-US" sz="1100" b="1" spc="150" kern="0" dirty="0">
                <a:solidFill>
                  <a:srgbClr val="6B6B6B"/>
                </a:solidFill>
                <a:latin typeface="Calibri" pitchFamily="34" charset="0"/>
                <a:ea typeface="Calibri" pitchFamily="34" charset="-122"/>
                <a:cs typeface="Calibri" pitchFamily="34" charset="-120"/>
              </a:rPr>
              <a:t>BUSINESS QUESTIONS</a:t>
            </a:r>
            <a:endParaRPr lang="en-US" sz="1100" dirty="0"/>
          </a:p>
        </p:txBody>
      </p:sp>
      <p:sp>
        <p:nvSpPr>
          <p:cNvPr id="5" name="Shape 3"/>
          <p:cNvSpPr/>
          <p:nvPr/>
        </p:nvSpPr>
        <p:spPr>
          <a:xfrm>
            <a:off x="548640" y="1984248"/>
            <a:ext cx="5623560" cy="566928"/>
          </a:xfrm>
          <a:prstGeom prst="roundRect">
            <a:avLst>
              <a:gd name="adj" fmla="val 11290"/>
            </a:avLst>
          </a:prstGeom>
          <a:solidFill>
            <a:srgbClr val="FFFFFF"/>
          </a:solidFill>
          <a:ln w="12700">
            <a:solidFill>
              <a:srgbClr val="E2E2E2"/>
            </a:solidFill>
            <a:prstDash val="solid"/>
          </a:ln>
        </p:spPr>
      </p:sp>
      <p:sp>
        <p:nvSpPr>
          <p:cNvPr id="6" name="Text 4"/>
          <p:cNvSpPr/>
          <p:nvPr/>
        </p:nvSpPr>
        <p:spPr>
          <a:xfrm>
            <a:off x="685800" y="1984248"/>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7" name="Text 5"/>
          <p:cNvSpPr/>
          <p:nvPr/>
        </p:nvSpPr>
        <p:spPr>
          <a:xfrm>
            <a:off x="1143000" y="1984248"/>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What are the busiest pickup &amp; drop-off zones?</a:t>
            </a:r>
            <a:endParaRPr lang="en-US" sz="1180" dirty="0"/>
          </a:p>
        </p:txBody>
      </p:sp>
      <p:sp>
        <p:nvSpPr>
          <p:cNvPr id="8" name="Shape 6"/>
          <p:cNvSpPr/>
          <p:nvPr/>
        </p:nvSpPr>
        <p:spPr>
          <a:xfrm>
            <a:off x="548640" y="2660904"/>
            <a:ext cx="5623560" cy="566928"/>
          </a:xfrm>
          <a:prstGeom prst="roundRect">
            <a:avLst>
              <a:gd name="adj" fmla="val 11290"/>
            </a:avLst>
          </a:prstGeom>
          <a:solidFill>
            <a:srgbClr val="FFFFFF"/>
          </a:solidFill>
          <a:ln w="12700">
            <a:solidFill>
              <a:srgbClr val="E2E2E2"/>
            </a:solidFill>
            <a:prstDash val="solid"/>
          </a:ln>
        </p:spPr>
      </p:sp>
      <p:sp>
        <p:nvSpPr>
          <p:cNvPr id="9" name="Text 7"/>
          <p:cNvSpPr/>
          <p:nvPr/>
        </p:nvSpPr>
        <p:spPr>
          <a:xfrm>
            <a:off x="685800" y="2660904"/>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0" name="Text 8"/>
          <p:cNvSpPr/>
          <p:nvPr/>
        </p:nvSpPr>
        <p:spPr>
          <a:xfrm>
            <a:off x="1143000" y="2660904"/>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Which hours experience the highest demand?</a:t>
            </a:r>
            <a:endParaRPr lang="en-US" sz="1180" dirty="0"/>
          </a:p>
        </p:txBody>
      </p:sp>
      <p:sp>
        <p:nvSpPr>
          <p:cNvPr id="11" name="Shape 9"/>
          <p:cNvSpPr/>
          <p:nvPr/>
        </p:nvSpPr>
        <p:spPr>
          <a:xfrm>
            <a:off x="548640" y="3337560"/>
            <a:ext cx="5623560" cy="566928"/>
          </a:xfrm>
          <a:prstGeom prst="roundRect">
            <a:avLst>
              <a:gd name="adj" fmla="val 11290"/>
            </a:avLst>
          </a:prstGeom>
          <a:solidFill>
            <a:srgbClr val="FFFFFF"/>
          </a:solidFill>
          <a:ln w="12700">
            <a:solidFill>
              <a:srgbClr val="E2E2E2"/>
            </a:solidFill>
            <a:prstDash val="solid"/>
          </a:ln>
        </p:spPr>
      </p:sp>
      <p:sp>
        <p:nvSpPr>
          <p:cNvPr id="12" name="Text 10"/>
          <p:cNvSpPr/>
          <p:nvPr/>
        </p:nvSpPr>
        <p:spPr>
          <a:xfrm>
            <a:off x="685800" y="3337560"/>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3" name="Text 11"/>
          <p:cNvSpPr/>
          <p:nvPr/>
        </p:nvSpPr>
        <p:spPr>
          <a:xfrm>
            <a:off x="1143000" y="3337560"/>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Which days generate the highest revenue?</a:t>
            </a:r>
            <a:endParaRPr lang="en-US" sz="1180" dirty="0"/>
          </a:p>
        </p:txBody>
      </p:sp>
      <p:sp>
        <p:nvSpPr>
          <p:cNvPr id="14" name="Shape 12"/>
          <p:cNvSpPr/>
          <p:nvPr/>
        </p:nvSpPr>
        <p:spPr>
          <a:xfrm>
            <a:off x="548640" y="4014216"/>
            <a:ext cx="5623560" cy="566928"/>
          </a:xfrm>
          <a:prstGeom prst="roundRect">
            <a:avLst>
              <a:gd name="adj" fmla="val 11290"/>
            </a:avLst>
          </a:prstGeom>
          <a:solidFill>
            <a:srgbClr val="FFFFFF"/>
          </a:solidFill>
          <a:ln w="12700">
            <a:solidFill>
              <a:srgbClr val="E2E2E2"/>
            </a:solidFill>
            <a:prstDash val="solid"/>
          </a:ln>
        </p:spPr>
      </p:sp>
      <p:sp>
        <p:nvSpPr>
          <p:cNvPr id="15" name="Text 13"/>
          <p:cNvSpPr/>
          <p:nvPr/>
        </p:nvSpPr>
        <p:spPr>
          <a:xfrm>
            <a:off x="685800" y="4014216"/>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6" name="Text 14"/>
          <p:cNvSpPr/>
          <p:nvPr/>
        </p:nvSpPr>
        <p:spPr>
          <a:xfrm>
            <a:off x="1143000" y="4014216"/>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What are the most profitable routes?</a:t>
            </a:r>
            <a:endParaRPr lang="en-US" sz="1180" dirty="0"/>
          </a:p>
        </p:txBody>
      </p:sp>
      <p:sp>
        <p:nvSpPr>
          <p:cNvPr id="17" name="Shape 15"/>
          <p:cNvSpPr/>
          <p:nvPr/>
        </p:nvSpPr>
        <p:spPr>
          <a:xfrm>
            <a:off x="548640" y="4690872"/>
            <a:ext cx="5623560" cy="566928"/>
          </a:xfrm>
          <a:prstGeom prst="roundRect">
            <a:avLst>
              <a:gd name="adj" fmla="val 11290"/>
            </a:avLst>
          </a:prstGeom>
          <a:solidFill>
            <a:srgbClr val="FFFFFF"/>
          </a:solidFill>
          <a:ln w="12700">
            <a:solidFill>
              <a:srgbClr val="E2E2E2"/>
            </a:solidFill>
            <a:prstDash val="solid"/>
          </a:ln>
        </p:spPr>
      </p:sp>
      <p:sp>
        <p:nvSpPr>
          <p:cNvPr id="18" name="Text 16"/>
          <p:cNvSpPr/>
          <p:nvPr/>
        </p:nvSpPr>
        <p:spPr>
          <a:xfrm>
            <a:off x="685800" y="4690872"/>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9" name="Text 17"/>
          <p:cNvSpPr/>
          <p:nvPr/>
        </p:nvSpPr>
        <p:spPr>
          <a:xfrm>
            <a:off x="1143000" y="4690872"/>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How does trip demand change over time?</a:t>
            </a:r>
            <a:endParaRPr lang="en-US" sz="1180" dirty="0"/>
          </a:p>
        </p:txBody>
      </p:sp>
      <p:sp>
        <p:nvSpPr>
          <p:cNvPr id="20" name="Shape 18"/>
          <p:cNvSpPr/>
          <p:nvPr/>
        </p:nvSpPr>
        <p:spPr>
          <a:xfrm>
            <a:off x="548640" y="5367528"/>
            <a:ext cx="5623560" cy="566928"/>
          </a:xfrm>
          <a:prstGeom prst="roundRect">
            <a:avLst>
              <a:gd name="adj" fmla="val 11290"/>
            </a:avLst>
          </a:prstGeom>
          <a:solidFill>
            <a:srgbClr val="FFFFFF"/>
          </a:solidFill>
          <a:ln w="12700">
            <a:solidFill>
              <a:srgbClr val="E2E2E2"/>
            </a:solidFill>
            <a:prstDash val="solid"/>
          </a:ln>
        </p:spPr>
      </p:sp>
      <p:sp>
        <p:nvSpPr>
          <p:cNvPr id="21" name="Text 19"/>
          <p:cNvSpPr/>
          <p:nvPr/>
        </p:nvSpPr>
        <p:spPr>
          <a:xfrm>
            <a:off x="685800" y="5367528"/>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22" name="Text 20"/>
          <p:cNvSpPr/>
          <p:nvPr/>
        </p:nvSpPr>
        <p:spPr>
          <a:xfrm>
            <a:off x="1143000" y="5367528"/>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How do passenger trends vary across locations?</a:t>
            </a:r>
            <a:endParaRPr lang="en-US" sz="1180" dirty="0"/>
          </a:p>
        </p:txBody>
      </p:sp>
      <p:sp>
        <p:nvSpPr>
          <p:cNvPr id="23" name="Shape 21"/>
          <p:cNvSpPr/>
          <p:nvPr/>
        </p:nvSpPr>
        <p:spPr>
          <a:xfrm>
            <a:off x="6446520" y="1600200"/>
            <a:ext cx="5193792" cy="4617720"/>
          </a:xfrm>
          <a:prstGeom prst="roundRect">
            <a:avLst>
              <a:gd name="adj" fmla="val 1782"/>
            </a:avLst>
          </a:prstGeom>
          <a:solidFill>
            <a:srgbClr val="141414"/>
          </a:solidFill>
          <a:ln/>
        </p:spPr>
      </p:sp>
      <p:sp>
        <p:nvSpPr>
          <p:cNvPr id="24" name="Text 22"/>
          <p:cNvSpPr/>
          <p:nvPr/>
        </p:nvSpPr>
        <p:spPr>
          <a:xfrm>
            <a:off x="6720840" y="1856232"/>
            <a:ext cx="4645152"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EXPECTED OUTCOMES</a:t>
            </a:r>
            <a:endParaRPr lang="en-US" sz="1100" dirty="0"/>
          </a:p>
        </p:txBody>
      </p:sp>
      <p:sp>
        <p:nvSpPr>
          <p:cNvPr id="25" name="Text 23"/>
          <p:cNvSpPr/>
          <p:nvPr/>
        </p:nvSpPr>
        <p:spPr>
          <a:xfrm>
            <a:off x="6720840" y="2148840"/>
            <a:ext cx="4645152"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transportation analytics teams gain</a:t>
            </a:r>
            <a:endParaRPr lang="en-US" sz="1500" dirty="0"/>
          </a:p>
        </p:txBody>
      </p:sp>
      <p:sp>
        <p:nvSpPr>
          <p:cNvPr id="26" name="Shape 24"/>
          <p:cNvSpPr/>
          <p:nvPr/>
        </p:nvSpPr>
        <p:spPr>
          <a:xfrm>
            <a:off x="6720840" y="2788920"/>
            <a:ext cx="420624" cy="420624"/>
          </a:xfrm>
          <a:prstGeom prst="ellipse">
            <a:avLst/>
          </a:prstGeom>
          <a:solidFill>
            <a:srgbClr val="2A2A2A"/>
          </a:solidFill>
          <a:ln/>
        </p:spPr>
      </p:sp>
      <p:pic>
        <p:nvPicPr>
          <p:cNvPr id="27" name="Image 0" descr="/home/claude/assets/FiActivity_red.png">    </p:cNvPr>
          <p:cNvPicPr>
            <a:picLocks noChangeAspect="1"/>
          </p:cNvPicPr>
          <p:nvPr/>
        </p:nvPicPr>
        <p:blipFill>
          <a:blip r:embed="rId1"/>
          <a:stretch>
            <a:fillRect/>
          </a:stretch>
        </p:blipFill>
        <p:spPr>
          <a:xfrm>
            <a:off x="6812280" y="2880360"/>
            <a:ext cx="237744" cy="237744"/>
          </a:xfrm>
          <a:prstGeom prst="rect">
            <a:avLst/>
          </a:prstGeom>
        </p:spPr>
      </p:pic>
      <p:sp>
        <p:nvSpPr>
          <p:cNvPr id="28" name="Text 25"/>
          <p:cNvSpPr/>
          <p:nvPr/>
        </p:nvSpPr>
        <p:spPr>
          <a:xfrm>
            <a:off x="7269480" y="2788920"/>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Monitor taxi demand in real time</a:t>
            </a:r>
            <a:endParaRPr lang="en-US" sz="1250" dirty="0"/>
          </a:p>
        </p:txBody>
      </p:sp>
      <p:sp>
        <p:nvSpPr>
          <p:cNvPr id="29" name="Shape 26"/>
          <p:cNvSpPr/>
          <p:nvPr/>
        </p:nvSpPr>
        <p:spPr>
          <a:xfrm>
            <a:off x="6720840" y="3364992"/>
            <a:ext cx="420624" cy="420624"/>
          </a:xfrm>
          <a:prstGeom prst="ellipse">
            <a:avLst/>
          </a:prstGeom>
          <a:solidFill>
            <a:srgbClr val="2A2A2A"/>
          </a:solidFill>
          <a:ln/>
        </p:spPr>
      </p:sp>
      <p:pic>
        <p:nvPicPr>
          <p:cNvPr id="30" name="Image 1" descr="/home/claude/assets/FiDollarSign_red.png">    </p:cNvPr>
          <p:cNvPicPr>
            <a:picLocks noChangeAspect="1"/>
          </p:cNvPicPr>
          <p:nvPr/>
        </p:nvPicPr>
        <p:blipFill>
          <a:blip r:embed="rId2"/>
          <a:stretch>
            <a:fillRect/>
          </a:stretch>
        </p:blipFill>
        <p:spPr>
          <a:xfrm>
            <a:off x="6812280" y="3456432"/>
            <a:ext cx="237744" cy="237744"/>
          </a:xfrm>
          <a:prstGeom prst="rect">
            <a:avLst/>
          </a:prstGeom>
        </p:spPr>
      </p:pic>
      <p:sp>
        <p:nvSpPr>
          <p:cNvPr id="31" name="Text 27"/>
          <p:cNvSpPr/>
          <p:nvPr/>
        </p:nvSpPr>
        <p:spPr>
          <a:xfrm>
            <a:off x="7269480" y="3364992"/>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Identify high-revenue zones</a:t>
            </a:r>
            <a:endParaRPr lang="en-US" sz="1250" dirty="0"/>
          </a:p>
        </p:txBody>
      </p:sp>
      <p:sp>
        <p:nvSpPr>
          <p:cNvPr id="32" name="Shape 28"/>
          <p:cNvSpPr/>
          <p:nvPr/>
        </p:nvSpPr>
        <p:spPr>
          <a:xfrm>
            <a:off x="6720840" y="3941064"/>
            <a:ext cx="420624" cy="420624"/>
          </a:xfrm>
          <a:prstGeom prst="ellipse">
            <a:avLst/>
          </a:prstGeom>
          <a:solidFill>
            <a:srgbClr val="2A2A2A"/>
          </a:solidFill>
          <a:ln/>
        </p:spPr>
      </p:sp>
      <p:pic>
        <p:nvPicPr>
          <p:cNvPr id="33" name="Image 2" descr="/home/claude/assets/FiUsers_red.png">    </p:cNvPr>
          <p:cNvPicPr>
            <a:picLocks noChangeAspect="1"/>
          </p:cNvPicPr>
          <p:nvPr/>
        </p:nvPicPr>
        <p:blipFill>
          <a:blip r:embed="rId3"/>
          <a:stretch>
            <a:fillRect/>
          </a:stretch>
        </p:blipFill>
        <p:spPr>
          <a:xfrm>
            <a:off x="6812280" y="4032504"/>
            <a:ext cx="237744" cy="237744"/>
          </a:xfrm>
          <a:prstGeom prst="rect">
            <a:avLst/>
          </a:prstGeom>
        </p:spPr>
      </p:pic>
      <p:sp>
        <p:nvSpPr>
          <p:cNvPr id="34" name="Text 29"/>
          <p:cNvSpPr/>
          <p:nvPr/>
        </p:nvSpPr>
        <p:spPr>
          <a:xfrm>
            <a:off x="7269480" y="3941064"/>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Understand passenger behavior</a:t>
            </a:r>
            <a:endParaRPr lang="en-US" sz="1250" dirty="0"/>
          </a:p>
        </p:txBody>
      </p:sp>
      <p:sp>
        <p:nvSpPr>
          <p:cNvPr id="35" name="Shape 30"/>
          <p:cNvSpPr/>
          <p:nvPr/>
        </p:nvSpPr>
        <p:spPr>
          <a:xfrm>
            <a:off x="6720840" y="4517136"/>
            <a:ext cx="420624" cy="420624"/>
          </a:xfrm>
          <a:prstGeom prst="ellipse">
            <a:avLst/>
          </a:prstGeom>
          <a:solidFill>
            <a:srgbClr val="2A2A2A"/>
          </a:solidFill>
          <a:ln/>
        </p:spPr>
      </p:sp>
      <p:pic>
        <p:nvPicPr>
          <p:cNvPr id="36" name="Image 3" descr="/home/claude/assets/FiBarChart2_red.png">    </p:cNvPr>
          <p:cNvPicPr>
            <a:picLocks noChangeAspect="1"/>
          </p:cNvPicPr>
          <p:nvPr/>
        </p:nvPicPr>
        <p:blipFill>
          <a:blip r:embed="rId4"/>
          <a:stretch>
            <a:fillRect/>
          </a:stretch>
        </p:blipFill>
        <p:spPr>
          <a:xfrm>
            <a:off x="6812280" y="4608576"/>
            <a:ext cx="237744" cy="237744"/>
          </a:xfrm>
          <a:prstGeom prst="rect">
            <a:avLst/>
          </a:prstGeom>
        </p:spPr>
      </p:pic>
      <p:sp>
        <p:nvSpPr>
          <p:cNvPr id="37" name="Text 31"/>
          <p:cNvSpPr/>
          <p:nvPr/>
        </p:nvSpPr>
        <p:spPr>
          <a:xfrm>
            <a:off x="7269480" y="4517136"/>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Track operational KPIs at a glance</a:t>
            </a:r>
            <a:endParaRPr lang="en-US" sz="1250" dirty="0"/>
          </a:p>
        </p:txBody>
      </p:sp>
      <p:sp>
        <p:nvSpPr>
          <p:cNvPr id="38" name="Shape 32"/>
          <p:cNvSpPr/>
          <p:nvPr/>
        </p:nvSpPr>
        <p:spPr>
          <a:xfrm>
            <a:off x="6720840" y="5093208"/>
            <a:ext cx="420624" cy="420624"/>
          </a:xfrm>
          <a:prstGeom prst="ellipse">
            <a:avLst/>
          </a:prstGeom>
          <a:solidFill>
            <a:srgbClr val="2A2A2A"/>
          </a:solidFill>
          <a:ln/>
        </p:spPr>
      </p:sp>
      <p:pic>
        <p:nvPicPr>
          <p:cNvPr id="39" name="Image 4" descr="/home/claude/assets/FiTrendingUp_red.png">    </p:cNvPr>
          <p:cNvPicPr>
            <a:picLocks noChangeAspect="1"/>
          </p:cNvPicPr>
          <p:nvPr/>
        </p:nvPicPr>
        <p:blipFill>
          <a:blip r:embed="rId5"/>
          <a:stretch>
            <a:fillRect/>
          </a:stretch>
        </p:blipFill>
        <p:spPr>
          <a:xfrm>
            <a:off x="6812280" y="5184648"/>
            <a:ext cx="237744" cy="237744"/>
          </a:xfrm>
          <a:prstGeom prst="rect">
            <a:avLst/>
          </a:prstGeom>
        </p:spPr>
      </p:pic>
      <p:sp>
        <p:nvSpPr>
          <p:cNvPr id="40" name="Text 33"/>
          <p:cNvSpPr/>
          <p:nvPr/>
        </p:nvSpPr>
        <p:spPr>
          <a:xfrm>
            <a:off x="7269480" y="5093208"/>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Spot demand trends as they emerge</a:t>
            </a:r>
            <a:endParaRPr lang="en-US" sz="1250" dirty="0"/>
          </a:p>
        </p:txBody>
      </p:sp>
      <p:sp>
        <p:nvSpPr>
          <p:cNvPr id="41" name="Shape 34"/>
          <p:cNvSpPr/>
          <p:nvPr/>
        </p:nvSpPr>
        <p:spPr>
          <a:xfrm>
            <a:off x="6720840" y="5669280"/>
            <a:ext cx="420624" cy="420624"/>
          </a:xfrm>
          <a:prstGeom prst="ellipse">
            <a:avLst/>
          </a:prstGeom>
          <a:solidFill>
            <a:srgbClr val="2A2A2A"/>
          </a:solidFill>
          <a:ln/>
        </p:spPr>
      </p:sp>
      <p:pic>
        <p:nvPicPr>
          <p:cNvPr id="42" name="Image 5" descr="/home/claude/assets/FiCheckCircle_red.png">    </p:cNvPr>
          <p:cNvPicPr>
            <a:picLocks noChangeAspect="1"/>
          </p:cNvPicPr>
          <p:nvPr/>
        </p:nvPicPr>
        <p:blipFill>
          <a:blip r:embed="rId6"/>
          <a:stretch>
            <a:fillRect/>
          </a:stretch>
        </p:blipFill>
        <p:spPr>
          <a:xfrm>
            <a:off x="6812280" y="5760720"/>
            <a:ext cx="237744" cy="237744"/>
          </a:xfrm>
          <a:prstGeom prst="rect">
            <a:avLst/>
          </a:prstGeom>
        </p:spPr>
      </p:pic>
      <p:sp>
        <p:nvSpPr>
          <p:cNvPr id="43" name="Text 35"/>
          <p:cNvSpPr/>
          <p:nvPr/>
        </p:nvSpPr>
        <p:spPr>
          <a:xfrm>
            <a:off x="7269480" y="5669280"/>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Support data-driven decisions</a:t>
            </a:r>
            <a:endParaRPr lang="en-US" sz="1250" dirty="0"/>
          </a:p>
        </p:txBody>
      </p:sp>
      <p:sp>
        <p:nvSpPr>
          <p:cNvPr id="44" name="Text 3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749808"/>
            <a:ext cx="1051560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Roadmap for future enhancements</a:t>
            </a:r>
            <a:endParaRPr lang="en-US" sz="2800" dirty="0"/>
          </a:p>
        </p:txBody>
      </p:sp>
      <p:sp>
        <p:nvSpPr>
          <p:cNvPr id="4" name="Shape 2"/>
          <p:cNvSpPr/>
          <p:nvPr/>
        </p:nvSpPr>
        <p:spPr>
          <a:xfrm>
            <a:off x="548640" y="1691640"/>
            <a:ext cx="3502152" cy="1965960"/>
          </a:xfrm>
          <a:prstGeom prst="roundRect">
            <a:avLst>
              <a:gd name="adj" fmla="val 4186"/>
            </a:avLst>
          </a:prstGeom>
          <a:solidFill>
            <a:srgbClr val="FFFFFF"/>
          </a:solidFill>
          <a:ln w="12700">
            <a:solidFill>
              <a:srgbClr val="E2E2E2"/>
            </a:solidFill>
            <a:prstDash val="solid"/>
          </a:ln>
        </p:spPr>
        <p:txBody>
          <a:bodyPr/>
          <a:p/>
        </p:txBody>
      </p:sp>
      <p:sp>
        <p:nvSpPr>
          <p:cNvPr id="5" name="Shape 3"/>
          <p:cNvSpPr/>
          <p:nvPr/>
        </p:nvSpPr>
        <p:spPr>
          <a:xfrm>
            <a:off x="749808" y="1892808"/>
            <a:ext cx="512064" cy="512064"/>
          </a:xfrm>
          <a:prstGeom prst="ellipse">
            <a:avLst/>
          </a:prstGeom>
          <a:solidFill>
            <a:srgbClr val="FAFAFA"/>
          </a:solidFill>
          <a:ln/>
        </p:spPr>
        <p:txBody>
          <a:bodyPr/>
          <a:p/>
        </p:txBody>
      </p:sp>
      <p:pic>
        <p:nvPicPr>
          <p:cNvPr id="6" name="Image 0" descr="/home/claude/assets/FiBell_black_r.png">    </p:cNvPr>
          <p:cNvPicPr>
            <a:picLocks noChangeAspect="1"/>
          </p:cNvPicPr>
          <p:nvPr/>
        </p:nvPicPr>
        <p:blipFill>
          <a:blip r:embed="rId1"/>
          <a:stretch>
            <a:fillRect/>
          </a:stretch>
        </p:blipFill>
        <p:spPr>
          <a:xfrm>
            <a:off x="859536" y="2002536"/>
            <a:ext cx="292608" cy="292608"/>
          </a:xfrm>
          <a:prstGeom prst="rect">
            <a:avLst/>
          </a:prstGeom>
        </p:spPr>
      </p:pic>
      <p:sp>
        <p:nvSpPr>
          <p:cNvPr id="7" name="Text 4"/>
          <p:cNvSpPr/>
          <p:nvPr/>
        </p:nvSpPr>
        <p:spPr>
          <a:xfrm>
            <a:off x="749808" y="2514600"/>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Real-time alerting</a:t>
            </a:r>
            <a:endParaRPr lang="en-US" sz="1300" dirty="0"/>
          </a:p>
        </p:txBody>
      </p:sp>
      <p:sp>
        <p:nvSpPr>
          <p:cNvPr id="8" name="Text 5"/>
          <p:cNvSpPr/>
          <p:nvPr/>
        </p:nvSpPr>
        <p:spPr>
          <a:xfrm>
            <a:off x="749808" y="2990088"/>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Push notifications the moment demand or revenue moves unusually.</a:t>
            </a:r>
            <a:endParaRPr lang="en-US" sz="1000" dirty="0"/>
          </a:p>
        </p:txBody>
      </p:sp>
      <p:sp>
        <p:nvSpPr>
          <p:cNvPr id="9" name="Shape 6"/>
          <p:cNvSpPr/>
          <p:nvPr/>
        </p:nvSpPr>
        <p:spPr>
          <a:xfrm>
            <a:off x="4251960" y="1691640"/>
            <a:ext cx="3502152" cy="1965960"/>
          </a:xfrm>
          <a:prstGeom prst="roundRect">
            <a:avLst>
              <a:gd name="adj" fmla="val 4186"/>
            </a:avLst>
          </a:prstGeom>
          <a:solidFill>
            <a:srgbClr val="FFFFFF"/>
          </a:solidFill>
          <a:ln w="12700">
            <a:solidFill>
              <a:srgbClr val="E2E2E2"/>
            </a:solidFill>
            <a:prstDash val="solid"/>
          </a:ln>
        </p:spPr>
        <p:txBody>
          <a:bodyPr/>
          <a:p/>
        </p:txBody>
      </p:sp>
      <p:sp>
        <p:nvSpPr>
          <p:cNvPr id="10" name="Shape 7"/>
          <p:cNvSpPr/>
          <p:nvPr/>
        </p:nvSpPr>
        <p:spPr>
          <a:xfrm>
            <a:off x="4453128" y="1892808"/>
            <a:ext cx="512064" cy="512064"/>
          </a:xfrm>
          <a:prstGeom prst="ellipse">
            <a:avLst/>
          </a:prstGeom>
          <a:solidFill>
            <a:srgbClr val="FAFAFA"/>
          </a:solidFill>
          <a:ln/>
        </p:spPr>
        <p:txBody>
          <a:bodyPr/>
          <a:p/>
        </p:txBody>
      </p:sp>
      <p:pic>
        <p:nvPicPr>
          <p:cNvPr id="11" name="Image 1" descr="/home/claude/assets/FiTrendingUp_black_r.png">    </p:cNvPr>
          <p:cNvPicPr>
            <a:picLocks noChangeAspect="1"/>
          </p:cNvPicPr>
          <p:nvPr/>
        </p:nvPicPr>
        <p:blipFill>
          <a:blip r:embed="rId2"/>
          <a:stretch>
            <a:fillRect/>
          </a:stretch>
        </p:blipFill>
        <p:spPr>
          <a:xfrm>
            <a:off x="4562856" y="2002536"/>
            <a:ext cx="292608" cy="292608"/>
          </a:xfrm>
          <a:prstGeom prst="rect">
            <a:avLst/>
          </a:prstGeom>
        </p:spPr>
      </p:pic>
      <p:sp>
        <p:nvSpPr>
          <p:cNvPr id="12" name="Text 8"/>
          <p:cNvSpPr/>
          <p:nvPr/>
        </p:nvSpPr>
        <p:spPr>
          <a:xfrm>
            <a:off x="4453128" y="2514600"/>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Predictive demand forecasting</a:t>
            </a:r>
            <a:endParaRPr lang="en-US" sz="1300" dirty="0"/>
          </a:p>
        </p:txBody>
      </p:sp>
      <p:sp>
        <p:nvSpPr>
          <p:cNvPr id="13" name="Text 9"/>
          <p:cNvSpPr/>
          <p:nvPr/>
        </p:nvSpPr>
        <p:spPr>
          <a:xfrm>
            <a:off x="4453128" y="2990088"/>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Model historical patterns to anticipate next-week demand.</a:t>
            </a:r>
            <a:endParaRPr lang="en-US" sz="1000" dirty="0"/>
          </a:p>
        </p:txBody>
      </p:sp>
      <p:sp>
        <p:nvSpPr>
          <p:cNvPr id="14" name="Shape 10"/>
          <p:cNvSpPr/>
          <p:nvPr/>
        </p:nvSpPr>
        <p:spPr>
          <a:xfrm>
            <a:off x="7955280" y="1691640"/>
            <a:ext cx="3502152" cy="1965960"/>
          </a:xfrm>
          <a:prstGeom prst="roundRect">
            <a:avLst>
              <a:gd name="adj" fmla="val 4186"/>
            </a:avLst>
          </a:prstGeom>
          <a:solidFill>
            <a:srgbClr val="FFFFFF"/>
          </a:solidFill>
          <a:ln w="12700">
            <a:solidFill>
              <a:srgbClr val="E2E2E2"/>
            </a:solidFill>
            <a:prstDash val="solid"/>
          </a:ln>
        </p:spPr>
        <p:txBody>
          <a:bodyPr/>
          <a:p/>
        </p:txBody>
      </p:sp>
      <p:sp>
        <p:nvSpPr>
          <p:cNvPr id="15" name="Shape 11"/>
          <p:cNvSpPr/>
          <p:nvPr/>
        </p:nvSpPr>
        <p:spPr>
          <a:xfrm>
            <a:off x="8156448" y="1892808"/>
            <a:ext cx="512064" cy="512064"/>
          </a:xfrm>
          <a:prstGeom prst="ellipse">
            <a:avLst/>
          </a:prstGeom>
          <a:solidFill>
            <a:srgbClr val="FAFAFA"/>
          </a:solidFill>
          <a:ln/>
        </p:spPr>
        <p:txBody>
          <a:bodyPr/>
          <a:p/>
        </p:txBody>
      </p:sp>
      <p:pic>
        <p:nvPicPr>
          <p:cNvPr id="16" name="Image 2" descr="/home/claude/assets/FiCloud_black_r.png">    </p:cNvPr>
          <p:cNvPicPr>
            <a:picLocks noChangeAspect="1"/>
          </p:cNvPicPr>
          <p:nvPr/>
        </p:nvPicPr>
        <p:blipFill>
          <a:blip r:embed="rId3"/>
          <a:stretch>
            <a:fillRect/>
          </a:stretch>
        </p:blipFill>
        <p:spPr>
          <a:xfrm>
            <a:off x="8266176" y="2002536"/>
            <a:ext cx="292608" cy="292608"/>
          </a:xfrm>
          <a:prstGeom prst="rect">
            <a:avLst/>
          </a:prstGeom>
        </p:spPr>
      </p:pic>
      <p:sp>
        <p:nvSpPr>
          <p:cNvPr id="17" name="Text 12"/>
          <p:cNvSpPr/>
          <p:nvPr/>
        </p:nvSpPr>
        <p:spPr>
          <a:xfrm>
            <a:off x="8156448" y="2514600"/>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Cloud deployment</a:t>
            </a:r>
            <a:endParaRPr lang="en-US" sz="1300" dirty="0"/>
          </a:p>
        </p:txBody>
      </p:sp>
      <p:sp>
        <p:nvSpPr>
          <p:cNvPr id="18" name="Text 13"/>
          <p:cNvSpPr/>
          <p:nvPr/>
        </p:nvSpPr>
        <p:spPr>
          <a:xfrm>
            <a:off x="8156448" y="2990088"/>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Migrate the stack to AWS / Azure for elastic scale.</a:t>
            </a:r>
            <a:endParaRPr lang="en-US" sz="1000" dirty="0"/>
          </a:p>
        </p:txBody>
      </p:sp>
      <p:sp>
        <p:nvSpPr>
          <p:cNvPr id="19" name="Shape 14"/>
          <p:cNvSpPr/>
          <p:nvPr/>
        </p:nvSpPr>
        <p:spPr>
          <a:xfrm>
            <a:off x="548640" y="3858768"/>
            <a:ext cx="3502152" cy="1965960"/>
          </a:xfrm>
          <a:prstGeom prst="roundRect">
            <a:avLst>
              <a:gd name="adj" fmla="val 4186"/>
            </a:avLst>
          </a:prstGeom>
          <a:solidFill>
            <a:srgbClr val="FFFFFF"/>
          </a:solidFill>
          <a:ln w="12700">
            <a:solidFill>
              <a:srgbClr val="E2E2E2"/>
            </a:solidFill>
            <a:prstDash val="solid"/>
          </a:ln>
        </p:spPr>
        <p:txBody>
          <a:bodyPr/>
          <a:p/>
        </p:txBody>
      </p:sp>
      <p:sp>
        <p:nvSpPr>
          <p:cNvPr id="20" name="Shape 15"/>
          <p:cNvSpPr/>
          <p:nvPr/>
        </p:nvSpPr>
        <p:spPr>
          <a:xfrm>
            <a:off x="749808" y="4059936"/>
            <a:ext cx="512064" cy="512064"/>
          </a:xfrm>
          <a:prstGeom prst="ellipse">
            <a:avLst/>
          </a:prstGeom>
          <a:solidFill>
            <a:srgbClr val="FAFAFA"/>
          </a:solidFill>
          <a:ln/>
        </p:spPr>
        <p:txBody>
          <a:bodyPr/>
          <a:p/>
        </p:txBody>
      </p:sp>
      <p:pic>
        <p:nvPicPr>
          <p:cNvPr id="21" name="Image 3" descr="/home/claude/assets/FiRefreshCw_black_r.png">    </p:cNvPr>
          <p:cNvPicPr>
            <a:picLocks noChangeAspect="1"/>
          </p:cNvPicPr>
          <p:nvPr/>
        </p:nvPicPr>
        <p:blipFill>
          <a:blip r:embed="rId4"/>
          <a:stretch>
            <a:fillRect/>
          </a:stretch>
        </p:blipFill>
        <p:spPr>
          <a:xfrm>
            <a:off x="859536" y="4169664"/>
            <a:ext cx="292608" cy="292608"/>
          </a:xfrm>
          <a:prstGeom prst="rect">
            <a:avLst/>
          </a:prstGeom>
        </p:spPr>
      </p:pic>
      <p:sp>
        <p:nvSpPr>
          <p:cNvPr id="22" name="Text 16"/>
          <p:cNvSpPr/>
          <p:nvPr/>
        </p:nvSpPr>
        <p:spPr>
          <a:xfrm>
            <a:off x="749808" y="4681728"/>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CI/CD integration</a:t>
            </a:r>
            <a:endParaRPr lang="en-US" sz="1300" dirty="0"/>
          </a:p>
        </p:txBody>
      </p:sp>
      <p:sp>
        <p:nvSpPr>
          <p:cNvPr id="23" name="Text 17"/>
          <p:cNvSpPr/>
          <p:nvPr/>
        </p:nvSpPr>
        <p:spPr>
          <a:xfrm>
            <a:off x="749808" y="5157216"/>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Automated testing and deployment for every pipeline change.</a:t>
            </a:r>
            <a:endParaRPr lang="en-US" sz="1000" dirty="0"/>
          </a:p>
        </p:txBody>
      </p:sp>
      <p:sp>
        <p:nvSpPr>
          <p:cNvPr id="24" name="Shape 18"/>
          <p:cNvSpPr/>
          <p:nvPr/>
        </p:nvSpPr>
        <p:spPr>
          <a:xfrm>
            <a:off x="4251960" y="3858768"/>
            <a:ext cx="3502152" cy="1965960"/>
          </a:xfrm>
          <a:prstGeom prst="roundRect">
            <a:avLst>
              <a:gd name="adj" fmla="val 4186"/>
            </a:avLst>
          </a:prstGeom>
          <a:solidFill>
            <a:srgbClr val="FFFFFF"/>
          </a:solidFill>
          <a:ln w="12700">
            <a:solidFill>
              <a:srgbClr val="E2E2E2"/>
            </a:solidFill>
            <a:prstDash val="solid"/>
          </a:ln>
        </p:spPr>
        <p:txBody>
          <a:bodyPr/>
          <a:p/>
        </p:txBody>
      </p:sp>
      <p:sp>
        <p:nvSpPr>
          <p:cNvPr id="25" name="Shape 19"/>
          <p:cNvSpPr/>
          <p:nvPr/>
        </p:nvSpPr>
        <p:spPr>
          <a:xfrm>
            <a:off x="4453128" y="4059936"/>
            <a:ext cx="512064" cy="512064"/>
          </a:xfrm>
          <a:prstGeom prst="ellipse">
            <a:avLst/>
          </a:prstGeom>
          <a:solidFill>
            <a:srgbClr val="FAFAFA"/>
          </a:solidFill>
          <a:ln/>
        </p:spPr>
        <p:txBody>
          <a:bodyPr/>
          <a:p/>
        </p:txBody>
      </p:sp>
      <p:pic>
        <p:nvPicPr>
          <p:cNvPr id="26" name="Image 4" descr="/home/claude/assets/FiFileText_black_r.png">    </p:cNvPr>
          <p:cNvPicPr>
            <a:picLocks noChangeAspect="1"/>
          </p:cNvPicPr>
          <p:nvPr/>
        </p:nvPicPr>
        <p:blipFill>
          <a:blip r:embed="rId5"/>
          <a:stretch>
            <a:fillRect/>
          </a:stretch>
        </p:blipFill>
        <p:spPr>
          <a:xfrm>
            <a:off x="4562856" y="4169664"/>
            <a:ext cx="292608" cy="292608"/>
          </a:xfrm>
          <a:prstGeom prst="rect">
            <a:avLst/>
          </a:prstGeom>
        </p:spPr>
      </p:pic>
      <p:sp>
        <p:nvSpPr>
          <p:cNvPr id="27" name="Text 20"/>
          <p:cNvSpPr/>
          <p:nvPr/>
        </p:nvSpPr>
        <p:spPr>
          <a:xfrm>
            <a:off x="4453128" y="4681728"/>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Automated reporting</a:t>
            </a:r>
            <a:endParaRPr lang="en-US" sz="1300" dirty="0"/>
          </a:p>
        </p:txBody>
      </p:sp>
      <p:sp>
        <p:nvSpPr>
          <p:cNvPr id="28" name="Text 21"/>
          <p:cNvSpPr/>
          <p:nvPr/>
        </p:nvSpPr>
        <p:spPr>
          <a:xfrm>
            <a:off x="4453128" y="5157216"/>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Scheduled summaries delivered straight to stakeholders.</a:t>
            </a:r>
            <a:endParaRPr lang="en-US" sz="1000" dirty="0"/>
          </a:p>
        </p:txBody>
      </p:sp>
      <p:sp>
        <p:nvSpPr>
          <p:cNvPr id="29" name="Shape 22"/>
          <p:cNvSpPr/>
          <p:nvPr/>
        </p:nvSpPr>
        <p:spPr>
          <a:xfrm>
            <a:off x="7955280" y="3858768"/>
            <a:ext cx="3502152" cy="1965960"/>
          </a:xfrm>
          <a:prstGeom prst="roundRect">
            <a:avLst>
              <a:gd name="adj" fmla="val 4186"/>
            </a:avLst>
          </a:prstGeom>
          <a:solidFill>
            <a:srgbClr val="FFFFFF"/>
          </a:solidFill>
          <a:ln w="12700">
            <a:solidFill>
              <a:srgbClr val="E2E2E2"/>
            </a:solidFill>
            <a:prstDash val="solid"/>
          </a:ln>
        </p:spPr>
        <p:txBody>
          <a:bodyPr/>
          <a:p/>
        </p:txBody>
      </p:sp>
      <p:sp>
        <p:nvSpPr>
          <p:cNvPr id="30" name="Shape 23"/>
          <p:cNvSpPr/>
          <p:nvPr/>
        </p:nvSpPr>
        <p:spPr>
          <a:xfrm>
            <a:off x="8156448" y="4059936"/>
            <a:ext cx="512064" cy="512064"/>
          </a:xfrm>
          <a:prstGeom prst="ellipse">
            <a:avLst/>
          </a:prstGeom>
          <a:solidFill>
            <a:srgbClr val="FAFAFA"/>
          </a:solidFill>
          <a:ln/>
        </p:spPr>
        <p:txBody>
          <a:bodyPr/>
          <a:p/>
        </p:txBody>
      </p:sp>
      <p:pic>
        <p:nvPicPr>
          <p:cNvPr id="31" name="Image 5" descr="/home/claude/assets/FiCalendar_black_r.png">    </p:cNvPr>
          <p:cNvPicPr>
            <a:picLocks noChangeAspect="1"/>
          </p:cNvPicPr>
          <p:nvPr/>
        </p:nvPicPr>
        <p:blipFill>
          <a:blip r:embed="rId6"/>
          <a:stretch>
            <a:fillRect/>
          </a:stretch>
        </p:blipFill>
        <p:spPr>
          <a:xfrm>
            <a:off x="8266176" y="4169664"/>
            <a:ext cx="292608" cy="292608"/>
          </a:xfrm>
          <a:prstGeom prst="rect">
            <a:avLst/>
          </a:prstGeom>
        </p:spPr>
      </p:pic>
      <p:sp>
        <p:nvSpPr>
          <p:cNvPr id="32" name="Text 24"/>
          <p:cNvSpPr/>
          <p:nvPr/>
        </p:nvSpPr>
        <p:spPr>
          <a:xfrm>
            <a:off x="8156448" y="4681728"/>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Advanced Multi-Agent System</a:t>
            </a:r>
            <a:endParaRPr lang="en-US" sz="1300" dirty="0"/>
          </a:p>
        </p:txBody>
      </p:sp>
      <p:sp>
        <p:nvSpPr>
          <p:cNvPr id="33" name="Text 25"/>
          <p:cNvSpPr/>
          <p:nvPr/>
        </p:nvSpPr>
        <p:spPr>
          <a:xfrm>
            <a:off x="8156448" y="5157216"/>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Implement conversational memory for the AI Agent.</a:t>
            </a:r>
            <a:endParaRPr lang="en-US" sz="1000" dirty="0"/>
          </a:p>
        </p:txBody>
      </p:sp>
      <p:sp>
        <p:nvSpPr>
          <p:cNvPr id="34" name="Text 2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2286000" y="3840480"/>
            <a:ext cx="5943600" cy="5943600"/>
          </a:xfrm>
          <a:prstGeom prst="ellipse">
            <a:avLst/>
          </a:prstGeom>
          <a:solidFill>
            <a:srgbClr val="1B1B1B"/>
          </a:solidFill>
          <a:ln/>
        </p:spPr>
        <p:txBody>
          <a:bodyPr/>
          <a:p/>
        </p:txBody>
      </p:sp>
      <p:sp>
        <p:nvSpPr>
          <p:cNvPr id="3" name="Shape 1"/>
          <p:cNvSpPr/>
          <p:nvPr/>
        </p:nvSpPr>
        <p:spPr>
          <a:xfrm>
            <a:off x="-822960" y="5120640"/>
            <a:ext cx="3108960" cy="3108960"/>
          </a:xfrm>
          <a:prstGeom prst="ellipse">
            <a:avLst/>
          </a:prstGeom>
          <a:solidFill>
            <a:srgbClr val="D7263D"/>
          </a:solidFill>
          <a:ln/>
        </p:spPr>
        <p:txBody>
          <a:bodyPr/>
          <a:p/>
        </p:txBody>
      </p:sp>
      <p:sp>
        <p:nvSpPr>
          <p:cNvPr id="4" name="Text 2"/>
          <p:cNvSpPr/>
          <p:nvPr/>
        </p:nvSpPr>
        <p:spPr>
          <a:xfrm>
            <a:off x="731520" y="2286000"/>
            <a:ext cx="8229600" cy="1005840"/>
          </a:xfrm>
          <a:prstGeom prst="rect">
            <a:avLst/>
          </a:prstGeom>
          <a:noFill/>
          <a:ln/>
        </p:spPr>
        <p:txBody>
          <a:bodyPr wrap="square" rtlCol="0" anchor="ctr"/>
          <a:lstStyle/>
          <a:p>
            <a:pPr indent="0" marL="0">
              <a:buNone/>
            </a:pPr>
            <a:r>
              <a:rPr lang="en-US" sz="4600" b="1" dirty="0">
                <a:solidFill>
                  <a:srgbClr val="FFFFFF"/>
                </a:solidFill>
                <a:latin typeface="Bookman Old Style" pitchFamily="34" charset="0"/>
                <a:ea typeface="Bookman Old Style" pitchFamily="34" charset="-122"/>
                <a:cs typeface="Bookman Old Style" pitchFamily="34" charset="-120"/>
              </a:rPr>
              <a:t>Thank You</a:t>
            </a:r>
            <a:endParaRPr lang="en-US" sz="4600" dirty="0"/>
          </a:p>
        </p:txBody>
      </p:sp>
      <p:sp>
        <p:nvSpPr>
          <p:cNvPr id="5" name="Text 3"/>
          <p:cNvSpPr/>
          <p:nvPr/>
        </p:nvSpPr>
        <p:spPr>
          <a:xfrm>
            <a:off x="731520" y="3246120"/>
            <a:ext cx="8229600" cy="457200"/>
          </a:xfrm>
          <a:prstGeom prst="rect">
            <a:avLst/>
          </a:prstGeom>
          <a:noFill/>
          <a:ln/>
        </p:spPr>
        <p:txBody>
          <a:bodyPr wrap="square" rtlCol="0" anchor="ctr"/>
          <a:lstStyle/>
          <a:p>
            <a:pPr indent="0" marL="0">
              <a:buNone/>
            </a:pPr>
            <a:r>
              <a:rPr lang="en-US" sz="1600" b="1" dirty="0">
                <a:solidFill>
                  <a:srgbClr val="D7263D"/>
                </a:solidFill>
                <a:latin typeface="Calibri" pitchFamily="34" charset="0"/>
                <a:ea typeface="Calibri" pitchFamily="34" charset="-122"/>
                <a:cs typeface="Calibri" pitchFamily="34" charset="-120"/>
              </a:rPr>
              <a:t>NYC Taxi Real-Time Analytics Platform</a:t>
            </a:r>
            <a:endParaRPr lang="en-US" sz="1600" dirty="0"/>
          </a:p>
        </p:txBody>
      </p:sp>
      <p:sp>
        <p:nvSpPr>
          <p:cNvPr id="6" name="Text 4"/>
          <p:cNvSpPr/>
          <p:nvPr/>
        </p:nvSpPr>
        <p:spPr>
          <a:xfrm>
            <a:off x="731520" y="3749040"/>
            <a:ext cx="8686800" cy="365760"/>
          </a:xfrm>
          <a:prstGeom prst="rect">
            <a:avLst/>
          </a:prstGeom>
          <a:noFill/>
          <a:ln/>
        </p:spPr>
        <p:txBody>
          <a:bodyPr wrap="square" rtlCol="0" anchor="ctr"/>
          <a:lstStyle/>
          <a:p>
            <a:pPr indent="0" marL="0">
              <a:buNone/>
            </a:pPr>
            <a:r>
              <a:rPr lang="en-US" sz="1200" dirty="0">
                <a:solidFill>
                  <a:srgbClr val="9A9A9A"/>
                </a:solidFill>
                <a:latin typeface="Calibri" pitchFamily="34" charset="0"/>
                <a:ea typeface="Calibri" pitchFamily="34" charset="-122"/>
                <a:cs typeface="Calibri" pitchFamily="34" charset="-120"/>
              </a:rPr>
              <a:t>Kafka · Spark · ClickHouse · Airflow · Superset · AI Agent · Docker</a:t>
            </a:r>
            <a:endParaRPr lang="en-US" sz="1200" dirty="0"/>
          </a:p>
        </p:txBody>
      </p:sp>
      <p:sp>
        <p:nvSpPr>
          <p:cNvPr id="7" name="Shape 5"/>
          <p:cNvSpPr/>
          <p:nvPr/>
        </p:nvSpPr>
        <p:spPr>
          <a:xfrm>
            <a:off x="731520" y="4434840"/>
            <a:ext cx="1828800" cy="0"/>
          </a:xfrm>
          <a:prstGeom prst="line">
            <a:avLst/>
          </a:prstGeom>
          <a:noFill/>
          <a:ln w="12700">
            <a:solidFill>
              <a:srgbClr val="3A3A3A"/>
            </a:solidFill>
            <a:prstDash val="solid"/>
          </a:ln>
        </p:spPr>
        <p:txBody>
          <a:bodyPr/>
          <a:p/>
        </p:txBody>
      </p:sp>
      <p:sp>
        <p:nvSpPr>
          <p:cNvPr id="8" name="Text 6"/>
          <p:cNvSpPr/>
          <p:nvPr/>
        </p:nvSpPr>
        <p:spPr>
          <a:xfrm>
            <a:off x="731520" y="4617720"/>
            <a:ext cx="7315200" cy="320040"/>
          </a:xfrm>
          <a:prstGeom prst="rect">
            <a:avLst/>
          </a:prstGeom>
          <a:noFill/>
          <a:ln/>
        </p:spPr>
        <p:txBody>
          <a:bodyPr wrap="square" rtlCol="0" anchor="ctr"/>
          <a:lstStyle/>
          <a:p>
            <a:pPr indent="0" marL="0">
              <a:buNone/>
            </a:pPr>
            <a:r>
              <a:rPr lang="en-US" sz="1150" dirty="0">
                <a:solidFill>
                  <a:srgbClr val="C9C9C9"/>
                </a:solidFill>
                <a:latin typeface="Calibri" pitchFamily="34" charset="0"/>
                <a:ea typeface="Calibri" pitchFamily="34" charset="-122"/>
                <a:cs typeface="Calibri" pitchFamily="34" charset="-120"/>
              </a:rPr>
              <a:t>github.com/Sarahhh005/nyc-taxi-real-time-pipeline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2026-08-20T15:31:23Z</dcterms:created>
  <dcterms:modified xsi:type="dcterms:W3CDTF">2026-08-20T15:31:23Z</dcterms:modified>
</cp:coreProperties>
</file>