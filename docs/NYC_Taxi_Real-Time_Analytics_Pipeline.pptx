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3840480" cy="384048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BIG DATA &amp; AI ANALYTICS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NYC Taxi </a:t>
            </a:r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Real-Time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Analytics Pipeline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millions of NYC Yellow Taxi trips from Kafka through Spark to ClickHouse — orchestrated with Airflow, visualized in Superset, and explained by an AI agent.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5806440"/>
            <a:ext cx="909828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806440"/>
            <a:ext cx="9098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05940" y="5806440"/>
            <a:ext cx="909828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5940" y="5806440"/>
            <a:ext cx="9098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80360" y="5806440"/>
            <a:ext cx="1435608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5806440"/>
            <a:ext cx="1435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5806440"/>
            <a:ext cx="1120140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5806440"/>
            <a:ext cx="11201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5292" y="580644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5292" y="58064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55180" y="580644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232323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5180" y="5806440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YELLOW TAXI TRIP RECORDS ·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pipeline, end to 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Big Data and AI analytics platform that ingests NYC Yellow Taxi trip records, streams them in real time, and turns them into dashboards, forecasts and natural-language insights — demonstrating how modern data engineering, BI and AI work together.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ssets/FiZap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587752"/>
            <a:ext cx="265176" cy="2651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07008" y="23957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real-time streaming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07008" y="267004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historical trip records through Kafka as if they were live events.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ssets/FiCpu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3547872"/>
            <a:ext cx="265176" cy="26517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07008" y="33558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at scale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07008" y="363016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validates, enriches and aggregates every trip.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ssets/FiDatabase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4507992"/>
            <a:ext cx="265176" cy="265176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07008" y="4315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Analytics-ready storage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07008" y="459028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holds trip-level and aggregate tables for sub-second queries.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ssets/FiGitBranch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468112"/>
            <a:ext cx="265176" cy="26517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207008" y="52760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orchestration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207008" y="55504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schedules the producer, Spark jobs, checks and reporting.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6172200" y="24688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ssets/FiBarChart2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2587752"/>
            <a:ext cx="265176" cy="265176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172200" y="246888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830568" y="239572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830568" y="267004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delivers KPIs, revenue and demand visualizations.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assets/FiMessageSquare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547872"/>
            <a:ext cx="265176" cy="265176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6830568" y="335584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6830568" y="363016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+ OpenAI agent answers business questions in plain English.</a:t>
            </a:r>
            <a:endParaRPr lang="en-US" sz="1080" dirty="0"/>
          </a:p>
        </p:txBody>
      </p:sp>
      <p:sp>
        <p:nvSpPr>
          <p:cNvPr id="35" name="Shape 27"/>
          <p:cNvSpPr/>
          <p:nvPr/>
        </p:nvSpPr>
        <p:spPr>
          <a:xfrm>
            <a:off x="617220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assets/FiTrendingUp_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4507992"/>
            <a:ext cx="265176" cy="265176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6172200" y="438912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6830568" y="4315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anomalies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830568" y="459028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 trends and flag unusual spikes or drops automatically.</a:t>
            </a:r>
            <a:endParaRPr lang="en-US" sz="1080" dirty="0"/>
          </a:p>
        </p:txBody>
      </p:sp>
      <p:sp>
        <p:nvSpPr>
          <p:cNvPr id="40" name="Shape 31"/>
          <p:cNvSpPr/>
          <p:nvPr/>
        </p:nvSpPr>
        <p:spPr>
          <a:xfrm>
            <a:off x="6172200" y="5349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assets/FiLayers_charco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5468112"/>
            <a:ext cx="265176" cy="265176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6172200" y="5349240"/>
            <a:ext cx="502920" cy="502920"/>
          </a:xfrm>
          <a:prstGeom prst="ellipse">
            <a:avLst/>
          </a:prstGeom>
          <a:ln w="12700">
            <a:solidFill>
              <a:srgbClr val="E4E4E4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6830568" y="527608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architecture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6830568" y="5550408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Containerized, modular services reflecting industry best practice.</a:t>
            </a:r>
            <a:endParaRPr lang="en-US" sz="1080" dirty="0"/>
          </a:p>
        </p:txBody>
      </p:sp>
      <p:sp>
        <p:nvSpPr>
          <p:cNvPr id="45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proven, industry-standard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80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947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asset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732" y="212140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1500" y="289864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150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66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96996" y="1947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home/claude/assets/kafk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12140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57500" y="289864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85750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52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2996" y="1947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home/claude/assets/sp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212140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3500" y="289864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4350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38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68996" y="1947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home/claude/assets/clickhou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2732" y="2121408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9500" y="289864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2950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DB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624060" y="1691640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254996" y="1947672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/home/claude/assets/airf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2121408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5500" y="2898648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715500" y="320040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80060" y="3913632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110996" y="416966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/home/claude/assets/supers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4732" y="4343400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71500" y="51206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71500" y="542239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2766060" y="3913632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396996" y="416966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/home/claude/assets/dock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0732" y="4343400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57500" y="51206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2857500" y="542239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052060" y="3913632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682996" y="416966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/home/claude/assets/fastap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6732" y="4343400"/>
            <a:ext cx="475488" cy="4754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43500" y="51206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143500" y="542239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layer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7338060" y="3913632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968996" y="416966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6" name="Image 8" descr="/home/claude/assets/langchai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42732" y="4343400"/>
            <a:ext cx="475488" cy="47548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429500" y="51206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48" name="Text 37"/>
          <p:cNvSpPr/>
          <p:nvPr/>
        </p:nvSpPr>
        <p:spPr>
          <a:xfrm>
            <a:off x="7429500" y="542239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000" dirty="0"/>
          </a:p>
        </p:txBody>
      </p:sp>
      <p:sp>
        <p:nvSpPr>
          <p:cNvPr id="49" name="Shape 38"/>
          <p:cNvSpPr/>
          <p:nvPr/>
        </p:nvSpPr>
        <p:spPr>
          <a:xfrm>
            <a:off x="9624060" y="3913632"/>
            <a:ext cx="2084832" cy="1965960"/>
          </a:xfrm>
          <a:prstGeom prst="roundRect">
            <a:avLst>
              <a:gd name="adj" fmla="val 4186"/>
            </a:avLst>
          </a:prstGeom>
          <a:solidFill>
            <a:srgbClr val="1E1E1E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10254996" y="4169664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9" descr="/home/claude/assets/openai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28732" y="4343400"/>
            <a:ext cx="475488" cy="47548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715500" y="5120640"/>
            <a:ext cx="1901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53" name="Text 41"/>
          <p:cNvSpPr/>
          <p:nvPr/>
        </p:nvSpPr>
        <p:spPr>
          <a:xfrm>
            <a:off x="9715500" y="5422392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insights</a:t>
            </a:r>
            <a:endParaRPr lang="en-US" sz="1000" dirty="0"/>
          </a:p>
        </p:txBody>
      </p:sp>
      <p:sp>
        <p:nvSpPr>
          <p:cNvPr id="54" name="Text 4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NYC TLC Yellow Taxi trip records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the official NYC Taxi &amp; Limousine Commission trip-record archive (nyc.gov/tlc), covering every yellow-cab trip across 2025 — monthly Parquet files, sampled and streamed to simulate a live production feed.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49631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TRIP RECORDS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64408" y="23317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496312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FIELDS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95020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411480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172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3232" y="4818888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PICKUP ZONES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4408" y="3950208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4114800"/>
            <a:ext cx="21854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7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3.1 mi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29000" y="4818888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TRIP DISTANCE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528523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14600"/>
            <a:ext cx="4828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target schema — taxi_trips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990088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pickup_datetime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11512" y="29900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3244291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80867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dropoff_datetime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11512" y="3280867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83680" y="3535070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57164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passenger_count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11512" y="357164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825850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862426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trip_distance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811512" y="386242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116629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153205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pickup_location_id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11512" y="4153205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407408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443984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dropoff_location_id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811512" y="444398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Int32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83680" y="4698187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4734763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fare_amount / tip_amount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11512" y="4734763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583680" y="4988966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502554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811512" y="502554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Float32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583680" y="5279746"/>
            <a:ext cx="4828032" cy="0"/>
          </a:xfrm>
          <a:prstGeom prst="line">
            <a:avLst/>
          </a:prstGeom>
          <a:noFill/>
          <a:ln w="12700">
            <a:solidFill>
              <a:srgbClr val="EFEF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5316322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payment_type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811512" y="531632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71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48640" y="58064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Engine: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MergeTree()   </a:t>
            </a:r>
            <a:pPr indent="0" marL="0">
              <a:buNone/>
            </a:pPr>
            <a:r>
              <a:rPr lang="en-US" sz="1150" b="1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by: </a:t>
            </a:r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pickup_datetime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data flows through the platform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041648" y="13716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99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69664" y="1435608"/>
            <a:ext cx="420624" cy="42062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6" name="Image 0" descr="/home/claude/assets/air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5179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137160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— orchestrates every stage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2331720" cy="1280160"/>
          </a:xfrm>
          <a:prstGeom prst="roundRect">
            <a:avLst>
              <a:gd name="adj" fmla="val 6429"/>
            </a:avLst>
          </a:prstGeom>
          <a:solidFill>
            <a:srgbClr val="141414"/>
          </a:solidFill>
          <a:ln/>
        </p:spPr>
      </p:sp>
      <p:sp>
        <p:nvSpPr>
          <p:cNvPr id="9" name="Shape 6"/>
          <p:cNvSpPr/>
          <p:nvPr/>
        </p:nvSpPr>
        <p:spPr>
          <a:xfrm>
            <a:off x="1449324" y="2478024"/>
            <a:ext cx="530352" cy="530352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0" name="Image 1" descr="/home/claude/assets/FiFileText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96" y="2596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30815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33192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NYC TLC trip data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880360" y="2971800"/>
            <a:ext cx="518160" cy="0"/>
          </a:xfrm>
          <a:prstGeom prst="line">
            <a:avLst/>
          </a:prstGeom>
          <a:noFill/>
          <a:ln w="28575">
            <a:solidFill>
              <a:srgbClr val="C99000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398520" y="2331720"/>
            <a:ext cx="2331720" cy="1280160"/>
          </a:xfrm>
          <a:prstGeom prst="roundRect">
            <a:avLst>
              <a:gd name="adj" fmla="val 6429"/>
            </a:avLst>
          </a:prstGeom>
          <a:solidFill>
            <a:srgbClr val="141414"/>
          </a:solidFill>
          <a:ln/>
        </p:spPr>
      </p:sp>
      <p:sp>
        <p:nvSpPr>
          <p:cNvPr id="15" name="Shape 11"/>
          <p:cNvSpPr/>
          <p:nvPr/>
        </p:nvSpPr>
        <p:spPr>
          <a:xfrm>
            <a:off x="4299204" y="2478024"/>
            <a:ext cx="530352" cy="530352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16" name="Image 2" descr="/home/claude/assets/FiZap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076" y="259689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89960" y="30815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Producer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3489960" y="33192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taxi-trips topic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730240" y="2971800"/>
            <a:ext cx="518160" cy="0"/>
          </a:xfrm>
          <a:prstGeom prst="line">
            <a:avLst/>
          </a:prstGeom>
          <a:noFill/>
          <a:ln w="28575">
            <a:solidFill>
              <a:srgbClr val="C99000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248400" y="2331720"/>
            <a:ext cx="2331720" cy="1280160"/>
          </a:xfrm>
          <a:prstGeom prst="roundRect">
            <a:avLst>
              <a:gd name="adj" fmla="val 6429"/>
            </a:avLst>
          </a:prstGeom>
          <a:solidFill>
            <a:srgbClr val="141414"/>
          </a:solidFill>
          <a:ln/>
        </p:spPr>
      </p:sp>
      <p:sp>
        <p:nvSpPr>
          <p:cNvPr id="21" name="Shape 16"/>
          <p:cNvSpPr/>
          <p:nvPr/>
        </p:nvSpPr>
        <p:spPr>
          <a:xfrm>
            <a:off x="7149084" y="2478024"/>
            <a:ext cx="530352" cy="530352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22" name="Image 3" descr="/home/claude/assets/FiCpu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956" y="25968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39840" y="30815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339840" y="33192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· validate · aggregate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580120" y="2971800"/>
            <a:ext cx="518160" cy="0"/>
          </a:xfrm>
          <a:prstGeom prst="line">
            <a:avLst/>
          </a:prstGeom>
          <a:noFill/>
          <a:ln w="28575">
            <a:solidFill>
              <a:srgbClr val="C99000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9098280" y="2331720"/>
            <a:ext cx="2331720" cy="1280160"/>
          </a:xfrm>
          <a:prstGeom prst="roundRect">
            <a:avLst>
              <a:gd name="adj" fmla="val 6429"/>
            </a:avLst>
          </a:prstGeom>
          <a:solidFill>
            <a:srgbClr val="141414"/>
          </a:solidFill>
          <a:ln/>
        </p:spPr>
      </p:sp>
      <p:sp>
        <p:nvSpPr>
          <p:cNvPr id="27" name="Shape 21"/>
          <p:cNvSpPr/>
          <p:nvPr/>
        </p:nvSpPr>
        <p:spPr>
          <a:xfrm>
            <a:off x="9998964" y="2478024"/>
            <a:ext cx="530352" cy="530352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28" name="Image 4" descr="/home/claude/assets/FiDatabase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7836" y="259689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189720" y="308152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9189720" y="33192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 &amp; rollup tables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989320" y="1920240"/>
            <a:ext cx="0" cy="411480"/>
          </a:xfrm>
          <a:prstGeom prst="line">
            <a:avLst/>
          </a:prstGeom>
          <a:noFill/>
          <a:ln w="19050">
            <a:solidFill>
              <a:srgbClr val="C99000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10264140" y="3611880"/>
            <a:ext cx="0" cy="292608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462772" y="3904488"/>
            <a:ext cx="1801368" cy="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6793992" y="3904488"/>
            <a:ext cx="3337560" cy="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793992" y="3904488"/>
            <a:ext cx="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10131552" y="3904488"/>
            <a:ext cx="0" cy="2743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5285232" y="4178808"/>
            <a:ext cx="3017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5449824" y="4389120"/>
            <a:ext cx="566928" cy="566928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39" name="Image 5" descr="/home/claude/assets/supers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696" y="4507992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153912" y="4325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6153912" y="4636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KPIs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8622792" y="4178808"/>
            <a:ext cx="301752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8787384" y="4389120"/>
            <a:ext cx="566928" cy="566928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44" name="Image 6" descr="/home/claude/assets/FiMessageSquare_charco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400" y="4517136"/>
            <a:ext cx="310896" cy="310896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9491472" y="4325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9491472" y="4636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LangChain + OpenAI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548640" y="545896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Forecasts</a:t>
            </a:r>
            <a:endParaRPr lang="en-US" sz="1250" dirty="0"/>
          </a:p>
        </p:txBody>
      </p:sp>
      <p:sp>
        <p:nvSpPr>
          <p:cNvPr id="48" name="Text 3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Eight stages, one continuous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28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514600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Taxi Parquet files are the pipeline's source of truth.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1728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4E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83864" y="2221992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83864" y="2514600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service reads records and publishes JSON to Kafka.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089904" y="160020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1728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54496" y="2221992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54496" y="2514600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Kafka's taxi-trips topic transports events in real time.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860536" y="1600200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5128" y="172821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4E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25128" y="2221992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25128" y="2514600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Structured Streaming cleans, validates and enriches.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3584448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7124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3232" y="4206240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" y="4498848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stores trip-level and pre-aggregated tables.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3319272" y="3584448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37124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4E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83864" y="4206240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83864" y="4498848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schedules jobs, quality checks and recovery.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089904" y="3584448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7124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254496" y="4206240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54496" y="4498848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dashboards expose KPIs to stakeholders.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860536" y="3584448"/>
            <a:ext cx="2587752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25128" y="371246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E4E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025128" y="4206240"/>
            <a:ext cx="2258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Insight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25128" y="4498848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turns metrics into recommendations.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Dashboards that inform, an agent that explains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34840"/>
          </a:xfrm>
          <a:prstGeom prst="roundRect">
            <a:avLst>
              <a:gd name="adj" fmla="val 1856"/>
            </a:avLst>
          </a:prstGeom>
          <a:solidFill>
            <a:srgbClr val="1E1E1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47672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</p:sp>
      <p:pic>
        <p:nvPicPr>
          <p:cNvPr id="6" name="Image 0" descr="/home/claude/assets/super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665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Superset Dashboards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2825496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68833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monitoring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1248" y="3300984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16382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" y="3776472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6393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patterns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1248" y="4251960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4114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/ drop-off zone insights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1248" y="4727448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7" name="Text 14"/>
          <p:cNvSpPr/>
          <p:nvPr/>
        </p:nvSpPr>
        <p:spPr>
          <a:xfrm>
            <a:off x="1051560" y="459028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19" name="Text 16"/>
          <p:cNvSpPr/>
          <p:nvPr/>
        </p:nvSpPr>
        <p:spPr>
          <a:xfrm>
            <a:off x="1051560" y="506577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&amp; time-series monitoring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" y="5486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ClickHouse for near real-time visibility into taxi operations.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172200" y="169164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F5B700"/>
          </a:solidFill>
          <a:ln/>
        </p:spPr>
      </p:sp>
      <p:sp>
        <p:nvSpPr>
          <p:cNvPr id="22" name="Shape 19"/>
          <p:cNvSpPr/>
          <p:nvPr/>
        </p:nvSpPr>
        <p:spPr>
          <a:xfrm>
            <a:off x="6446520" y="1947672"/>
            <a:ext cx="548640" cy="54864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3" name="Image 1" descr="/home/claude/assets/FiMessageSquare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2066544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78040" y="1965960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— Natural Language Analytics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6464808" y="2697480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26" name="Image 2" descr="/home/claude/assets/FiSearch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964" y="2802636"/>
            <a:ext cx="246888" cy="24688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086600" y="2660904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7086600" y="2935224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pickup zone generated the highest revenue this month?”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464808" y="3538728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0" name="Image 3" descr="/home/claude/assets/FiTrendingUp_ye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3643884"/>
            <a:ext cx="246888" cy="2468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086600" y="3502152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086600" y="3776472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next-week demand and revenue trends from history.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464808" y="4379976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4" name="Image 4" descr="/home/claude/assets/FiAlertTriangle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4485132"/>
            <a:ext cx="246888" cy="2468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6600" y="4343400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086600" y="4617720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sudden demand spikes or unexpected revenue drops.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6464808" y="5221224"/>
            <a:ext cx="457200" cy="457200"/>
          </a:xfrm>
          <a:prstGeom prst="ellipse">
            <a:avLst/>
          </a:prstGeom>
          <a:solidFill>
            <a:srgbClr val="141414"/>
          </a:solidFill>
          <a:ln/>
        </p:spPr>
      </p:sp>
      <p:pic>
        <p:nvPicPr>
          <p:cNvPr id="38" name="Image 5" descr="/home/claude/assets/FiFileText_yel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5326380"/>
            <a:ext cx="246888" cy="24688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086600" y="5184648"/>
            <a:ext cx="4279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insights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086600" y="5458968"/>
            <a:ext cx="4279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executive-style summaries, e.g. weekend demand +18%.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 the platform is built to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623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84248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8424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198424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busiest pickup &amp; drop-off zones?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66090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660904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hours experience the highest demand?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3756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337560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generate the highest revenue?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1421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014216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most profitable routes?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4690872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69087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4690872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future taxi demand be predicted?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56235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36752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0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5367528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unusual demand spikes or drops?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446520" y="1600200"/>
            <a:ext cx="5193792" cy="4617720"/>
          </a:xfrm>
          <a:prstGeom prst="roundRect">
            <a:avLst>
              <a:gd name="adj" fmla="val 1782"/>
            </a:avLst>
          </a:prstGeom>
          <a:solidFill>
            <a:srgbClr val="141414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1856232"/>
            <a:ext cx="4645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0840" y="214884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transportation analytics teams gain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720840" y="2788920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27" name="Image 0" descr="/home/claude/assets/FiActivity_yel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880360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69480" y="2788920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taxi demand in real time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720840" y="3364992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30" name="Image 1" descr="/home/claude/assets/FiDollarSign_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456432"/>
            <a:ext cx="237744" cy="237744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269480" y="3364992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high-revenue zones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720840" y="3941064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33" name="Image 2" descr="/home/claude/assets/FiUsers_yel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4032504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7269480" y="3941064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passenger behavior</a:t>
            </a:r>
            <a:endParaRPr lang="en-US" sz="1250" dirty="0"/>
          </a:p>
        </p:txBody>
      </p:sp>
      <p:sp>
        <p:nvSpPr>
          <p:cNvPr id="35" name="Shape 30"/>
          <p:cNvSpPr/>
          <p:nvPr/>
        </p:nvSpPr>
        <p:spPr>
          <a:xfrm>
            <a:off x="6720840" y="4517136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36" name="Image 3" descr="/home/claude/assets/FiAlertTriangle_yel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608576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69480" y="4517136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operational anomalies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6720840" y="5093208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39" name="Image 4" descr="/home/claude/assets/FiTrendingUp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5184648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269480" y="5093208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future demand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6720840" y="5669280"/>
            <a:ext cx="420624" cy="420624"/>
          </a:xfrm>
          <a:prstGeom prst="ellipse">
            <a:avLst/>
          </a:prstGeom>
          <a:solidFill>
            <a:srgbClr val="2A2A2A"/>
          </a:solidFill>
          <a:ln/>
        </p:spPr>
      </p:sp>
      <p:pic>
        <p:nvPicPr>
          <p:cNvPr id="42" name="Image 5" descr="/home/claude/assets/FiCheckCircle_yel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5760720"/>
            <a:ext cx="237744" cy="23774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69480" y="5669280"/>
            <a:ext cx="4096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data-driven decisions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Roadmap for 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6" name="Image 0" descr="/home/claude/assets/FiUsers_charco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146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analytics system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collaborating on deeper business analysis.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53128" y="1892808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11" name="Image 1" descr="/home/claude/assets/FiBell_charco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0025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53128" y="25146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53128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the moment anomalies are detected.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6448" y="1892808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16" name="Image 2" descr="/home/claude/assets/FiTrendingUp_charco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176" y="20025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6448" y="2514600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demand forecasting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56448" y="2990088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forecasting models for planning.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58768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059936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21" name="Image 3" descr="/home/claude/assets/FiSearch_charco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16966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6817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knowledge assistant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515721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 over operational documentation and history.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51960" y="3858768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53128" y="4059936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26" name="Image 4" descr="/home/claude/assets/FiCloud_charco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4169664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53128" y="46817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53128" y="515721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the stack to AWS / Azure for elastic scale.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858768"/>
            <a:ext cx="3502152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56448" y="4059936"/>
            <a:ext cx="512064" cy="512064"/>
          </a:xfrm>
          <a:prstGeom prst="ellipse">
            <a:avLst/>
          </a:prstGeom>
          <a:solidFill>
            <a:srgbClr val="FAFAFA"/>
          </a:solidFill>
          <a:ln/>
        </p:spPr>
      </p:sp>
      <p:pic>
        <p:nvPicPr>
          <p:cNvPr id="31" name="Image 5" descr="/home/claude/assets/FiRefreshCw_charco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6176" y="4169664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56448" y="4681728"/>
            <a:ext cx="30998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56448" y="5157216"/>
            <a:ext cx="30998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and deployment for every pipeline change.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B1B1B"/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5120640"/>
            <a:ext cx="3108960" cy="3108960"/>
          </a:xfrm>
          <a:prstGeom prst="ellipse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Real-Time Analytics Pipeline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· Spark · ClickHouse · Airflow · Superset · FastAPI · LangChain · OpenAI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182880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17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github.com/Sarahhh005/nyc-taxi-real-time-pipeline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2026-08-19T23:04:44Z</dcterms:created>
  <dcterms:modified xsi:type="dcterms:W3CDTF">2026-08-19T23:04:44Z</dcterms:modified>
</cp:coreProperties>
</file>